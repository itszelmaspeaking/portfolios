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367" r:id="rId4"/>
    <p:sldId id="368" r:id="rId5"/>
    <p:sldId id="369" r:id="rId6"/>
    <p:sldId id="370" r:id="rId7"/>
    <p:sldId id="371" r:id="rId8"/>
    <p:sldId id="259" r:id="rId9"/>
    <p:sldId id="260" r:id="rId10"/>
    <p:sldId id="262" r:id="rId11"/>
    <p:sldId id="263" r:id="rId12"/>
    <p:sldId id="264" r:id="rId13"/>
    <p:sldId id="265" r:id="rId14"/>
    <p:sldId id="266" r:id="rId15"/>
    <p:sldId id="372" r:id="rId16"/>
    <p:sldId id="268" r:id="rId17"/>
    <p:sldId id="269" r:id="rId18"/>
  </p:sldIdLst>
  <p:sldSz cx="13931900" cy="9366250"/>
  <p:notesSz cx="13931900" cy="93662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99C7"/>
    <a:srgbClr val="9B9B9B"/>
    <a:srgbClr val="0F4ABE"/>
    <a:srgbClr val="6492C6"/>
    <a:srgbClr val="67A2F3"/>
    <a:srgbClr val="F8D5B7"/>
    <a:srgbClr val="F6DE73"/>
    <a:srgbClr val="EAF4BF"/>
    <a:srgbClr val="C9E3FE"/>
    <a:srgbClr val="CFE6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0" autoAdjust="0"/>
    <p:restoredTop sz="95214" autoAdjust="0"/>
  </p:normalViewPr>
  <p:slideViewPr>
    <p:cSldViewPr>
      <p:cViewPr varScale="1">
        <p:scale>
          <a:sx n="57" d="100"/>
          <a:sy n="57" d="100"/>
        </p:scale>
        <p:origin x="605" y="101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0372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7891463" y="0"/>
            <a:ext cx="6037262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D1794-8E90-48A9-9420-52B9F866DC61}" type="datetimeFigureOut">
              <a:rPr lang="zh-CN" altLang="en-US" smtClean="0"/>
              <a:t>2023/9/5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614863" y="1171575"/>
            <a:ext cx="4702175" cy="31607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393825" y="4506913"/>
            <a:ext cx="11144250" cy="36893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96350"/>
            <a:ext cx="60372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7891463" y="8896350"/>
            <a:ext cx="6037262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EAA06-87F2-48B2-9362-A3AB0DDF85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05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EAA06-87F2-48B2-9362-A3AB0DDF85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480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EAA06-87F2-48B2-9362-A3AB0DDF854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800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EAA06-87F2-48B2-9362-A3AB0DDF854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562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45368" y="2903537"/>
            <a:ext cx="11847513" cy="1966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90737" y="5245100"/>
            <a:ext cx="9756775" cy="2341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3E3A39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3E3A39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96912" y="2154237"/>
            <a:ext cx="6063139" cy="6181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78198" y="2154237"/>
            <a:ext cx="6063139" cy="6181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28441" y="829165"/>
            <a:ext cx="631825" cy="631825"/>
          </a:xfrm>
          <a:custGeom>
            <a:avLst/>
            <a:gdLst/>
            <a:ahLst/>
            <a:cxnLst/>
            <a:rect l="l" t="t" r="r" b="b"/>
            <a:pathLst>
              <a:path w="631825" h="631825">
                <a:moveTo>
                  <a:pt x="337674" y="0"/>
                </a:moveTo>
                <a:lnTo>
                  <a:pt x="293539" y="0"/>
                </a:lnTo>
                <a:lnTo>
                  <a:pt x="249751" y="6126"/>
                </a:lnTo>
                <a:lnTo>
                  <a:pt x="207001" y="18380"/>
                </a:lnTo>
                <a:lnTo>
                  <a:pt x="165982" y="36761"/>
                </a:lnTo>
                <a:lnTo>
                  <a:pt x="127385" y="61268"/>
                </a:lnTo>
                <a:lnTo>
                  <a:pt x="91902" y="91902"/>
                </a:lnTo>
                <a:lnTo>
                  <a:pt x="61268" y="127385"/>
                </a:lnTo>
                <a:lnTo>
                  <a:pt x="36761" y="165982"/>
                </a:lnTo>
                <a:lnTo>
                  <a:pt x="18380" y="207001"/>
                </a:lnTo>
                <a:lnTo>
                  <a:pt x="6126" y="249751"/>
                </a:lnTo>
                <a:lnTo>
                  <a:pt x="0" y="293539"/>
                </a:lnTo>
                <a:lnTo>
                  <a:pt x="0" y="337674"/>
                </a:lnTo>
                <a:lnTo>
                  <a:pt x="6126" y="381462"/>
                </a:lnTo>
                <a:lnTo>
                  <a:pt x="18380" y="424212"/>
                </a:lnTo>
                <a:lnTo>
                  <a:pt x="36761" y="465231"/>
                </a:lnTo>
                <a:lnTo>
                  <a:pt x="61268" y="503828"/>
                </a:lnTo>
                <a:lnTo>
                  <a:pt x="91902" y="539311"/>
                </a:lnTo>
                <a:lnTo>
                  <a:pt x="127385" y="569942"/>
                </a:lnTo>
                <a:lnTo>
                  <a:pt x="165982" y="594447"/>
                </a:lnTo>
                <a:lnTo>
                  <a:pt x="207001" y="612825"/>
                </a:lnTo>
                <a:lnTo>
                  <a:pt x="249751" y="625078"/>
                </a:lnTo>
                <a:lnTo>
                  <a:pt x="293539" y="631204"/>
                </a:lnTo>
                <a:lnTo>
                  <a:pt x="337674" y="631204"/>
                </a:lnTo>
                <a:lnTo>
                  <a:pt x="381462" y="625078"/>
                </a:lnTo>
                <a:lnTo>
                  <a:pt x="424212" y="612825"/>
                </a:lnTo>
                <a:lnTo>
                  <a:pt x="465231" y="594447"/>
                </a:lnTo>
                <a:lnTo>
                  <a:pt x="503828" y="569942"/>
                </a:lnTo>
                <a:lnTo>
                  <a:pt x="539311" y="539311"/>
                </a:lnTo>
                <a:lnTo>
                  <a:pt x="569942" y="503828"/>
                </a:lnTo>
                <a:lnTo>
                  <a:pt x="594447" y="465231"/>
                </a:lnTo>
                <a:lnTo>
                  <a:pt x="612825" y="424212"/>
                </a:lnTo>
                <a:lnTo>
                  <a:pt x="625078" y="381462"/>
                </a:lnTo>
                <a:lnTo>
                  <a:pt x="631204" y="337674"/>
                </a:lnTo>
                <a:lnTo>
                  <a:pt x="631204" y="293539"/>
                </a:lnTo>
                <a:lnTo>
                  <a:pt x="625078" y="249751"/>
                </a:lnTo>
                <a:lnTo>
                  <a:pt x="612825" y="207001"/>
                </a:lnTo>
                <a:lnTo>
                  <a:pt x="594447" y="165982"/>
                </a:lnTo>
                <a:lnTo>
                  <a:pt x="569942" y="127385"/>
                </a:lnTo>
                <a:lnTo>
                  <a:pt x="539311" y="91902"/>
                </a:lnTo>
                <a:lnTo>
                  <a:pt x="503828" y="61268"/>
                </a:lnTo>
                <a:lnTo>
                  <a:pt x="465231" y="36761"/>
                </a:lnTo>
                <a:lnTo>
                  <a:pt x="424212" y="18380"/>
                </a:lnTo>
                <a:lnTo>
                  <a:pt x="381462" y="6126"/>
                </a:lnTo>
                <a:lnTo>
                  <a:pt x="337674" y="0"/>
                </a:lnTo>
                <a:close/>
              </a:path>
            </a:pathLst>
          </a:custGeom>
          <a:solidFill>
            <a:srgbClr val="6899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014" y="1144159"/>
            <a:ext cx="68922" cy="6523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348433" y="1209551"/>
            <a:ext cx="417195" cy="344170"/>
          </a:xfrm>
          <a:custGeom>
            <a:avLst/>
            <a:gdLst/>
            <a:ahLst/>
            <a:cxnLst/>
            <a:rect l="l" t="t" r="r" b="b"/>
            <a:pathLst>
              <a:path w="417194" h="344169">
                <a:moveTo>
                  <a:pt x="8686" y="0"/>
                </a:moveTo>
                <a:lnTo>
                  <a:pt x="2171" y="5208"/>
                </a:lnTo>
                <a:lnTo>
                  <a:pt x="0" y="10414"/>
                </a:lnTo>
                <a:lnTo>
                  <a:pt x="2171" y="15619"/>
                </a:lnTo>
                <a:lnTo>
                  <a:pt x="8686" y="20828"/>
                </a:lnTo>
                <a:lnTo>
                  <a:pt x="199682" y="20828"/>
                </a:lnTo>
                <a:lnTo>
                  <a:pt x="199682" y="79870"/>
                </a:lnTo>
                <a:lnTo>
                  <a:pt x="78143" y="79870"/>
                </a:lnTo>
                <a:lnTo>
                  <a:pt x="61426" y="82041"/>
                </a:lnTo>
                <a:lnTo>
                  <a:pt x="49488" y="88553"/>
                </a:lnTo>
                <a:lnTo>
                  <a:pt x="42327" y="99404"/>
                </a:lnTo>
                <a:lnTo>
                  <a:pt x="39941" y="114592"/>
                </a:lnTo>
                <a:lnTo>
                  <a:pt x="39941" y="319481"/>
                </a:lnTo>
                <a:lnTo>
                  <a:pt x="45151" y="324681"/>
                </a:lnTo>
                <a:lnTo>
                  <a:pt x="50361" y="326415"/>
                </a:lnTo>
                <a:lnTo>
                  <a:pt x="55572" y="324681"/>
                </a:lnTo>
                <a:lnTo>
                  <a:pt x="60782" y="319481"/>
                </a:lnTo>
                <a:lnTo>
                  <a:pt x="60782" y="121539"/>
                </a:lnTo>
                <a:lnTo>
                  <a:pt x="62297" y="112421"/>
                </a:lnTo>
                <a:lnTo>
                  <a:pt x="66849" y="105908"/>
                </a:lnTo>
                <a:lnTo>
                  <a:pt x="74444" y="102000"/>
                </a:lnTo>
                <a:lnTo>
                  <a:pt x="85089" y="100698"/>
                </a:lnTo>
                <a:lnTo>
                  <a:pt x="199682" y="100698"/>
                </a:lnTo>
                <a:lnTo>
                  <a:pt x="199682" y="336842"/>
                </a:lnTo>
                <a:lnTo>
                  <a:pt x="204892" y="342049"/>
                </a:lnTo>
                <a:lnTo>
                  <a:pt x="210102" y="343785"/>
                </a:lnTo>
                <a:lnTo>
                  <a:pt x="215312" y="342049"/>
                </a:lnTo>
                <a:lnTo>
                  <a:pt x="220522" y="336842"/>
                </a:lnTo>
                <a:lnTo>
                  <a:pt x="220522" y="100698"/>
                </a:lnTo>
                <a:lnTo>
                  <a:pt x="335114" y="100698"/>
                </a:lnTo>
                <a:lnTo>
                  <a:pt x="347044" y="102000"/>
                </a:lnTo>
                <a:lnTo>
                  <a:pt x="355074" y="105908"/>
                </a:lnTo>
                <a:lnTo>
                  <a:pt x="359201" y="112421"/>
                </a:lnTo>
                <a:lnTo>
                  <a:pt x="359422" y="121539"/>
                </a:lnTo>
                <a:lnTo>
                  <a:pt x="359422" y="277812"/>
                </a:lnTo>
                <a:lnTo>
                  <a:pt x="355724" y="298208"/>
                </a:lnTo>
                <a:lnTo>
                  <a:pt x="337710" y="307317"/>
                </a:lnTo>
                <a:lnTo>
                  <a:pt x="305378" y="305144"/>
                </a:lnTo>
                <a:lnTo>
                  <a:pt x="258724" y="291693"/>
                </a:lnTo>
                <a:lnTo>
                  <a:pt x="251770" y="294296"/>
                </a:lnTo>
                <a:lnTo>
                  <a:pt x="248297" y="298637"/>
                </a:lnTo>
                <a:lnTo>
                  <a:pt x="248301" y="304716"/>
                </a:lnTo>
                <a:lnTo>
                  <a:pt x="251777" y="312534"/>
                </a:lnTo>
                <a:lnTo>
                  <a:pt x="310590" y="327286"/>
                </a:lnTo>
                <a:lnTo>
                  <a:pt x="351605" y="326415"/>
                </a:lnTo>
                <a:lnTo>
                  <a:pt x="374828" y="309923"/>
                </a:lnTo>
                <a:lnTo>
                  <a:pt x="380263" y="277812"/>
                </a:lnTo>
                <a:lnTo>
                  <a:pt x="380263" y="114592"/>
                </a:lnTo>
                <a:lnTo>
                  <a:pt x="379171" y="99404"/>
                </a:lnTo>
                <a:lnTo>
                  <a:pt x="372444" y="88553"/>
                </a:lnTo>
                <a:lnTo>
                  <a:pt x="360076" y="82041"/>
                </a:lnTo>
                <a:lnTo>
                  <a:pt x="342061" y="79870"/>
                </a:lnTo>
                <a:lnTo>
                  <a:pt x="220522" y="79870"/>
                </a:lnTo>
                <a:lnTo>
                  <a:pt x="220522" y="20828"/>
                </a:lnTo>
                <a:lnTo>
                  <a:pt x="408038" y="20828"/>
                </a:lnTo>
                <a:lnTo>
                  <a:pt x="414539" y="15619"/>
                </a:lnTo>
                <a:lnTo>
                  <a:pt x="416706" y="10414"/>
                </a:lnTo>
                <a:lnTo>
                  <a:pt x="414539" y="5208"/>
                </a:lnTo>
                <a:lnTo>
                  <a:pt x="408038" y="0"/>
                </a:lnTo>
                <a:lnTo>
                  <a:pt x="8686" y="0"/>
                </a:lnTo>
                <a:close/>
              </a:path>
            </a:pathLst>
          </a:custGeom>
          <a:ln w="12699">
            <a:solidFill>
              <a:srgbClr val="3E3A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796406" y="1166153"/>
            <a:ext cx="398145" cy="393065"/>
          </a:xfrm>
          <a:custGeom>
            <a:avLst/>
            <a:gdLst/>
            <a:ahLst/>
            <a:cxnLst/>
            <a:rect l="l" t="t" r="r" b="b"/>
            <a:pathLst>
              <a:path w="398144" h="393065">
                <a:moveTo>
                  <a:pt x="64249" y="8667"/>
                </a:moveTo>
                <a:lnTo>
                  <a:pt x="64249" y="119792"/>
                </a:lnTo>
                <a:lnTo>
                  <a:pt x="12153" y="119792"/>
                </a:lnTo>
                <a:lnTo>
                  <a:pt x="6938" y="125002"/>
                </a:lnTo>
                <a:lnTo>
                  <a:pt x="5200" y="130213"/>
                </a:lnTo>
                <a:lnTo>
                  <a:pt x="6938" y="135423"/>
                </a:lnTo>
                <a:lnTo>
                  <a:pt x="12153" y="140633"/>
                </a:lnTo>
                <a:lnTo>
                  <a:pt x="64249" y="140633"/>
                </a:lnTo>
                <a:lnTo>
                  <a:pt x="64249" y="296894"/>
                </a:lnTo>
                <a:lnTo>
                  <a:pt x="48835" y="305145"/>
                </a:lnTo>
                <a:lnTo>
                  <a:pt x="33858" y="312526"/>
                </a:lnTo>
                <a:lnTo>
                  <a:pt x="19318" y="319038"/>
                </a:lnTo>
                <a:lnTo>
                  <a:pt x="5219" y="324681"/>
                </a:lnTo>
                <a:lnTo>
                  <a:pt x="434" y="330966"/>
                </a:lnTo>
                <a:lnTo>
                  <a:pt x="0" y="335953"/>
                </a:lnTo>
                <a:lnTo>
                  <a:pt x="3908" y="339644"/>
                </a:lnTo>
                <a:lnTo>
                  <a:pt x="12153" y="342042"/>
                </a:lnTo>
                <a:lnTo>
                  <a:pt x="52088" y="326639"/>
                </a:lnTo>
                <a:lnTo>
                  <a:pt x="88549" y="308189"/>
                </a:lnTo>
                <a:lnTo>
                  <a:pt x="121540" y="286698"/>
                </a:lnTo>
                <a:lnTo>
                  <a:pt x="151066" y="262172"/>
                </a:lnTo>
                <a:lnTo>
                  <a:pt x="153009" y="254584"/>
                </a:lnTo>
                <a:lnTo>
                  <a:pt x="151922" y="249158"/>
                </a:lnTo>
                <a:lnTo>
                  <a:pt x="147803" y="245898"/>
                </a:lnTo>
                <a:lnTo>
                  <a:pt x="140652" y="244811"/>
                </a:lnTo>
                <a:lnTo>
                  <a:pt x="128052" y="255224"/>
                </a:lnTo>
                <a:lnTo>
                  <a:pt x="114595" y="265641"/>
                </a:lnTo>
                <a:lnTo>
                  <a:pt x="100276" y="276060"/>
                </a:lnTo>
                <a:lnTo>
                  <a:pt x="85089" y="286480"/>
                </a:lnTo>
                <a:lnTo>
                  <a:pt x="85089" y="140633"/>
                </a:lnTo>
                <a:lnTo>
                  <a:pt x="147586" y="140633"/>
                </a:lnTo>
                <a:lnTo>
                  <a:pt x="152794" y="135423"/>
                </a:lnTo>
                <a:lnTo>
                  <a:pt x="154530" y="130213"/>
                </a:lnTo>
                <a:lnTo>
                  <a:pt x="152794" y="125002"/>
                </a:lnTo>
                <a:lnTo>
                  <a:pt x="147586" y="119792"/>
                </a:lnTo>
                <a:lnTo>
                  <a:pt x="85089" y="119792"/>
                </a:lnTo>
                <a:lnTo>
                  <a:pt x="85089" y="8667"/>
                </a:lnTo>
                <a:lnTo>
                  <a:pt x="79879" y="2166"/>
                </a:lnTo>
                <a:lnTo>
                  <a:pt x="74669" y="0"/>
                </a:lnTo>
                <a:lnTo>
                  <a:pt x="69459" y="2166"/>
                </a:lnTo>
                <a:lnTo>
                  <a:pt x="64249" y="8667"/>
                </a:lnTo>
                <a:close/>
              </a:path>
              <a:path w="398144" h="393065">
                <a:moveTo>
                  <a:pt x="178841" y="26028"/>
                </a:moveTo>
                <a:lnTo>
                  <a:pt x="310807" y="26028"/>
                </a:lnTo>
                <a:lnTo>
                  <a:pt x="322518" y="26680"/>
                </a:lnTo>
                <a:lnTo>
                  <a:pt x="329895" y="28636"/>
                </a:lnTo>
                <a:lnTo>
                  <a:pt x="332938" y="31895"/>
                </a:lnTo>
                <a:lnTo>
                  <a:pt x="331647" y="36455"/>
                </a:lnTo>
                <a:lnTo>
                  <a:pt x="295828" y="63368"/>
                </a:lnTo>
                <a:lnTo>
                  <a:pt x="257844" y="88542"/>
                </a:lnTo>
                <a:lnTo>
                  <a:pt x="217694" y="111980"/>
                </a:lnTo>
                <a:lnTo>
                  <a:pt x="175374" y="133686"/>
                </a:lnTo>
                <a:lnTo>
                  <a:pt x="166468" y="143021"/>
                </a:lnTo>
                <a:lnTo>
                  <a:pt x="164077" y="150183"/>
                </a:lnTo>
                <a:lnTo>
                  <a:pt x="168201" y="155174"/>
                </a:lnTo>
                <a:lnTo>
                  <a:pt x="178841" y="157994"/>
                </a:lnTo>
                <a:lnTo>
                  <a:pt x="227469" y="157994"/>
                </a:lnTo>
                <a:lnTo>
                  <a:pt x="212603" y="203284"/>
                </a:lnTo>
                <a:lnTo>
                  <a:pt x="193013" y="244681"/>
                </a:lnTo>
                <a:lnTo>
                  <a:pt x="168702" y="282185"/>
                </a:lnTo>
                <a:lnTo>
                  <a:pt x="139669" y="315794"/>
                </a:lnTo>
                <a:lnTo>
                  <a:pt x="105917" y="345509"/>
                </a:lnTo>
                <a:lnTo>
                  <a:pt x="105479" y="352886"/>
                </a:lnTo>
                <a:lnTo>
                  <a:pt x="107649" y="357662"/>
                </a:lnTo>
                <a:lnTo>
                  <a:pt x="112427" y="359834"/>
                </a:lnTo>
                <a:lnTo>
                  <a:pt x="119811" y="359403"/>
                </a:lnTo>
                <a:lnTo>
                  <a:pt x="157169" y="325798"/>
                </a:lnTo>
                <a:lnTo>
                  <a:pt x="188698" y="288853"/>
                </a:lnTo>
                <a:lnTo>
                  <a:pt x="214396" y="248570"/>
                </a:lnTo>
                <a:lnTo>
                  <a:pt x="234263" y="204950"/>
                </a:lnTo>
                <a:lnTo>
                  <a:pt x="248297" y="157994"/>
                </a:lnTo>
                <a:lnTo>
                  <a:pt x="303860" y="157994"/>
                </a:lnTo>
                <a:lnTo>
                  <a:pt x="293440" y="206330"/>
                </a:lnTo>
                <a:lnTo>
                  <a:pt x="276078" y="251335"/>
                </a:lnTo>
                <a:lnTo>
                  <a:pt x="251772" y="293007"/>
                </a:lnTo>
                <a:lnTo>
                  <a:pt x="220520" y="331345"/>
                </a:lnTo>
                <a:lnTo>
                  <a:pt x="182321" y="366350"/>
                </a:lnTo>
                <a:lnTo>
                  <a:pt x="181877" y="373720"/>
                </a:lnTo>
                <a:lnTo>
                  <a:pt x="184048" y="378493"/>
                </a:lnTo>
                <a:lnTo>
                  <a:pt x="188829" y="380668"/>
                </a:lnTo>
                <a:lnTo>
                  <a:pt x="196214" y="380244"/>
                </a:lnTo>
                <a:lnTo>
                  <a:pt x="236907" y="342470"/>
                </a:lnTo>
                <a:lnTo>
                  <a:pt x="270102" y="301357"/>
                </a:lnTo>
                <a:lnTo>
                  <a:pt x="295801" y="256906"/>
                </a:lnTo>
                <a:lnTo>
                  <a:pt x="314001" y="209118"/>
                </a:lnTo>
                <a:lnTo>
                  <a:pt x="324700" y="157994"/>
                </a:lnTo>
                <a:lnTo>
                  <a:pt x="355955" y="157994"/>
                </a:lnTo>
                <a:lnTo>
                  <a:pt x="366366" y="159296"/>
                </a:lnTo>
                <a:lnTo>
                  <a:pt x="373308" y="163202"/>
                </a:lnTo>
                <a:lnTo>
                  <a:pt x="376781" y="169711"/>
                </a:lnTo>
                <a:lnTo>
                  <a:pt x="376783" y="178822"/>
                </a:lnTo>
                <a:lnTo>
                  <a:pt x="377215" y="227016"/>
                </a:lnTo>
                <a:lnTo>
                  <a:pt x="375043" y="270862"/>
                </a:lnTo>
                <a:lnTo>
                  <a:pt x="370272" y="310360"/>
                </a:lnTo>
                <a:lnTo>
                  <a:pt x="352038" y="363309"/>
                </a:lnTo>
                <a:lnTo>
                  <a:pt x="333370" y="371559"/>
                </a:lnTo>
                <a:lnTo>
                  <a:pt x="306893" y="370257"/>
                </a:lnTo>
                <a:lnTo>
                  <a:pt x="272605" y="359403"/>
                </a:lnTo>
                <a:lnTo>
                  <a:pt x="265658" y="363299"/>
                </a:lnTo>
                <a:lnTo>
                  <a:pt x="262188" y="368071"/>
                </a:lnTo>
                <a:lnTo>
                  <a:pt x="262189" y="373719"/>
                </a:lnTo>
                <a:lnTo>
                  <a:pt x="265658" y="380244"/>
                </a:lnTo>
                <a:lnTo>
                  <a:pt x="309499" y="392824"/>
                </a:lnTo>
                <a:lnTo>
                  <a:pt x="343792" y="392387"/>
                </a:lnTo>
                <a:lnTo>
                  <a:pt x="383730" y="352456"/>
                </a:lnTo>
                <a:lnTo>
                  <a:pt x="395878" y="274326"/>
                </a:lnTo>
                <a:lnTo>
                  <a:pt x="398053" y="226144"/>
                </a:lnTo>
                <a:lnTo>
                  <a:pt x="397624" y="171888"/>
                </a:lnTo>
                <a:lnTo>
                  <a:pt x="396753" y="156693"/>
                </a:lnTo>
                <a:lnTo>
                  <a:pt x="390674" y="145838"/>
                </a:lnTo>
                <a:lnTo>
                  <a:pt x="379389" y="139325"/>
                </a:lnTo>
                <a:lnTo>
                  <a:pt x="362902" y="137153"/>
                </a:lnTo>
                <a:lnTo>
                  <a:pt x="210096" y="137153"/>
                </a:lnTo>
                <a:lnTo>
                  <a:pt x="244384" y="120234"/>
                </a:lnTo>
                <a:lnTo>
                  <a:pt x="281279" y="97232"/>
                </a:lnTo>
                <a:lnTo>
                  <a:pt x="320784" y="68146"/>
                </a:lnTo>
                <a:lnTo>
                  <a:pt x="362902" y="32975"/>
                </a:lnTo>
                <a:lnTo>
                  <a:pt x="368320" y="20829"/>
                </a:lnTo>
                <a:lnTo>
                  <a:pt x="363756" y="12149"/>
                </a:lnTo>
                <a:lnTo>
                  <a:pt x="349215" y="6938"/>
                </a:lnTo>
                <a:lnTo>
                  <a:pt x="324700" y="5200"/>
                </a:lnTo>
                <a:lnTo>
                  <a:pt x="178841" y="5200"/>
                </a:lnTo>
                <a:lnTo>
                  <a:pt x="171033" y="10403"/>
                </a:lnTo>
                <a:lnTo>
                  <a:pt x="168430" y="15609"/>
                </a:lnTo>
                <a:lnTo>
                  <a:pt x="171033" y="20818"/>
                </a:lnTo>
                <a:lnTo>
                  <a:pt x="178841" y="26028"/>
                </a:lnTo>
                <a:close/>
              </a:path>
            </a:pathLst>
          </a:custGeom>
          <a:ln w="12700">
            <a:solidFill>
              <a:srgbClr val="3E3A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6512" y="1145898"/>
            <a:ext cx="179175" cy="20543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5911" y="1140690"/>
            <a:ext cx="190017" cy="212378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2249809" y="1310258"/>
            <a:ext cx="344170" cy="247015"/>
          </a:xfrm>
          <a:custGeom>
            <a:avLst/>
            <a:gdLst/>
            <a:ahLst/>
            <a:cxnLst/>
            <a:rect l="l" t="t" r="r" b="b"/>
            <a:pathLst>
              <a:path w="344169" h="247015">
                <a:moveTo>
                  <a:pt x="72711" y="20828"/>
                </a:moveTo>
                <a:lnTo>
                  <a:pt x="149102" y="20828"/>
                </a:lnTo>
                <a:lnTo>
                  <a:pt x="142160" y="68100"/>
                </a:lnTo>
                <a:lnTo>
                  <a:pt x="128271" y="110353"/>
                </a:lnTo>
                <a:lnTo>
                  <a:pt x="107435" y="147586"/>
                </a:lnTo>
                <a:lnTo>
                  <a:pt x="79653" y="179803"/>
                </a:lnTo>
                <a:lnTo>
                  <a:pt x="44926" y="207006"/>
                </a:lnTo>
                <a:lnTo>
                  <a:pt x="3255" y="229196"/>
                </a:lnTo>
                <a:lnTo>
                  <a:pt x="0" y="236785"/>
                </a:lnTo>
                <a:lnTo>
                  <a:pt x="652" y="242211"/>
                </a:lnTo>
                <a:lnTo>
                  <a:pt x="5209" y="245470"/>
                </a:lnTo>
                <a:lnTo>
                  <a:pt x="13669" y="246557"/>
                </a:lnTo>
                <a:lnTo>
                  <a:pt x="58528" y="223883"/>
                </a:lnTo>
                <a:lnTo>
                  <a:pt x="95860" y="195231"/>
                </a:lnTo>
                <a:lnTo>
                  <a:pt x="125667" y="160601"/>
                </a:lnTo>
                <a:lnTo>
                  <a:pt x="147949" y="119990"/>
                </a:lnTo>
                <a:lnTo>
                  <a:pt x="162708" y="73399"/>
                </a:lnTo>
                <a:lnTo>
                  <a:pt x="169943" y="20828"/>
                </a:lnTo>
                <a:lnTo>
                  <a:pt x="301908" y="20828"/>
                </a:lnTo>
                <a:lnTo>
                  <a:pt x="311019" y="22130"/>
                </a:lnTo>
                <a:lnTo>
                  <a:pt x="317528" y="26038"/>
                </a:lnTo>
                <a:lnTo>
                  <a:pt x="321434" y="32550"/>
                </a:lnTo>
                <a:lnTo>
                  <a:pt x="322736" y="41668"/>
                </a:lnTo>
                <a:lnTo>
                  <a:pt x="322086" y="69883"/>
                </a:lnTo>
                <a:lnTo>
                  <a:pt x="316880" y="139338"/>
                </a:lnTo>
                <a:lnTo>
                  <a:pt x="312322" y="180568"/>
                </a:lnTo>
                <a:lnTo>
                  <a:pt x="288230" y="221584"/>
                </a:lnTo>
                <a:lnTo>
                  <a:pt x="274121" y="225717"/>
                </a:lnTo>
                <a:lnTo>
                  <a:pt x="255667" y="224414"/>
                </a:lnTo>
                <a:lnTo>
                  <a:pt x="235051" y="220506"/>
                </a:lnTo>
                <a:lnTo>
                  <a:pt x="212265" y="213994"/>
                </a:lnTo>
                <a:lnTo>
                  <a:pt x="187303" y="204876"/>
                </a:lnTo>
                <a:lnTo>
                  <a:pt x="180355" y="207479"/>
                </a:lnTo>
                <a:lnTo>
                  <a:pt x="230707" y="241347"/>
                </a:lnTo>
                <a:lnTo>
                  <a:pt x="277600" y="246557"/>
                </a:lnTo>
                <a:lnTo>
                  <a:pt x="297998" y="241335"/>
                </a:lnTo>
                <a:lnTo>
                  <a:pt x="325781" y="210080"/>
                </a:lnTo>
                <a:lnTo>
                  <a:pt x="337716" y="150193"/>
                </a:lnTo>
                <a:lnTo>
                  <a:pt x="342925" y="77265"/>
                </a:lnTo>
                <a:lnTo>
                  <a:pt x="343577" y="38188"/>
                </a:lnTo>
                <a:lnTo>
                  <a:pt x="341187" y="21490"/>
                </a:lnTo>
                <a:lnTo>
                  <a:pt x="334020" y="9555"/>
                </a:lnTo>
                <a:lnTo>
                  <a:pt x="322081" y="2389"/>
                </a:lnTo>
                <a:lnTo>
                  <a:pt x="305375" y="0"/>
                </a:lnTo>
                <a:lnTo>
                  <a:pt x="72711" y="0"/>
                </a:lnTo>
                <a:lnTo>
                  <a:pt x="67489" y="6517"/>
                </a:lnTo>
                <a:lnTo>
                  <a:pt x="65749" y="12161"/>
                </a:lnTo>
                <a:lnTo>
                  <a:pt x="67489" y="16932"/>
                </a:lnTo>
                <a:lnTo>
                  <a:pt x="72711" y="20828"/>
                </a:lnTo>
                <a:close/>
              </a:path>
            </a:pathLst>
          </a:custGeom>
          <a:ln w="12700">
            <a:solidFill>
              <a:srgbClr val="3E3A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2690620" y="1147045"/>
            <a:ext cx="410209" cy="415290"/>
          </a:xfrm>
          <a:custGeom>
            <a:avLst/>
            <a:gdLst/>
            <a:ahLst/>
            <a:cxnLst/>
            <a:rect l="l" t="t" r="r" b="b"/>
            <a:pathLst>
              <a:path w="410210" h="415290">
                <a:moveTo>
                  <a:pt x="79870" y="97228"/>
                </a:moveTo>
                <a:lnTo>
                  <a:pt x="10413" y="97228"/>
                </a:lnTo>
                <a:lnTo>
                  <a:pt x="5199" y="102438"/>
                </a:lnTo>
                <a:lnTo>
                  <a:pt x="3460" y="107648"/>
                </a:lnTo>
                <a:lnTo>
                  <a:pt x="5199" y="112858"/>
                </a:lnTo>
                <a:lnTo>
                  <a:pt x="10413" y="118068"/>
                </a:lnTo>
                <a:lnTo>
                  <a:pt x="72923" y="118068"/>
                </a:lnTo>
                <a:lnTo>
                  <a:pt x="59243" y="167985"/>
                </a:lnTo>
                <a:lnTo>
                  <a:pt x="42529" y="213567"/>
                </a:lnTo>
                <a:lnTo>
                  <a:pt x="22781" y="254809"/>
                </a:lnTo>
                <a:lnTo>
                  <a:pt x="0" y="291703"/>
                </a:lnTo>
                <a:lnTo>
                  <a:pt x="1083" y="300380"/>
                </a:lnTo>
                <a:lnTo>
                  <a:pt x="4337" y="305587"/>
                </a:lnTo>
                <a:lnTo>
                  <a:pt x="9761" y="307322"/>
                </a:lnTo>
                <a:lnTo>
                  <a:pt x="17360" y="305584"/>
                </a:lnTo>
                <a:lnTo>
                  <a:pt x="35584" y="276506"/>
                </a:lnTo>
                <a:lnTo>
                  <a:pt x="52077" y="244822"/>
                </a:lnTo>
                <a:lnTo>
                  <a:pt x="66840" y="210531"/>
                </a:lnTo>
                <a:lnTo>
                  <a:pt x="79870" y="173631"/>
                </a:lnTo>
                <a:lnTo>
                  <a:pt x="79870" y="406295"/>
                </a:lnTo>
                <a:lnTo>
                  <a:pt x="85080" y="412796"/>
                </a:lnTo>
                <a:lnTo>
                  <a:pt x="90290" y="414962"/>
                </a:lnTo>
                <a:lnTo>
                  <a:pt x="95500" y="412796"/>
                </a:lnTo>
                <a:lnTo>
                  <a:pt x="100710" y="406295"/>
                </a:lnTo>
                <a:lnTo>
                  <a:pt x="100710" y="149323"/>
                </a:lnTo>
                <a:lnTo>
                  <a:pt x="115246" y="174499"/>
                </a:lnTo>
                <a:lnTo>
                  <a:pt x="127612" y="197942"/>
                </a:lnTo>
                <a:lnTo>
                  <a:pt x="137812" y="219646"/>
                </a:lnTo>
                <a:lnTo>
                  <a:pt x="145846" y="239607"/>
                </a:lnTo>
                <a:lnTo>
                  <a:pt x="152138" y="242863"/>
                </a:lnTo>
                <a:lnTo>
                  <a:pt x="157127" y="242211"/>
                </a:lnTo>
                <a:lnTo>
                  <a:pt x="160816" y="237653"/>
                </a:lnTo>
                <a:lnTo>
                  <a:pt x="163207" y="229193"/>
                </a:lnTo>
                <a:lnTo>
                  <a:pt x="153005" y="204022"/>
                </a:lnTo>
                <a:lnTo>
                  <a:pt x="139769" y="177107"/>
                </a:lnTo>
                <a:lnTo>
                  <a:pt x="123495" y="148455"/>
                </a:lnTo>
                <a:lnTo>
                  <a:pt x="104178" y="118068"/>
                </a:lnTo>
                <a:lnTo>
                  <a:pt x="163207" y="118068"/>
                </a:lnTo>
                <a:lnTo>
                  <a:pt x="168415" y="112858"/>
                </a:lnTo>
                <a:lnTo>
                  <a:pt x="170151" y="107648"/>
                </a:lnTo>
                <a:lnTo>
                  <a:pt x="168415" y="102438"/>
                </a:lnTo>
                <a:lnTo>
                  <a:pt x="163207" y="97228"/>
                </a:lnTo>
                <a:lnTo>
                  <a:pt x="100710" y="97228"/>
                </a:lnTo>
                <a:lnTo>
                  <a:pt x="100710" y="6943"/>
                </a:lnTo>
                <a:lnTo>
                  <a:pt x="95500" y="1735"/>
                </a:lnTo>
                <a:lnTo>
                  <a:pt x="90290" y="0"/>
                </a:lnTo>
                <a:lnTo>
                  <a:pt x="85080" y="1735"/>
                </a:lnTo>
                <a:lnTo>
                  <a:pt x="79870" y="6943"/>
                </a:lnTo>
                <a:lnTo>
                  <a:pt x="79870" y="97228"/>
                </a:lnTo>
                <a:close/>
              </a:path>
              <a:path w="410210" h="415290">
                <a:moveTo>
                  <a:pt x="222249" y="45132"/>
                </a:moveTo>
                <a:lnTo>
                  <a:pt x="207052" y="46872"/>
                </a:lnTo>
                <a:lnTo>
                  <a:pt x="196202" y="52087"/>
                </a:lnTo>
                <a:lnTo>
                  <a:pt x="189695" y="60772"/>
                </a:lnTo>
                <a:lnTo>
                  <a:pt x="187528" y="72920"/>
                </a:lnTo>
                <a:lnTo>
                  <a:pt x="187528" y="243074"/>
                </a:lnTo>
                <a:lnTo>
                  <a:pt x="186866" y="283444"/>
                </a:lnTo>
                <a:lnTo>
                  <a:pt x="177963" y="321209"/>
                </a:lnTo>
                <a:lnTo>
                  <a:pt x="160819" y="356372"/>
                </a:lnTo>
                <a:lnTo>
                  <a:pt x="135432" y="388934"/>
                </a:lnTo>
                <a:lnTo>
                  <a:pt x="136516" y="397609"/>
                </a:lnTo>
                <a:lnTo>
                  <a:pt x="139769" y="402813"/>
                </a:lnTo>
                <a:lnTo>
                  <a:pt x="145194" y="404548"/>
                </a:lnTo>
                <a:lnTo>
                  <a:pt x="152793" y="402815"/>
                </a:lnTo>
                <a:lnTo>
                  <a:pt x="179702" y="366570"/>
                </a:lnTo>
                <a:lnTo>
                  <a:pt x="197929" y="327288"/>
                </a:lnTo>
                <a:lnTo>
                  <a:pt x="207479" y="284968"/>
                </a:lnTo>
                <a:lnTo>
                  <a:pt x="208356" y="239607"/>
                </a:lnTo>
                <a:lnTo>
                  <a:pt x="208356" y="156257"/>
                </a:lnTo>
                <a:lnTo>
                  <a:pt x="319481" y="156257"/>
                </a:lnTo>
                <a:lnTo>
                  <a:pt x="319481" y="399348"/>
                </a:lnTo>
                <a:lnTo>
                  <a:pt x="324691" y="405849"/>
                </a:lnTo>
                <a:lnTo>
                  <a:pt x="329901" y="408016"/>
                </a:lnTo>
                <a:lnTo>
                  <a:pt x="335111" y="405849"/>
                </a:lnTo>
                <a:lnTo>
                  <a:pt x="340321" y="399348"/>
                </a:lnTo>
                <a:lnTo>
                  <a:pt x="340321" y="156257"/>
                </a:lnTo>
                <a:lnTo>
                  <a:pt x="402831" y="156257"/>
                </a:lnTo>
                <a:lnTo>
                  <a:pt x="408031" y="151054"/>
                </a:lnTo>
                <a:lnTo>
                  <a:pt x="409765" y="145848"/>
                </a:lnTo>
                <a:lnTo>
                  <a:pt x="408031" y="140639"/>
                </a:lnTo>
                <a:lnTo>
                  <a:pt x="402831" y="135429"/>
                </a:lnTo>
                <a:lnTo>
                  <a:pt x="208356" y="135429"/>
                </a:lnTo>
                <a:lnTo>
                  <a:pt x="208356" y="79867"/>
                </a:lnTo>
                <a:lnTo>
                  <a:pt x="208356" y="70608"/>
                </a:lnTo>
                <a:lnTo>
                  <a:pt x="215303" y="65973"/>
                </a:lnTo>
                <a:lnTo>
                  <a:pt x="229196" y="65973"/>
                </a:lnTo>
                <a:lnTo>
                  <a:pt x="269566" y="61640"/>
                </a:lnTo>
                <a:lnTo>
                  <a:pt x="307330" y="55562"/>
                </a:lnTo>
                <a:lnTo>
                  <a:pt x="342489" y="47746"/>
                </a:lnTo>
                <a:lnTo>
                  <a:pt x="375043" y="38198"/>
                </a:lnTo>
                <a:lnTo>
                  <a:pt x="378514" y="31688"/>
                </a:lnTo>
                <a:lnTo>
                  <a:pt x="378509" y="26044"/>
                </a:lnTo>
                <a:lnTo>
                  <a:pt x="375034" y="21267"/>
                </a:lnTo>
                <a:lnTo>
                  <a:pt x="368096" y="17357"/>
                </a:lnTo>
                <a:lnTo>
                  <a:pt x="330326" y="29514"/>
                </a:lnTo>
                <a:lnTo>
                  <a:pt x="293425" y="38193"/>
                </a:lnTo>
                <a:lnTo>
                  <a:pt x="257399" y="43398"/>
                </a:lnTo>
                <a:lnTo>
                  <a:pt x="222249" y="45132"/>
                </a:lnTo>
                <a:close/>
              </a:path>
            </a:pathLst>
          </a:custGeom>
          <a:ln w="12700">
            <a:solidFill>
              <a:srgbClr val="3E3A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3E3A39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96912" y="8710613"/>
            <a:ext cx="3205797" cy="276999"/>
          </a:xfrm>
        </p:spPr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739005" y="8710613"/>
            <a:ext cx="4460240" cy="276999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0035540" y="8710613"/>
            <a:ext cx="3205797" cy="276999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1159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8994" y="690905"/>
            <a:ext cx="1803400" cy="55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3E3A39"/>
                </a:solidFill>
                <a:latin typeface="幼圆"/>
                <a:cs typeface="幼圆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6912" y="2154237"/>
            <a:ext cx="12544425" cy="6181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39005" y="8710613"/>
            <a:ext cx="4460240" cy="468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96912" y="8710613"/>
            <a:ext cx="3205797" cy="468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35540" y="8710613"/>
            <a:ext cx="3205797" cy="468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jpe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流程图: 资料带 10">
            <a:extLst>
              <a:ext uri="{FF2B5EF4-FFF2-40B4-BE49-F238E27FC236}">
                <a16:creationId xmlns:a16="http://schemas.microsoft.com/office/drawing/2014/main" id="{F160DCA9-E64A-4237-813A-7C8088A9A56D}"/>
              </a:ext>
            </a:extLst>
          </p:cNvPr>
          <p:cNvSpPr/>
          <p:nvPr/>
        </p:nvSpPr>
        <p:spPr>
          <a:xfrm rot="20816794">
            <a:off x="-971629" y="-3712265"/>
            <a:ext cx="15087600" cy="9006476"/>
          </a:xfrm>
          <a:prstGeom prst="flowChartPunchedTape">
            <a:avLst/>
          </a:prstGeom>
          <a:solidFill>
            <a:srgbClr val="8599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object 2"/>
          <p:cNvGrpSpPr/>
          <p:nvPr/>
        </p:nvGrpSpPr>
        <p:grpSpPr>
          <a:xfrm>
            <a:off x="131337" y="139792"/>
            <a:ext cx="13800664" cy="9220209"/>
            <a:chOff x="131337" y="139792"/>
            <a:chExt cx="13800664" cy="922020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4763" y="1858949"/>
              <a:ext cx="4117238" cy="43797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8276" y="3200501"/>
              <a:ext cx="6581355" cy="6159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337" y="139792"/>
              <a:ext cx="5219902" cy="35707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椭圆 80">
            <a:extLst>
              <a:ext uri="{FF2B5EF4-FFF2-40B4-BE49-F238E27FC236}">
                <a16:creationId xmlns:a16="http://schemas.microsoft.com/office/drawing/2014/main" id="{8F0365B9-818B-4833-A892-5767FEA54FF1}"/>
              </a:ext>
            </a:extLst>
          </p:cNvPr>
          <p:cNvSpPr/>
          <p:nvPr/>
        </p:nvSpPr>
        <p:spPr>
          <a:xfrm>
            <a:off x="311343" y="695518"/>
            <a:ext cx="863407" cy="86340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150" y="720725"/>
            <a:ext cx="515366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5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cs typeface="Verdana"/>
              </a:rPr>
              <a:t>Contents</a:t>
            </a:r>
            <a:endParaRPr sz="7500" b="1" dirty="0">
              <a:solidFill>
                <a:schemeClr val="tx1">
                  <a:lumMod val="75000"/>
                  <a:lumOff val="25000"/>
                </a:schemeClr>
              </a:solidFill>
              <a:latin typeface="Verdana"/>
              <a:cs typeface="Verdana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6E27564-39FF-44B5-94BD-C99279AEBB52}"/>
              </a:ext>
            </a:extLst>
          </p:cNvPr>
          <p:cNvCxnSpPr>
            <a:cxnSpLocks/>
          </p:cNvCxnSpPr>
          <p:nvPr/>
        </p:nvCxnSpPr>
        <p:spPr>
          <a:xfrm>
            <a:off x="0" y="3463925"/>
            <a:ext cx="1321435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5F8CEDA-4245-4A70-BC27-ABD03DD58A8F}"/>
              </a:ext>
            </a:extLst>
          </p:cNvPr>
          <p:cNvCxnSpPr>
            <a:cxnSpLocks/>
          </p:cNvCxnSpPr>
          <p:nvPr/>
        </p:nvCxnSpPr>
        <p:spPr>
          <a:xfrm flipH="1">
            <a:off x="5718810" y="1304925"/>
            <a:ext cx="561340" cy="406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226CC92-F59F-4815-97FF-F7D349033F46}"/>
              </a:ext>
            </a:extLst>
          </p:cNvPr>
          <p:cNvSpPr txBox="1"/>
          <p:nvPr/>
        </p:nvSpPr>
        <p:spPr>
          <a:xfrm>
            <a:off x="6280150" y="13555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85968080-17C4-4FF6-9493-0D924AE1C36A}"/>
              </a:ext>
            </a:extLst>
          </p:cNvPr>
          <p:cNvGrpSpPr/>
          <p:nvPr/>
        </p:nvGrpSpPr>
        <p:grpSpPr>
          <a:xfrm>
            <a:off x="3460750" y="3729824"/>
            <a:ext cx="2253322" cy="4256131"/>
            <a:chOff x="3613150" y="3729824"/>
            <a:chExt cx="2253322" cy="4256131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B82CE67-6611-40CA-BD23-ACFFDEDABFEE}"/>
                </a:ext>
              </a:extLst>
            </p:cNvPr>
            <p:cNvSpPr txBox="1"/>
            <p:nvPr/>
          </p:nvSpPr>
          <p:spPr>
            <a:xfrm>
              <a:off x="3613150" y="3729824"/>
              <a:ext cx="11578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elveticaInserat-Roman-SemiBold" pitchFamily="2" charset="0"/>
                </a:rPr>
                <a:t>02</a:t>
              </a:r>
              <a:endPara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46B6BC2-7CCB-44ED-913A-A48073B92DDF}"/>
                </a:ext>
              </a:extLst>
            </p:cNvPr>
            <p:cNvSpPr txBox="1"/>
            <p:nvPr/>
          </p:nvSpPr>
          <p:spPr>
            <a:xfrm>
              <a:off x="3613150" y="4984627"/>
              <a:ext cx="19037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7010B0F-279D-47E3-9C70-99D979DF5AB0}"/>
                </a:ext>
              </a:extLst>
            </p:cNvPr>
            <p:cNvSpPr txBox="1"/>
            <p:nvPr/>
          </p:nvSpPr>
          <p:spPr>
            <a:xfrm>
              <a:off x="3689349" y="5594227"/>
              <a:ext cx="12939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Market</a:t>
              </a:r>
            </a:p>
            <a:p>
              <a:r>
                <a:rPr lang="en-US" altLang="zh-CN" spc="9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Analysis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B9FB897-7F6E-4864-AEB9-1C9DF2AD5B7F}"/>
                </a:ext>
              </a:extLst>
            </p:cNvPr>
            <p:cNvSpPr txBox="1"/>
            <p:nvPr/>
          </p:nvSpPr>
          <p:spPr>
            <a:xfrm>
              <a:off x="3689349" y="6508627"/>
              <a:ext cx="2177123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竞品分析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四象限分析法总结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FC4D078E-97DE-4C90-BBC9-A8D42AD6F67D}"/>
              </a:ext>
            </a:extLst>
          </p:cNvPr>
          <p:cNvGrpSpPr/>
          <p:nvPr/>
        </p:nvGrpSpPr>
        <p:grpSpPr>
          <a:xfrm>
            <a:off x="6051550" y="3743493"/>
            <a:ext cx="2710981" cy="4810128"/>
            <a:chOff x="6127750" y="3743493"/>
            <a:chExt cx="2710981" cy="4810128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3374549-1A4F-4811-AF71-71D8AE8B8023}"/>
                </a:ext>
              </a:extLst>
            </p:cNvPr>
            <p:cNvSpPr txBox="1"/>
            <p:nvPr/>
          </p:nvSpPr>
          <p:spPr>
            <a:xfrm>
              <a:off x="6189980" y="3743493"/>
              <a:ext cx="106679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elveticaInserat-Roman-SemiBold" pitchFamily="2" charset="0"/>
                </a:rPr>
                <a:t>03</a:t>
              </a:r>
              <a:endPara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00774AE-0B4E-4755-8F86-073732E520F2}"/>
                </a:ext>
              </a:extLst>
            </p:cNvPr>
            <p:cNvSpPr txBox="1"/>
            <p:nvPr/>
          </p:nvSpPr>
          <p:spPr>
            <a:xfrm>
              <a:off x="6127750" y="49982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用户研究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3C2B19E-3DAD-4B2D-B1BF-830DD4E37FC9}"/>
                </a:ext>
              </a:extLst>
            </p:cNvPr>
            <p:cNvSpPr txBox="1"/>
            <p:nvPr/>
          </p:nvSpPr>
          <p:spPr>
            <a:xfrm>
              <a:off x="6203950" y="56078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User</a:t>
              </a:r>
            </a:p>
            <a:p>
              <a:r>
                <a:rPr lang="en-US" altLang="zh-CN" spc="9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Research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BD06A57-64F2-4B9C-AD59-2A1C737B4C19}"/>
                </a:ext>
              </a:extLst>
            </p:cNvPr>
            <p:cNvSpPr txBox="1"/>
            <p:nvPr/>
          </p:nvSpPr>
          <p:spPr>
            <a:xfrm>
              <a:off x="6203950" y="6522296"/>
              <a:ext cx="217712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用户特点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用户画像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痛点总结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需求转化</a:t>
              </a: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EF7E6E7-8616-4B9E-A2A3-4F31C9D8D119}"/>
              </a:ext>
            </a:extLst>
          </p:cNvPr>
          <p:cNvGrpSpPr/>
          <p:nvPr/>
        </p:nvGrpSpPr>
        <p:grpSpPr>
          <a:xfrm>
            <a:off x="8642350" y="3724192"/>
            <a:ext cx="2805430" cy="5364126"/>
            <a:chOff x="8642350" y="3921125"/>
            <a:chExt cx="2805430" cy="5364126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35748DA-B11F-4EC4-9C52-973769799FD7}"/>
                </a:ext>
              </a:extLst>
            </p:cNvPr>
            <p:cNvSpPr txBox="1"/>
            <p:nvPr/>
          </p:nvSpPr>
          <p:spPr>
            <a:xfrm>
              <a:off x="8704580" y="3921125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elveticaInserat-Roman-SemiBold" pitchFamily="2" charset="0"/>
                </a:rPr>
                <a:t>04</a:t>
              </a:r>
              <a:endPara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CB7F3FB-78DB-4598-96F3-F835286C2A91}"/>
                </a:ext>
              </a:extLst>
            </p:cNvPr>
            <p:cNvSpPr txBox="1"/>
            <p:nvPr/>
          </p:nvSpPr>
          <p:spPr>
            <a:xfrm>
              <a:off x="8642350" y="5175928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BDF46FE-025E-40D9-9223-33131E04915D}"/>
                </a:ext>
              </a:extLst>
            </p:cNvPr>
            <p:cNvSpPr txBox="1"/>
            <p:nvPr/>
          </p:nvSpPr>
          <p:spPr>
            <a:xfrm>
              <a:off x="8718550" y="5785528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Concept</a:t>
              </a:r>
            </a:p>
            <a:p>
              <a:r>
                <a:rPr lang="en-US" altLang="zh-CN" spc="9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Description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F998B33-DC67-4106-9473-1D1AD68F9B5F}"/>
                </a:ext>
              </a:extLst>
            </p:cNvPr>
            <p:cNvSpPr txBox="1"/>
            <p:nvPr/>
          </p:nvSpPr>
          <p:spPr>
            <a:xfrm>
              <a:off x="8718550" y="6699928"/>
              <a:ext cx="217712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设计架构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产品特点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营销模式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产品使用场景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E9F016B-890D-4154-B366-0E3CA4669FA0}"/>
              </a:ext>
            </a:extLst>
          </p:cNvPr>
          <p:cNvGrpSpPr/>
          <p:nvPr/>
        </p:nvGrpSpPr>
        <p:grpSpPr>
          <a:xfrm>
            <a:off x="11156950" y="3724192"/>
            <a:ext cx="2771602" cy="3702133"/>
            <a:chOff x="11156950" y="3724192"/>
            <a:chExt cx="2771602" cy="3702133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6D442DF-0A7D-4FC1-AED7-95A386958BBB}"/>
                </a:ext>
              </a:extLst>
            </p:cNvPr>
            <p:cNvSpPr txBox="1"/>
            <p:nvPr/>
          </p:nvSpPr>
          <p:spPr>
            <a:xfrm>
              <a:off x="11156950" y="3724192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elveticaInserat-Roman-SemiBold" pitchFamily="2" charset="0"/>
                </a:rPr>
                <a:t>05</a:t>
              </a:r>
              <a:endParaRPr lang="zh-CN" alt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4E8BF10-65AA-4CAE-B7F3-915324D6BD1B}"/>
                </a:ext>
              </a:extLst>
            </p:cNvPr>
            <p:cNvSpPr txBox="1"/>
            <p:nvPr/>
          </p:nvSpPr>
          <p:spPr>
            <a:xfrm>
              <a:off x="11217571" y="497899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9031D2F-6E44-4970-8976-490424FE5185}"/>
                </a:ext>
              </a:extLst>
            </p:cNvPr>
            <p:cNvSpPr txBox="1"/>
            <p:nvPr/>
          </p:nvSpPr>
          <p:spPr>
            <a:xfrm>
              <a:off x="11293771" y="558859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pc="1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S</a:t>
              </a:r>
              <a:r>
                <a:rPr lang="en-US" altLang="zh-CN" sz="1800" spc="12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/>
                  <a:cs typeface="Calibri"/>
                </a:rPr>
                <a:t>ummary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75C7689-225E-4533-BBB2-77BB2494676F}"/>
                </a:ext>
              </a:extLst>
            </p:cNvPr>
            <p:cNvSpPr txBox="1"/>
            <p:nvPr/>
          </p:nvSpPr>
          <p:spPr>
            <a:xfrm>
              <a:off x="11293771" y="6502995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价值主张</a:t>
              </a:r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</p:grpSp>
      <p:sp>
        <p:nvSpPr>
          <p:cNvPr id="76" name="文本框 75">
            <a:extLst>
              <a:ext uri="{FF2B5EF4-FFF2-40B4-BE49-F238E27FC236}">
                <a16:creationId xmlns:a16="http://schemas.microsoft.com/office/drawing/2014/main" id="{8943C351-582D-499E-BCBD-50F0C291B6AA}"/>
              </a:ext>
            </a:extLst>
          </p:cNvPr>
          <p:cNvSpPr txBox="1"/>
          <p:nvPr/>
        </p:nvSpPr>
        <p:spPr>
          <a:xfrm>
            <a:off x="1084580" y="3692525"/>
            <a:ext cx="11578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Inserat-Roman-SemiBold" pitchFamily="2" charset="0"/>
              </a:rPr>
              <a:t>01</a:t>
            </a:r>
            <a:endParaRPr lang="zh-CN" altLang="en-US" sz="6000" b="1" dirty="0">
              <a:solidFill>
                <a:schemeClr val="tx1">
                  <a:lumMod val="85000"/>
                  <a:lumOff val="15000"/>
                </a:schemeClr>
              </a:solidFill>
              <a:latin typeface="HelveticaInserat-Roman-SemiBold" pitchFamily="2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050B54CF-E579-49DD-80E4-48F935F8AAC2}"/>
              </a:ext>
            </a:extLst>
          </p:cNvPr>
          <p:cNvSpPr txBox="1"/>
          <p:nvPr/>
        </p:nvSpPr>
        <p:spPr>
          <a:xfrm>
            <a:off x="1022350" y="5033221"/>
            <a:ext cx="2710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项目概述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0D274F6-F0D1-4505-989E-32DBD42142F5}"/>
              </a:ext>
            </a:extLst>
          </p:cNvPr>
          <p:cNvSpPr txBox="1"/>
          <p:nvPr/>
        </p:nvSpPr>
        <p:spPr>
          <a:xfrm>
            <a:off x="1098550" y="5556928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spc="95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Project </a:t>
            </a:r>
            <a:r>
              <a:rPr lang="en-US" altLang="zh-CN" sz="18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altLang="zh-CN" sz="1800" spc="12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O</a:t>
            </a:r>
            <a:r>
              <a:rPr lang="en-US" altLang="zh-CN" sz="1800" spc="55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v</a:t>
            </a:r>
            <a:r>
              <a:rPr lang="en-US" altLang="zh-CN" sz="1800" spc="7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e</a:t>
            </a:r>
            <a:r>
              <a:rPr lang="en-US" altLang="zh-CN" sz="1800" spc="11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r</a:t>
            </a:r>
            <a:r>
              <a:rPr lang="en-US" altLang="zh-CN" sz="1800" spc="105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  <a:cs typeface="Calibri"/>
              </a:rPr>
              <a:t>view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4F94912-A5A4-4E7F-989D-C43F8C1498C5}"/>
              </a:ext>
            </a:extLst>
          </p:cNvPr>
          <p:cNvSpPr txBox="1"/>
          <p:nvPr/>
        </p:nvSpPr>
        <p:spPr>
          <a:xfrm>
            <a:off x="1098550" y="6471328"/>
            <a:ext cx="2177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85000"/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17DD9FD-4D67-40AD-95E0-232A8A0500E2}"/>
              </a:ext>
            </a:extLst>
          </p:cNvPr>
          <p:cNvCxnSpPr>
            <a:cxnSpLocks/>
          </p:cNvCxnSpPr>
          <p:nvPr/>
        </p:nvCxnSpPr>
        <p:spPr>
          <a:xfrm>
            <a:off x="0" y="3463925"/>
            <a:ext cx="1321435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2C5167AE-A5B6-4840-B27A-1D6970C425FA}"/>
              </a:ext>
            </a:extLst>
          </p:cNvPr>
          <p:cNvSpPr/>
          <p:nvPr/>
        </p:nvSpPr>
        <p:spPr>
          <a:xfrm>
            <a:off x="311343" y="695518"/>
            <a:ext cx="863407" cy="86340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150" y="720725"/>
            <a:ext cx="515366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5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cs typeface="Verdana"/>
              </a:rPr>
              <a:t>Contents</a:t>
            </a:r>
            <a:endParaRPr sz="7500" b="1" dirty="0">
              <a:solidFill>
                <a:schemeClr val="tx1">
                  <a:lumMod val="75000"/>
                  <a:lumOff val="25000"/>
                </a:schemeClr>
              </a:solidFill>
              <a:latin typeface="Verdana"/>
              <a:cs typeface="Verdana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5F8CEDA-4245-4A70-BC27-ABD03DD58A8F}"/>
              </a:ext>
            </a:extLst>
          </p:cNvPr>
          <p:cNvCxnSpPr>
            <a:cxnSpLocks/>
          </p:cNvCxnSpPr>
          <p:nvPr/>
        </p:nvCxnSpPr>
        <p:spPr>
          <a:xfrm flipH="1">
            <a:off x="5718810" y="1304925"/>
            <a:ext cx="561340" cy="406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226CC92-F59F-4815-97FF-F7D349033F46}"/>
              </a:ext>
            </a:extLst>
          </p:cNvPr>
          <p:cNvSpPr txBox="1"/>
          <p:nvPr/>
        </p:nvSpPr>
        <p:spPr>
          <a:xfrm>
            <a:off x="6280150" y="13555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A18061D-4D39-4888-8E19-08C92CAB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1444" y="5687919"/>
            <a:ext cx="1352739" cy="134321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62EF5DD-3537-493E-82A6-B4107D17A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19281" y="2589954"/>
            <a:ext cx="2076740" cy="2829320"/>
          </a:xfrm>
          <a:prstGeom prst="rect">
            <a:avLst/>
          </a:prstGeom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6B70BFD8-466E-4BBA-8CF1-D72C6B7B5343}"/>
              </a:ext>
            </a:extLst>
          </p:cNvPr>
          <p:cNvGrpSpPr/>
          <p:nvPr/>
        </p:nvGrpSpPr>
        <p:grpSpPr>
          <a:xfrm>
            <a:off x="1174750" y="3082925"/>
            <a:ext cx="3276600" cy="5598367"/>
            <a:chOff x="2851150" y="3275758"/>
            <a:chExt cx="3276600" cy="5598367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8BCD249-89E7-4A16-AED9-151AAD523EBF}"/>
                </a:ext>
              </a:extLst>
            </p:cNvPr>
            <p:cNvSpPr/>
            <p:nvPr/>
          </p:nvSpPr>
          <p:spPr>
            <a:xfrm>
              <a:off x="2851150" y="3275758"/>
              <a:ext cx="3276600" cy="5598367"/>
            </a:xfrm>
            <a:prstGeom prst="rect">
              <a:avLst/>
            </a:prstGeom>
            <a:solidFill>
              <a:srgbClr val="0F4ABE"/>
            </a:solidFill>
            <a:ln>
              <a:noFill/>
            </a:ln>
            <a:effectLst>
              <a:outerShdw blurRad="355600" dist="1333500" dir="8100000" sx="86000" sy="86000" algn="t" rotWithShape="0">
                <a:srgbClr val="0F4ABE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D29A4B4-7E7B-401E-B670-F5FD104917FC}"/>
                </a:ext>
              </a:extLst>
            </p:cNvPr>
            <p:cNvSpPr/>
            <p:nvPr/>
          </p:nvSpPr>
          <p:spPr>
            <a:xfrm>
              <a:off x="2851150" y="3311525"/>
              <a:ext cx="1371600" cy="1524000"/>
            </a:xfrm>
            <a:prstGeom prst="ellipse">
              <a:avLst/>
            </a:prstGeom>
            <a:solidFill>
              <a:srgbClr val="0F4A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>
                  <a:solidFill>
                    <a:schemeClr val="bg1"/>
                  </a:solidFill>
                  <a:latin typeface="HelveticaInserat-Roman-SemiBold" pitchFamily="2" charset="0"/>
                  <a:cs typeface="Calibri" panose="020F0502020204030204" pitchFamily="34" charset="0"/>
                </a:rPr>
                <a:t>01</a:t>
              </a:r>
              <a:endParaRPr lang="zh-CN" altLang="en-US" sz="6000" dirty="0">
                <a:solidFill>
                  <a:schemeClr val="bg1"/>
                </a:solidFill>
                <a:latin typeface="HelveticaInserat-Roman-SemiBold" pitchFamily="2" charset="0"/>
                <a:cs typeface="Calibri" panose="020F050202020403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B0CFA08-D329-437E-AC62-F60F1346F188}"/>
                </a:ext>
              </a:extLst>
            </p:cNvPr>
            <p:cNvSpPr txBox="1"/>
            <p:nvPr/>
          </p:nvSpPr>
          <p:spPr>
            <a:xfrm>
              <a:off x="3079750" y="483552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项目概述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F46178-2407-4DA2-BB94-48E9FD0C61AE}"/>
                </a:ext>
              </a:extLst>
            </p:cNvPr>
            <p:cNvSpPr txBox="1"/>
            <p:nvPr/>
          </p:nvSpPr>
          <p:spPr>
            <a:xfrm>
              <a:off x="3079750" y="544512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z="1800" spc="12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O</a:t>
              </a:r>
              <a:r>
                <a:rPr lang="en-US" altLang="zh-CN" sz="1800" spc="55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v</a:t>
              </a:r>
              <a:r>
                <a:rPr lang="en-US" altLang="zh-CN" sz="1800" spc="7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e</a:t>
              </a:r>
              <a:r>
                <a:rPr lang="en-US" altLang="zh-CN" sz="1800" spc="11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r</a:t>
              </a:r>
              <a:r>
                <a:rPr lang="en-US" altLang="zh-CN" sz="1800" spc="105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view</a:t>
              </a:r>
              <a:endParaRPr lang="zh-CN" altLang="en-US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1FFFB0-A1A4-4EEA-8556-A52BED8E07A5}"/>
                </a:ext>
              </a:extLst>
            </p:cNvPr>
            <p:cNvSpPr txBox="1"/>
            <p:nvPr/>
          </p:nvSpPr>
          <p:spPr>
            <a:xfrm>
              <a:off x="3079750" y="6359525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项目目标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B0A1375-610B-4CD7-9652-5E8E29A2EFA3}"/>
              </a:ext>
            </a:extLst>
          </p:cNvPr>
          <p:cNvGrpSpPr/>
          <p:nvPr/>
        </p:nvGrpSpPr>
        <p:grpSpPr>
          <a:xfrm>
            <a:off x="7088506" y="3779260"/>
            <a:ext cx="2710981" cy="4810128"/>
            <a:chOff x="7088506" y="3972093"/>
            <a:chExt cx="2710981" cy="4810128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3374549-1A4F-4811-AF71-71D8AE8B8023}"/>
                </a:ext>
              </a:extLst>
            </p:cNvPr>
            <p:cNvSpPr txBox="1"/>
            <p:nvPr/>
          </p:nvSpPr>
          <p:spPr>
            <a:xfrm>
              <a:off x="7150736" y="3972093"/>
              <a:ext cx="106679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03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00774AE-0B4E-4755-8F86-073732E520F2}"/>
                </a:ext>
              </a:extLst>
            </p:cNvPr>
            <p:cNvSpPr txBox="1"/>
            <p:nvPr/>
          </p:nvSpPr>
          <p:spPr>
            <a:xfrm>
              <a:off x="7088506" y="52268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用户研究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3C2B19E-3DAD-4B2D-B1BF-830DD4E37FC9}"/>
                </a:ext>
              </a:extLst>
            </p:cNvPr>
            <p:cNvSpPr txBox="1"/>
            <p:nvPr/>
          </p:nvSpPr>
          <p:spPr>
            <a:xfrm>
              <a:off x="7164706" y="58364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User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Research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BD06A57-64F2-4B9C-AD59-2A1C737B4C19}"/>
                </a:ext>
              </a:extLst>
            </p:cNvPr>
            <p:cNvSpPr txBox="1"/>
            <p:nvPr/>
          </p:nvSpPr>
          <p:spPr>
            <a:xfrm>
              <a:off x="7164706" y="6750896"/>
              <a:ext cx="217712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用户特点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用户画像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痛点总结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需求转化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DF7C3D5-712E-44FE-9A95-A13D7C51E70F}"/>
              </a:ext>
            </a:extLst>
          </p:cNvPr>
          <p:cNvGrpSpPr/>
          <p:nvPr/>
        </p:nvGrpSpPr>
        <p:grpSpPr>
          <a:xfrm>
            <a:off x="9189722" y="3759959"/>
            <a:ext cx="2805430" cy="5364126"/>
            <a:chOff x="9189722" y="3921125"/>
            <a:chExt cx="2805430" cy="5364126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35748DA-B11F-4EC4-9C52-973769799FD7}"/>
                </a:ext>
              </a:extLst>
            </p:cNvPr>
            <p:cNvSpPr txBox="1"/>
            <p:nvPr/>
          </p:nvSpPr>
          <p:spPr>
            <a:xfrm>
              <a:off x="9251952" y="3921125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04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CB7F3FB-78DB-4598-96F3-F835286C2A91}"/>
                </a:ext>
              </a:extLst>
            </p:cNvPr>
            <p:cNvSpPr txBox="1"/>
            <p:nvPr/>
          </p:nvSpPr>
          <p:spPr>
            <a:xfrm>
              <a:off x="9189722" y="5175928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BDF46FE-025E-40D9-9223-33131E04915D}"/>
                </a:ext>
              </a:extLst>
            </p:cNvPr>
            <p:cNvSpPr txBox="1"/>
            <p:nvPr/>
          </p:nvSpPr>
          <p:spPr>
            <a:xfrm>
              <a:off x="9265922" y="5785528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Concept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Description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F998B33-DC67-4106-9473-1D1AD68F9B5F}"/>
                </a:ext>
              </a:extLst>
            </p:cNvPr>
            <p:cNvSpPr txBox="1"/>
            <p:nvPr/>
          </p:nvSpPr>
          <p:spPr>
            <a:xfrm>
              <a:off x="9265922" y="6699928"/>
              <a:ext cx="217712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设计架构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产品特点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营销模式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产品使用场景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5A9985E-447D-46EB-B77D-469F8EE9EDEA}"/>
              </a:ext>
            </a:extLst>
          </p:cNvPr>
          <p:cNvGrpSpPr/>
          <p:nvPr/>
        </p:nvGrpSpPr>
        <p:grpSpPr>
          <a:xfrm>
            <a:off x="11156950" y="3759959"/>
            <a:ext cx="2771602" cy="3702133"/>
            <a:chOff x="11156950" y="3952792"/>
            <a:chExt cx="2771602" cy="3702133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6D442DF-0A7D-4FC1-AED7-95A386958BBB}"/>
                </a:ext>
              </a:extLst>
            </p:cNvPr>
            <p:cNvSpPr txBox="1"/>
            <p:nvPr/>
          </p:nvSpPr>
          <p:spPr>
            <a:xfrm>
              <a:off x="11156950" y="3952792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05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4E8BF10-65AA-4CAE-B7F3-915324D6BD1B}"/>
                </a:ext>
              </a:extLst>
            </p:cNvPr>
            <p:cNvSpPr txBox="1"/>
            <p:nvPr/>
          </p:nvSpPr>
          <p:spPr>
            <a:xfrm>
              <a:off x="11217571" y="520759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9031D2F-6E44-4970-8976-490424FE5185}"/>
                </a:ext>
              </a:extLst>
            </p:cNvPr>
            <p:cNvSpPr txBox="1"/>
            <p:nvPr/>
          </p:nvSpPr>
          <p:spPr>
            <a:xfrm>
              <a:off x="11293771" y="581719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S</a:t>
              </a:r>
              <a:r>
                <a:rPr lang="en-US" altLang="zh-CN" sz="1800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ummary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75C7689-225E-4533-BBB2-77BB2494676F}"/>
                </a:ext>
              </a:extLst>
            </p:cNvPr>
            <p:cNvSpPr txBox="1"/>
            <p:nvPr/>
          </p:nvSpPr>
          <p:spPr>
            <a:xfrm>
              <a:off x="11293771" y="6731595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价值主张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66EA085-91D5-4519-8E7A-711D3D6AD250}"/>
              </a:ext>
            </a:extLst>
          </p:cNvPr>
          <p:cNvGrpSpPr/>
          <p:nvPr/>
        </p:nvGrpSpPr>
        <p:grpSpPr>
          <a:xfrm>
            <a:off x="4984750" y="3768725"/>
            <a:ext cx="2253322" cy="4256131"/>
            <a:chOff x="3613150" y="3729824"/>
            <a:chExt cx="2253322" cy="4256131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07042A1-FA9C-4415-8DD9-497645B3DADA}"/>
                </a:ext>
              </a:extLst>
            </p:cNvPr>
            <p:cNvSpPr txBox="1"/>
            <p:nvPr/>
          </p:nvSpPr>
          <p:spPr>
            <a:xfrm>
              <a:off x="3613150" y="3729824"/>
              <a:ext cx="11578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02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7C9D399-30D8-48AC-A88D-214338D235D3}"/>
                </a:ext>
              </a:extLst>
            </p:cNvPr>
            <p:cNvSpPr txBox="1"/>
            <p:nvPr/>
          </p:nvSpPr>
          <p:spPr>
            <a:xfrm>
              <a:off x="3613150" y="4984627"/>
              <a:ext cx="19037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95D1DB8-3C47-47A3-9772-AEC02357E9E2}"/>
                </a:ext>
              </a:extLst>
            </p:cNvPr>
            <p:cNvSpPr txBox="1"/>
            <p:nvPr/>
          </p:nvSpPr>
          <p:spPr>
            <a:xfrm>
              <a:off x="3689349" y="5594227"/>
              <a:ext cx="12939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Market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Analysis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F174643-CE2E-40F5-BE5C-5D00D24E1A55}"/>
                </a:ext>
              </a:extLst>
            </p:cNvPr>
            <p:cNvSpPr txBox="1"/>
            <p:nvPr/>
          </p:nvSpPr>
          <p:spPr>
            <a:xfrm>
              <a:off x="3689349" y="6508627"/>
              <a:ext cx="2177123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竞品分析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四象限分析法总结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51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2C5167AE-A5B6-4840-B27A-1D6970C425FA}"/>
              </a:ext>
            </a:extLst>
          </p:cNvPr>
          <p:cNvSpPr/>
          <p:nvPr/>
        </p:nvSpPr>
        <p:spPr>
          <a:xfrm>
            <a:off x="311343" y="695518"/>
            <a:ext cx="863407" cy="86340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150" y="720725"/>
            <a:ext cx="515366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5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cs typeface="Verdana"/>
              </a:rPr>
              <a:t>Contents</a:t>
            </a:r>
            <a:endParaRPr sz="7500" b="1" dirty="0">
              <a:solidFill>
                <a:schemeClr val="tx1">
                  <a:lumMod val="75000"/>
                  <a:lumOff val="25000"/>
                </a:schemeClr>
              </a:solidFill>
              <a:latin typeface="Verdana"/>
              <a:cs typeface="Verdana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6E27564-39FF-44B5-94BD-C99279AEBB52}"/>
              </a:ext>
            </a:extLst>
          </p:cNvPr>
          <p:cNvCxnSpPr>
            <a:cxnSpLocks/>
          </p:cNvCxnSpPr>
          <p:nvPr/>
        </p:nvCxnSpPr>
        <p:spPr>
          <a:xfrm>
            <a:off x="0" y="3499692"/>
            <a:ext cx="1321435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5F8CEDA-4245-4A70-BC27-ABD03DD58A8F}"/>
              </a:ext>
            </a:extLst>
          </p:cNvPr>
          <p:cNvCxnSpPr>
            <a:cxnSpLocks/>
          </p:cNvCxnSpPr>
          <p:nvPr/>
        </p:nvCxnSpPr>
        <p:spPr>
          <a:xfrm flipH="1">
            <a:off x="5718810" y="1304925"/>
            <a:ext cx="561340" cy="406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226CC92-F59F-4815-97FF-F7D349033F46}"/>
              </a:ext>
            </a:extLst>
          </p:cNvPr>
          <p:cNvSpPr txBox="1"/>
          <p:nvPr/>
        </p:nvSpPr>
        <p:spPr>
          <a:xfrm>
            <a:off x="6280150" y="13555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A18061D-4D39-4888-8E19-08C92CAB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1444" y="5687919"/>
            <a:ext cx="1352739" cy="134321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62EF5DD-3537-493E-82A6-B4107D17A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19281" y="2589954"/>
            <a:ext cx="2076740" cy="2829320"/>
          </a:xfrm>
          <a:prstGeom prst="rect">
            <a:avLst/>
          </a:prstGeom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6B70BFD8-466E-4BBA-8CF1-D72C6B7B5343}"/>
              </a:ext>
            </a:extLst>
          </p:cNvPr>
          <p:cNvGrpSpPr/>
          <p:nvPr/>
        </p:nvGrpSpPr>
        <p:grpSpPr>
          <a:xfrm>
            <a:off x="3384550" y="3082925"/>
            <a:ext cx="3276600" cy="5598367"/>
            <a:chOff x="2851150" y="3275758"/>
            <a:chExt cx="3276600" cy="5598367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8BCD249-89E7-4A16-AED9-151AAD523EBF}"/>
                </a:ext>
              </a:extLst>
            </p:cNvPr>
            <p:cNvSpPr/>
            <p:nvPr/>
          </p:nvSpPr>
          <p:spPr>
            <a:xfrm>
              <a:off x="2851150" y="3275758"/>
              <a:ext cx="3276600" cy="5598367"/>
            </a:xfrm>
            <a:prstGeom prst="rect">
              <a:avLst/>
            </a:prstGeom>
            <a:solidFill>
              <a:srgbClr val="0F4ABE"/>
            </a:solidFill>
            <a:ln>
              <a:noFill/>
            </a:ln>
            <a:effectLst>
              <a:outerShdw blurRad="355600" dist="1333500" dir="8100000" sx="86000" sy="86000" algn="t" rotWithShape="0">
                <a:srgbClr val="0F4ABE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D29A4B4-7E7B-401E-B670-F5FD104917FC}"/>
                </a:ext>
              </a:extLst>
            </p:cNvPr>
            <p:cNvSpPr/>
            <p:nvPr/>
          </p:nvSpPr>
          <p:spPr>
            <a:xfrm>
              <a:off x="2851150" y="3311525"/>
              <a:ext cx="1371600" cy="1524000"/>
            </a:xfrm>
            <a:prstGeom prst="ellipse">
              <a:avLst/>
            </a:prstGeom>
            <a:solidFill>
              <a:srgbClr val="0F4A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>
                  <a:solidFill>
                    <a:schemeClr val="bg1"/>
                  </a:solidFill>
                  <a:latin typeface="HelveticaInserat-Roman-SemiBold" pitchFamily="2" charset="0"/>
                  <a:cs typeface="Calibri" panose="020F0502020204030204" pitchFamily="34" charset="0"/>
                </a:rPr>
                <a:t>02</a:t>
              </a:r>
              <a:endParaRPr lang="zh-CN" altLang="en-US" sz="6000" dirty="0">
                <a:solidFill>
                  <a:schemeClr val="bg1"/>
                </a:solidFill>
                <a:latin typeface="HelveticaInserat-Roman-SemiBold" pitchFamily="2" charset="0"/>
                <a:cs typeface="Calibri" panose="020F050202020403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B0CFA08-D329-437E-AC62-F60F1346F188}"/>
                </a:ext>
              </a:extLst>
            </p:cNvPr>
            <p:cNvSpPr txBox="1"/>
            <p:nvPr/>
          </p:nvSpPr>
          <p:spPr>
            <a:xfrm>
              <a:off x="3079750" y="483552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F46178-2407-4DA2-BB94-48E9FD0C61AE}"/>
                </a:ext>
              </a:extLst>
            </p:cNvPr>
            <p:cNvSpPr txBox="1"/>
            <p:nvPr/>
          </p:nvSpPr>
          <p:spPr>
            <a:xfrm>
              <a:off x="3079750" y="544512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Market</a:t>
              </a:r>
            </a:p>
            <a:p>
              <a:r>
                <a:rPr lang="en-US" altLang="zh-CN" spc="95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Analysis</a:t>
              </a:r>
              <a:endParaRPr lang="zh-CN" altLang="en-US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1FFFB0-A1A4-4EEA-8556-A52BED8E07A5}"/>
                </a:ext>
              </a:extLst>
            </p:cNvPr>
            <p:cNvSpPr txBox="1"/>
            <p:nvPr/>
          </p:nvSpPr>
          <p:spPr>
            <a:xfrm>
              <a:off x="3079750" y="6359525"/>
              <a:ext cx="2177123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竞品分析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四象限分析法总结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C63EE8E-E606-4651-A78D-A56C18463A4C}"/>
              </a:ext>
            </a:extLst>
          </p:cNvPr>
          <p:cNvGrpSpPr/>
          <p:nvPr/>
        </p:nvGrpSpPr>
        <p:grpSpPr>
          <a:xfrm>
            <a:off x="946150" y="3779260"/>
            <a:ext cx="2710981" cy="3702133"/>
            <a:chOff x="4984750" y="3972093"/>
            <a:chExt cx="2710981" cy="3702133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B82CE67-6611-40CA-BD23-ACFFDEDABFEE}"/>
                </a:ext>
              </a:extLst>
            </p:cNvPr>
            <p:cNvSpPr txBox="1"/>
            <p:nvPr/>
          </p:nvSpPr>
          <p:spPr>
            <a:xfrm>
              <a:off x="5046980" y="3972093"/>
              <a:ext cx="11578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01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46B6BC2-7CCB-44ED-913A-A48073B92DDF}"/>
                </a:ext>
              </a:extLst>
            </p:cNvPr>
            <p:cNvSpPr txBox="1"/>
            <p:nvPr/>
          </p:nvSpPr>
          <p:spPr>
            <a:xfrm>
              <a:off x="4984750" y="52268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项目概述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7010B0F-279D-47E3-9C70-99D979DF5AB0}"/>
                </a:ext>
              </a:extLst>
            </p:cNvPr>
            <p:cNvSpPr txBox="1"/>
            <p:nvPr/>
          </p:nvSpPr>
          <p:spPr>
            <a:xfrm>
              <a:off x="5060950" y="58364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z="1800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O</a:t>
              </a:r>
              <a:r>
                <a:rPr lang="en-US" altLang="zh-CN" sz="1800" spc="5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v</a:t>
              </a:r>
              <a:r>
                <a:rPr lang="en-US" altLang="zh-CN" sz="1800" spc="7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e</a:t>
              </a:r>
              <a:r>
                <a:rPr lang="en-US" altLang="zh-CN" sz="1800" spc="11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r</a:t>
              </a:r>
              <a:r>
                <a:rPr lang="en-US" altLang="zh-CN" sz="1800" spc="10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view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B9FB897-7F6E-4864-AEB9-1C9DF2AD5B7F}"/>
                </a:ext>
              </a:extLst>
            </p:cNvPr>
            <p:cNvSpPr txBox="1"/>
            <p:nvPr/>
          </p:nvSpPr>
          <p:spPr>
            <a:xfrm>
              <a:off x="5060950" y="6750896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项目目标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81ABF5D-EC16-4C10-B951-6ED755B90C52}"/>
              </a:ext>
            </a:extLst>
          </p:cNvPr>
          <p:cNvGrpSpPr/>
          <p:nvPr/>
        </p:nvGrpSpPr>
        <p:grpSpPr>
          <a:xfrm>
            <a:off x="7088506" y="3779260"/>
            <a:ext cx="2710981" cy="4810128"/>
            <a:chOff x="7088506" y="3779260"/>
            <a:chExt cx="2710981" cy="4810128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3374549-1A4F-4811-AF71-71D8AE8B8023}"/>
                </a:ext>
              </a:extLst>
            </p:cNvPr>
            <p:cNvSpPr txBox="1"/>
            <p:nvPr/>
          </p:nvSpPr>
          <p:spPr>
            <a:xfrm>
              <a:off x="7150736" y="3779260"/>
              <a:ext cx="106679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03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00774AE-0B4E-4755-8F86-073732E520F2}"/>
                </a:ext>
              </a:extLst>
            </p:cNvPr>
            <p:cNvSpPr txBox="1"/>
            <p:nvPr/>
          </p:nvSpPr>
          <p:spPr>
            <a:xfrm>
              <a:off x="7088506" y="5034063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用户研究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3C2B19E-3DAD-4B2D-B1BF-830DD4E37FC9}"/>
                </a:ext>
              </a:extLst>
            </p:cNvPr>
            <p:cNvSpPr txBox="1"/>
            <p:nvPr/>
          </p:nvSpPr>
          <p:spPr>
            <a:xfrm>
              <a:off x="7164706" y="5643663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User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Research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BD06A57-64F2-4B9C-AD59-2A1C737B4C19}"/>
                </a:ext>
              </a:extLst>
            </p:cNvPr>
            <p:cNvSpPr txBox="1"/>
            <p:nvPr/>
          </p:nvSpPr>
          <p:spPr>
            <a:xfrm>
              <a:off x="7164706" y="6558063"/>
              <a:ext cx="217712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用户特点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用户画像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痛点总结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需求转化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BC25977-AAEB-47F2-BBB6-35D68EE5F512}"/>
              </a:ext>
            </a:extLst>
          </p:cNvPr>
          <p:cNvGrpSpPr/>
          <p:nvPr/>
        </p:nvGrpSpPr>
        <p:grpSpPr>
          <a:xfrm>
            <a:off x="9189722" y="3759959"/>
            <a:ext cx="2805430" cy="5364126"/>
            <a:chOff x="9189722" y="3952792"/>
            <a:chExt cx="2805430" cy="5364126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35748DA-B11F-4EC4-9C52-973769799FD7}"/>
                </a:ext>
              </a:extLst>
            </p:cNvPr>
            <p:cNvSpPr txBox="1"/>
            <p:nvPr/>
          </p:nvSpPr>
          <p:spPr>
            <a:xfrm>
              <a:off x="9251952" y="3952792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04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CB7F3FB-78DB-4598-96F3-F835286C2A91}"/>
                </a:ext>
              </a:extLst>
            </p:cNvPr>
            <p:cNvSpPr txBox="1"/>
            <p:nvPr/>
          </p:nvSpPr>
          <p:spPr>
            <a:xfrm>
              <a:off x="9189722" y="520759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BDF46FE-025E-40D9-9223-33131E04915D}"/>
                </a:ext>
              </a:extLst>
            </p:cNvPr>
            <p:cNvSpPr txBox="1"/>
            <p:nvPr/>
          </p:nvSpPr>
          <p:spPr>
            <a:xfrm>
              <a:off x="9265922" y="581719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Concept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Description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F998B33-DC67-4106-9473-1D1AD68F9B5F}"/>
                </a:ext>
              </a:extLst>
            </p:cNvPr>
            <p:cNvSpPr txBox="1"/>
            <p:nvPr/>
          </p:nvSpPr>
          <p:spPr>
            <a:xfrm>
              <a:off x="9265922" y="6731595"/>
              <a:ext cx="217712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设计架构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产品特点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营销模式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产品使用场景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BEAC771-A382-41ED-A67D-2383BE6819BB}"/>
              </a:ext>
            </a:extLst>
          </p:cNvPr>
          <p:cNvGrpSpPr/>
          <p:nvPr/>
        </p:nvGrpSpPr>
        <p:grpSpPr>
          <a:xfrm>
            <a:off x="11156950" y="3759959"/>
            <a:ext cx="2771602" cy="3702133"/>
            <a:chOff x="11156950" y="3759959"/>
            <a:chExt cx="2771602" cy="3702133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6D442DF-0A7D-4FC1-AED7-95A386958BBB}"/>
                </a:ext>
              </a:extLst>
            </p:cNvPr>
            <p:cNvSpPr txBox="1"/>
            <p:nvPr/>
          </p:nvSpPr>
          <p:spPr>
            <a:xfrm>
              <a:off x="11156950" y="3759959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05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4E8BF10-65AA-4CAE-B7F3-915324D6BD1B}"/>
                </a:ext>
              </a:extLst>
            </p:cNvPr>
            <p:cNvSpPr txBox="1"/>
            <p:nvPr/>
          </p:nvSpPr>
          <p:spPr>
            <a:xfrm>
              <a:off x="11217571" y="5014762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9031D2F-6E44-4970-8976-490424FE5185}"/>
                </a:ext>
              </a:extLst>
            </p:cNvPr>
            <p:cNvSpPr txBox="1"/>
            <p:nvPr/>
          </p:nvSpPr>
          <p:spPr>
            <a:xfrm>
              <a:off x="11293771" y="5624362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S</a:t>
              </a:r>
              <a:r>
                <a:rPr lang="en-US" altLang="zh-CN" sz="1800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ummary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75C7689-225E-4533-BBB2-77BB2494676F}"/>
                </a:ext>
              </a:extLst>
            </p:cNvPr>
            <p:cNvSpPr txBox="1"/>
            <p:nvPr/>
          </p:nvSpPr>
          <p:spPr>
            <a:xfrm>
              <a:off x="11293771" y="6538762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价值主张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973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2C5167AE-A5B6-4840-B27A-1D6970C425FA}"/>
              </a:ext>
            </a:extLst>
          </p:cNvPr>
          <p:cNvSpPr/>
          <p:nvPr/>
        </p:nvSpPr>
        <p:spPr>
          <a:xfrm>
            <a:off x="311343" y="695518"/>
            <a:ext cx="863407" cy="86340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150" y="720725"/>
            <a:ext cx="515366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5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cs typeface="Verdana"/>
              </a:rPr>
              <a:t>Contents</a:t>
            </a:r>
            <a:endParaRPr sz="7500" b="1" dirty="0">
              <a:solidFill>
                <a:schemeClr val="tx1">
                  <a:lumMod val="75000"/>
                  <a:lumOff val="25000"/>
                </a:schemeClr>
              </a:solidFill>
              <a:latin typeface="Verdana"/>
              <a:cs typeface="Verdana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6E27564-39FF-44B5-94BD-C99279AEBB52}"/>
              </a:ext>
            </a:extLst>
          </p:cNvPr>
          <p:cNvCxnSpPr>
            <a:cxnSpLocks/>
          </p:cNvCxnSpPr>
          <p:nvPr/>
        </p:nvCxnSpPr>
        <p:spPr>
          <a:xfrm>
            <a:off x="0" y="3499692"/>
            <a:ext cx="1321435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5F8CEDA-4245-4A70-BC27-ABD03DD58A8F}"/>
              </a:ext>
            </a:extLst>
          </p:cNvPr>
          <p:cNvCxnSpPr>
            <a:cxnSpLocks/>
          </p:cNvCxnSpPr>
          <p:nvPr/>
        </p:nvCxnSpPr>
        <p:spPr>
          <a:xfrm flipH="1">
            <a:off x="5718810" y="1304925"/>
            <a:ext cx="561340" cy="406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226CC92-F59F-4815-97FF-F7D349033F46}"/>
              </a:ext>
            </a:extLst>
          </p:cNvPr>
          <p:cNvSpPr txBox="1"/>
          <p:nvPr/>
        </p:nvSpPr>
        <p:spPr>
          <a:xfrm>
            <a:off x="6280150" y="13555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A18061D-4D39-4888-8E19-08C92CAB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1444" y="5687919"/>
            <a:ext cx="1352739" cy="134321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62EF5DD-3537-493E-82A6-B4107D17A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19281" y="2589954"/>
            <a:ext cx="2076740" cy="2829320"/>
          </a:xfrm>
          <a:prstGeom prst="rect">
            <a:avLst/>
          </a:prstGeom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6B70BFD8-466E-4BBA-8CF1-D72C6B7B5343}"/>
              </a:ext>
            </a:extLst>
          </p:cNvPr>
          <p:cNvGrpSpPr/>
          <p:nvPr/>
        </p:nvGrpSpPr>
        <p:grpSpPr>
          <a:xfrm>
            <a:off x="5365750" y="3082925"/>
            <a:ext cx="3276600" cy="5598367"/>
            <a:chOff x="2851150" y="3275758"/>
            <a:chExt cx="3276600" cy="5598367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8BCD249-89E7-4A16-AED9-151AAD523EBF}"/>
                </a:ext>
              </a:extLst>
            </p:cNvPr>
            <p:cNvSpPr/>
            <p:nvPr/>
          </p:nvSpPr>
          <p:spPr>
            <a:xfrm>
              <a:off x="2851150" y="3275758"/>
              <a:ext cx="3276600" cy="5598367"/>
            </a:xfrm>
            <a:prstGeom prst="rect">
              <a:avLst/>
            </a:prstGeom>
            <a:solidFill>
              <a:srgbClr val="0F4ABE"/>
            </a:solidFill>
            <a:ln>
              <a:noFill/>
            </a:ln>
            <a:effectLst>
              <a:outerShdw blurRad="355600" dist="1333500" dir="8100000" sx="86000" sy="86000" algn="t" rotWithShape="0">
                <a:srgbClr val="0F4ABE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D29A4B4-7E7B-401E-B670-F5FD104917FC}"/>
                </a:ext>
              </a:extLst>
            </p:cNvPr>
            <p:cNvSpPr/>
            <p:nvPr/>
          </p:nvSpPr>
          <p:spPr>
            <a:xfrm>
              <a:off x="2851150" y="3311525"/>
              <a:ext cx="1371600" cy="1524000"/>
            </a:xfrm>
            <a:prstGeom prst="ellipse">
              <a:avLst/>
            </a:prstGeom>
            <a:solidFill>
              <a:srgbClr val="0F4A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>
                  <a:solidFill>
                    <a:schemeClr val="bg1"/>
                  </a:solidFill>
                  <a:latin typeface="HelveticaInserat-Roman-SemiBold" pitchFamily="2" charset="0"/>
                  <a:cs typeface="Calibri" panose="020F0502020204030204" pitchFamily="34" charset="0"/>
                </a:rPr>
                <a:t>03</a:t>
              </a:r>
              <a:endParaRPr lang="zh-CN" altLang="en-US" sz="6000" dirty="0">
                <a:solidFill>
                  <a:schemeClr val="bg1"/>
                </a:solidFill>
                <a:latin typeface="HelveticaInserat-Roman-SemiBold" pitchFamily="2" charset="0"/>
                <a:cs typeface="Calibri" panose="020F050202020403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B0CFA08-D329-437E-AC62-F60F1346F188}"/>
                </a:ext>
              </a:extLst>
            </p:cNvPr>
            <p:cNvSpPr txBox="1"/>
            <p:nvPr/>
          </p:nvSpPr>
          <p:spPr>
            <a:xfrm>
              <a:off x="3079750" y="483552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用户研究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F46178-2407-4DA2-BB94-48E9FD0C61AE}"/>
                </a:ext>
              </a:extLst>
            </p:cNvPr>
            <p:cNvSpPr txBox="1"/>
            <p:nvPr/>
          </p:nvSpPr>
          <p:spPr>
            <a:xfrm>
              <a:off x="3079750" y="544512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User </a:t>
              </a:r>
              <a:r>
                <a:rPr lang="en-US" altLang="zh-CN" sz="1800" spc="1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 </a:t>
              </a:r>
              <a:endParaRPr lang="en-US" altLang="zh-CN" spc="12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endParaRPr>
            </a:p>
            <a:p>
              <a:r>
                <a:rPr lang="en-US" altLang="zh-CN" spc="12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Calibri"/>
                  <a:cs typeface="Calibri"/>
                </a:rPr>
                <a:t>Research</a:t>
              </a:r>
              <a:endParaRPr lang="zh-CN" altLang="en-US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1FFFB0-A1A4-4EEA-8556-A52BED8E07A5}"/>
                </a:ext>
              </a:extLst>
            </p:cNvPr>
            <p:cNvSpPr txBox="1"/>
            <p:nvPr/>
          </p:nvSpPr>
          <p:spPr>
            <a:xfrm>
              <a:off x="3079750" y="6359525"/>
              <a:ext cx="217712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用户特点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用户画像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痛点总结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需求转化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C63EE8E-E606-4651-A78D-A56C18463A4C}"/>
              </a:ext>
            </a:extLst>
          </p:cNvPr>
          <p:cNvGrpSpPr/>
          <p:nvPr/>
        </p:nvGrpSpPr>
        <p:grpSpPr>
          <a:xfrm>
            <a:off x="946150" y="3779260"/>
            <a:ext cx="2710981" cy="3702133"/>
            <a:chOff x="4984750" y="3972093"/>
            <a:chExt cx="2710981" cy="3702133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B82CE67-6611-40CA-BD23-ACFFDEDABFEE}"/>
                </a:ext>
              </a:extLst>
            </p:cNvPr>
            <p:cNvSpPr txBox="1"/>
            <p:nvPr/>
          </p:nvSpPr>
          <p:spPr>
            <a:xfrm>
              <a:off x="5046980" y="3972093"/>
              <a:ext cx="11578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01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46B6BC2-7CCB-44ED-913A-A48073B92DDF}"/>
                </a:ext>
              </a:extLst>
            </p:cNvPr>
            <p:cNvSpPr txBox="1"/>
            <p:nvPr/>
          </p:nvSpPr>
          <p:spPr>
            <a:xfrm>
              <a:off x="4984750" y="52268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项目概述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7010B0F-279D-47E3-9C70-99D979DF5AB0}"/>
                </a:ext>
              </a:extLst>
            </p:cNvPr>
            <p:cNvSpPr txBox="1"/>
            <p:nvPr/>
          </p:nvSpPr>
          <p:spPr>
            <a:xfrm>
              <a:off x="5060950" y="58364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z="1800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O</a:t>
              </a:r>
              <a:r>
                <a:rPr lang="en-US" altLang="zh-CN" sz="1800" spc="5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v</a:t>
              </a:r>
              <a:r>
                <a:rPr lang="en-US" altLang="zh-CN" sz="1800" spc="7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e</a:t>
              </a:r>
              <a:r>
                <a:rPr lang="en-US" altLang="zh-CN" sz="1800" spc="11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r</a:t>
              </a:r>
              <a:r>
                <a:rPr lang="en-US" altLang="zh-CN" sz="1800" spc="10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view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B9FB897-7F6E-4864-AEB9-1C9DF2AD5B7F}"/>
                </a:ext>
              </a:extLst>
            </p:cNvPr>
            <p:cNvSpPr txBox="1"/>
            <p:nvPr/>
          </p:nvSpPr>
          <p:spPr>
            <a:xfrm>
              <a:off x="5060950" y="6750896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项目目标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9C8D35A-6B27-471C-B123-87B4F28C6DCB}"/>
              </a:ext>
            </a:extLst>
          </p:cNvPr>
          <p:cNvGrpSpPr/>
          <p:nvPr/>
        </p:nvGrpSpPr>
        <p:grpSpPr>
          <a:xfrm>
            <a:off x="3111969" y="3779260"/>
            <a:ext cx="2710981" cy="4256131"/>
            <a:chOff x="7088506" y="3972093"/>
            <a:chExt cx="2710981" cy="4256131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3374549-1A4F-4811-AF71-71D8AE8B8023}"/>
                </a:ext>
              </a:extLst>
            </p:cNvPr>
            <p:cNvSpPr txBox="1"/>
            <p:nvPr/>
          </p:nvSpPr>
          <p:spPr>
            <a:xfrm>
              <a:off x="7150736" y="3972093"/>
              <a:ext cx="106679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02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00774AE-0B4E-4755-8F86-073732E520F2}"/>
                </a:ext>
              </a:extLst>
            </p:cNvPr>
            <p:cNvSpPr txBox="1"/>
            <p:nvPr/>
          </p:nvSpPr>
          <p:spPr>
            <a:xfrm>
              <a:off x="7088506" y="52268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3C2B19E-3DAD-4B2D-B1BF-830DD4E37FC9}"/>
                </a:ext>
              </a:extLst>
            </p:cNvPr>
            <p:cNvSpPr txBox="1"/>
            <p:nvPr/>
          </p:nvSpPr>
          <p:spPr>
            <a:xfrm>
              <a:off x="7164706" y="58364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Market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Analysis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BD06A57-64F2-4B9C-AD59-2A1C737B4C19}"/>
                </a:ext>
              </a:extLst>
            </p:cNvPr>
            <p:cNvSpPr txBox="1"/>
            <p:nvPr/>
          </p:nvSpPr>
          <p:spPr>
            <a:xfrm>
              <a:off x="7164706" y="6750896"/>
              <a:ext cx="2177123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竞品分析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四象限分析法总结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EA36B25-85D8-4B69-83B1-EAC251FC8938}"/>
              </a:ext>
            </a:extLst>
          </p:cNvPr>
          <p:cNvGrpSpPr/>
          <p:nvPr/>
        </p:nvGrpSpPr>
        <p:grpSpPr>
          <a:xfrm>
            <a:off x="9189722" y="3759959"/>
            <a:ext cx="2805430" cy="5364126"/>
            <a:chOff x="9189722" y="3759959"/>
            <a:chExt cx="2805430" cy="5364126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35748DA-B11F-4EC4-9C52-973769799FD7}"/>
                </a:ext>
              </a:extLst>
            </p:cNvPr>
            <p:cNvSpPr txBox="1"/>
            <p:nvPr/>
          </p:nvSpPr>
          <p:spPr>
            <a:xfrm>
              <a:off x="9251952" y="3759959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04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CB7F3FB-78DB-4598-96F3-F835286C2A91}"/>
                </a:ext>
              </a:extLst>
            </p:cNvPr>
            <p:cNvSpPr txBox="1"/>
            <p:nvPr/>
          </p:nvSpPr>
          <p:spPr>
            <a:xfrm>
              <a:off x="9189722" y="5014762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BDF46FE-025E-40D9-9223-33131E04915D}"/>
                </a:ext>
              </a:extLst>
            </p:cNvPr>
            <p:cNvSpPr txBox="1"/>
            <p:nvPr/>
          </p:nvSpPr>
          <p:spPr>
            <a:xfrm>
              <a:off x="9265922" y="5624362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Concept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Description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F998B33-DC67-4106-9473-1D1AD68F9B5F}"/>
                </a:ext>
              </a:extLst>
            </p:cNvPr>
            <p:cNvSpPr txBox="1"/>
            <p:nvPr/>
          </p:nvSpPr>
          <p:spPr>
            <a:xfrm>
              <a:off x="9265922" y="6538762"/>
              <a:ext cx="217712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设计架构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产品特点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营销模式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产品使用场景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5B318C1-2E33-44F2-A172-74930AD603A4}"/>
              </a:ext>
            </a:extLst>
          </p:cNvPr>
          <p:cNvGrpSpPr/>
          <p:nvPr/>
        </p:nvGrpSpPr>
        <p:grpSpPr>
          <a:xfrm>
            <a:off x="11156950" y="3759959"/>
            <a:ext cx="2771602" cy="3702133"/>
            <a:chOff x="11156950" y="3759959"/>
            <a:chExt cx="2771602" cy="3702133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6D442DF-0A7D-4FC1-AED7-95A386958BBB}"/>
                </a:ext>
              </a:extLst>
            </p:cNvPr>
            <p:cNvSpPr txBox="1"/>
            <p:nvPr/>
          </p:nvSpPr>
          <p:spPr>
            <a:xfrm>
              <a:off x="11156950" y="3759959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05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4E8BF10-65AA-4CAE-B7F3-915324D6BD1B}"/>
                </a:ext>
              </a:extLst>
            </p:cNvPr>
            <p:cNvSpPr txBox="1"/>
            <p:nvPr/>
          </p:nvSpPr>
          <p:spPr>
            <a:xfrm>
              <a:off x="11217571" y="5014762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9031D2F-6E44-4970-8976-490424FE5185}"/>
                </a:ext>
              </a:extLst>
            </p:cNvPr>
            <p:cNvSpPr txBox="1"/>
            <p:nvPr/>
          </p:nvSpPr>
          <p:spPr>
            <a:xfrm>
              <a:off x="11293771" y="5624362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S</a:t>
              </a:r>
              <a:r>
                <a:rPr lang="en-US" altLang="zh-CN" sz="1800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ummary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75C7689-225E-4533-BBB2-77BB2494676F}"/>
                </a:ext>
              </a:extLst>
            </p:cNvPr>
            <p:cNvSpPr txBox="1"/>
            <p:nvPr/>
          </p:nvSpPr>
          <p:spPr>
            <a:xfrm>
              <a:off x="11293771" y="6538762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价值主张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1862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2C5167AE-A5B6-4840-B27A-1D6970C425FA}"/>
              </a:ext>
            </a:extLst>
          </p:cNvPr>
          <p:cNvSpPr/>
          <p:nvPr/>
        </p:nvSpPr>
        <p:spPr>
          <a:xfrm>
            <a:off x="311343" y="695518"/>
            <a:ext cx="863407" cy="86340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150" y="720725"/>
            <a:ext cx="515366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5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cs typeface="Verdana"/>
              </a:rPr>
              <a:t>Contents</a:t>
            </a:r>
            <a:endParaRPr sz="7500" b="1" dirty="0">
              <a:solidFill>
                <a:schemeClr val="tx1">
                  <a:lumMod val="75000"/>
                  <a:lumOff val="25000"/>
                </a:schemeClr>
              </a:solidFill>
              <a:latin typeface="Verdana"/>
              <a:cs typeface="Verdana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6E27564-39FF-44B5-94BD-C99279AEBB52}"/>
              </a:ext>
            </a:extLst>
          </p:cNvPr>
          <p:cNvCxnSpPr>
            <a:cxnSpLocks/>
          </p:cNvCxnSpPr>
          <p:nvPr/>
        </p:nvCxnSpPr>
        <p:spPr>
          <a:xfrm>
            <a:off x="0" y="3499692"/>
            <a:ext cx="1321435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5F8CEDA-4245-4A70-BC27-ABD03DD58A8F}"/>
              </a:ext>
            </a:extLst>
          </p:cNvPr>
          <p:cNvCxnSpPr>
            <a:cxnSpLocks/>
          </p:cNvCxnSpPr>
          <p:nvPr/>
        </p:nvCxnSpPr>
        <p:spPr>
          <a:xfrm flipH="1">
            <a:off x="5718810" y="1304925"/>
            <a:ext cx="561340" cy="406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226CC92-F59F-4815-97FF-F7D349033F46}"/>
              </a:ext>
            </a:extLst>
          </p:cNvPr>
          <p:cNvSpPr txBox="1"/>
          <p:nvPr/>
        </p:nvSpPr>
        <p:spPr>
          <a:xfrm>
            <a:off x="6280150" y="13555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6B70BFD8-466E-4BBA-8CF1-D72C6B7B5343}"/>
              </a:ext>
            </a:extLst>
          </p:cNvPr>
          <p:cNvGrpSpPr/>
          <p:nvPr/>
        </p:nvGrpSpPr>
        <p:grpSpPr>
          <a:xfrm>
            <a:off x="7499350" y="3082925"/>
            <a:ext cx="3276600" cy="5791200"/>
            <a:chOff x="2851150" y="3275758"/>
            <a:chExt cx="3276600" cy="579120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8BCD249-89E7-4A16-AED9-151AAD523EBF}"/>
                </a:ext>
              </a:extLst>
            </p:cNvPr>
            <p:cNvSpPr/>
            <p:nvPr/>
          </p:nvSpPr>
          <p:spPr>
            <a:xfrm>
              <a:off x="2851150" y="3275758"/>
              <a:ext cx="3276600" cy="5791200"/>
            </a:xfrm>
            <a:prstGeom prst="rect">
              <a:avLst/>
            </a:prstGeom>
            <a:solidFill>
              <a:srgbClr val="0F4ABE"/>
            </a:solidFill>
            <a:ln>
              <a:noFill/>
            </a:ln>
            <a:effectLst>
              <a:outerShdw blurRad="355600" dist="1333500" dir="8100000" sx="86000" sy="86000" algn="t" rotWithShape="0">
                <a:srgbClr val="0F4ABE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D29A4B4-7E7B-401E-B670-F5FD104917FC}"/>
                </a:ext>
              </a:extLst>
            </p:cNvPr>
            <p:cNvSpPr/>
            <p:nvPr/>
          </p:nvSpPr>
          <p:spPr>
            <a:xfrm>
              <a:off x="2851150" y="3311525"/>
              <a:ext cx="1371600" cy="1524000"/>
            </a:xfrm>
            <a:prstGeom prst="ellipse">
              <a:avLst/>
            </a:prstGeom>
            <a:solidFill>
              <a:srgbClr val="0F4A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>
                  <a:solidFill>
                    <a:schemeClr val="bg1"/>
                  </a:solidFill>
                  <a:latin typeface="HelveticaInserat-Roman-SemiBold" pitchFamily="2" charset="0"/>
                  <a:cs typeface="Calibri" panose="020F0502020204030204" pitchFamily="34" charset="0"/>
                </a:rPr>
                <a:t>04</a:t>
              </a:r>
              <a:endParaRPr lang="zh-CN" altLang="en-US" sz="6000" dirty="0">
                <a:solidFill>
                  <a:schemeClr val="bg1"/>
                </a:solidFill>
                <a:latin typeface="HelveticaInserat-Roman-SemiBold" pitchFamily="2" charset="0"/>
                <a:cs typeface="Calibri" panose="020F050202020403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B0CFA08-D329-437E-AC62-F60F1346F188}"/>
                </a:ext>
              </a:extLst>
            </p:cNvPr>
            <p:cNvSpPr txBox="1"/>
            <p:nvPr/>
          </p:nvSpPr>
          <p:spPr>
            <a:xfrm>
              <a:off x="3079750" y="483552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F46178-2407-4DA2-BB94-48E9FD0C61AE}"/>
                </a:ext>
              </a:extLst>
            </p:cNvPr>
            <p:cNvSpPr txBox="1"/>
            <p:nvPr/>
          </p:nvSpPr>
          <p:spPr>
            <a:xfrm>
              <a:off x="3079750" y="544512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/>
                  </a:solidFill>
                  <a:latin typeface="Calibri"/>
                  <a:cs typeface="Calibri"/>
                </a:rPr>
                <a:t>Concept</a:t>
              </a:r>
            </a:p>
            <a:p>
              <a:r>
                <a:rPr lang="en-US" altLang="zh-CN" spc="95" dirty="0">
                  <a:solidFill>
                    <a:schemeClr val="bg1"/>
                  </a:solidFill>
                  <a:latin typeface="Calibri"/>
                  <a:cs typeface="Calibri"/>
                </a:rPr>
                <a:t>Description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1FFFB0-A1A4-4EEA-8556-A52BED8E07A5}"/>
                </a:ext>
              </a:extLst>
            </p:cNvPr>
            <p:cNvSpPr txBox="1"/>
            <p:nvPr/>
          </p:nvSpPr>
          <p:spPr>
            <a:xfrm>
              <a:off x="3079750" y="6359525"/>
              <a:ext cx="217712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设计架构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产品特点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营销模式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产品使用场景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C63EE8E-E606-4651-A78D-A56C18463A4C}"/>
              </a:ext>
            </a:extLst>
          </p:cNvPr>
          <p:cNvGrpSpPr/>
          <p:nvPr/>
        </p:nvGrpSpPr>
        <p:grpSpPr>
          <a:xfrm>
            <a:off x="946150" y="3779260"/>
            <a:ext cx="2710981" cy="3702133"/>
            <a:chOff x="4984750" y="3972093"/>
            <a:chExt cx="2710981" cy="3702133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B82CE67-6611-40CA-BD23-ACFFDEDABFEE}"/>
                </a:ext>
              </a:extLst>
            </p:cNvPr>
            <p:cNvSpPr txBox="1"/>
            <p:nvPr/>
          </p:nvSpPr>
          <p:spPr>
            <a:xfrm>
              <a:off x="5046980" y="3972093"/>
              <a:ext cx="11578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01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46B6BC2-7CCB-44ED-913A-A48073B92DDF}"/>
                </a:ext>
              </a:extLst>
            </p:cNvPr>
            <p:cNvSpPr txBox="1"/>
            <p:nvPr/>
          </p:nvSpPr>
          <p:spPr>
            <a:xfrm>
              <a:off x="4984750" y="52268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项目概述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7010B0F-279D-47E3-9C70-99D979DF5AB0}"/>
                </a:ext>
              </a:extLst>
            </p:cNvPr>
            <p:cNvSpPr txBox="1"/>
            <p:nvPr/>
          </p:nvSpPr>
          <p:spPr>
            <a:xfrm>
              <a:off x="5060950" y="58364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z="1800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O</a:t>
              </a:r>
              <a:r>
                <a:rPr lang="en-US" altLang="zh-CN" sz="1800" spc="5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v</a:t>
              </a:r>
              <a:r>
                <a:rPr lang="en-US" altLang="zh-CN" sz="1800" spc="7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e</a:t>
              </a:r>
              <a:r>
                <a:rPr lang="en-US" altLang="zh-CN" sz="1800" spc="11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r</a:t>
              </a:r>
              <a:r>
                <a:rPr lang="en-US" altLang="zh-CN" sz="1800" spc="10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view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B9FB897-7F6E-4864-AEB9-1C9DF2AD5B7F}"/>
                </a:ext>
              </a:extLst>
            </p:cNvPr>
            <p:cNvSpPr txBox="1"/>
            <p:nvPr/>
          </p:nvSpPr>
          <p:spPr>
            <a:xfrm>
              <a:off x="5060950" y="6750896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项目目标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9C8D35A-6B27-471C-B123-87B4F28C6DCB}"/>
              </a:ext>
            </a:extLst>
          </p:cNvPr>
          <p:cNvGrpSpPr/>
          <p:nvPr/>
        </p:nvGrpSpPr>
        <p:grpSpPr>
          <a:xfrm>
            <a:off x="3111969" y="3779260"/>
            <a:ext cx="2710981" cy="4256131"/>
            <a:chOff x="7088506" y="3972093"/>
            <a:chExt cx="2710981" cy="4256131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3374549-1A4F-4811-AF71-71D8AE8B8023}"/>
                </a:ext>
              </a:extLst>
            </p:cNvPr>
            <p:cNvSpPr txBox="1"/>
            <p:nvPr/>
          </p:nvSpPr>
          <p:spPr>
            <a:xfrm>
              <a:off x="7150736" y="3972093"/>
              <a:ext cx="106679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02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00774AE-0B4E-4755-8F86-073732E520F2}"/>
                </a:ext>
              </a:extLst>
            </p:cNvPr>
            <p:cNvSpPr txBox="1"/>
            <p:nvPr/>
          </p:nvSpPr>
          <p:spPr>
            <a:xfrm>
              <a:off x="7088506" y="52268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3C2B19E-3DAD-4B2D-B1BF-830DD4E37FC9}"/>
                </a:ext>
              </a:extLst>
            </p:cNvPr>
            <p:cNvSpPr txBox="1"/>
            <p:nvPr/>
          </p:nvSpPr>
          <p:spPr>
            <a:xfrm>
              <a:off x="7164706" y="58364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Market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Analysis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BD06A57-64F2-4B9C-AD59-2A1C737B4C19}"/>
                </a:ext>
              </a:extLst>
            </p:cNvPr>
            <p:cNvSpPr txBox="1"/>
            <p:nvPr/>
          </p:nvSpPr>
          <p:spPr>
            <a:xfrm>
              <a:off x="7164706" y="6750896"/>
              <a:ext cx="2177123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竞品分析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四象限分析法总结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49FADA-E074-4138-90DE-BAFBF9028343}"/>
              </a:ext>
            </a:extLst>
          </p:cNvPr>
          <p:cNvGrpSpPr/>
          <p:nvPr/>
        </p:nvGrpSpPr>
        <p:grpSpPr>
          <a:xfrm>
            <a:off x="5227320" y="3759959"/>
            <a:ext cx="2805430" cy="4810128"/>
            <a:chOff x="9189722" y="3921125"/>
            <a:chExt cx="2805430" cy="4810128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35748DA-B11F-4EC4-9C52-973769799FD7}"/>
                </a:ext>
              </a:extLst>
            </p:cNvPr>
            <p:cNvSpPr txBox="1"/>
            <p:nvPr/>
          </p:nvSpPr>
          <p:spPr>
            <a:xfrm>
              <a:off x="9251952" y="3921125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03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CB7F3FB-78DB-4598-96F3-F835286C2A91}"/>
                </a:ext>
              </a:extLst>
            </p:cNvPr>
            <p:cNvSpPr txBox="1"/>
            <p:nvPr/>
          </p:nvSpPr>
          <p:spPr>
            <a:xfrm>
              <a:off x="9189722" y="5175928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用户研究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BDF46FE-025E-40D9-9223-33131E04915D}"/>
                </a:ext>
              </a:extLst>
            </p:cNvPr>
            <p:cNvSpPr txBox="1"/>
            <p:nvPr/>
          </p:nvSpPr>
          <p:spPr>
            <a:xfrm>
              <a:off x="9265922" y="5785528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User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Research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F998B33-DC67-4106-9473-1D1AD68F9B5F}"/>
                </a:ext>
              </a:extLst>
            </p:cNvPr>
            <p:cNvSpPr txBox="1"/>
            <p:nvPr/>
          </p:nvSpPr>
          <p:spPr>
            <a:xfrm>
              <a:off x="9265922" y="6699928"/>
              <a:ext cx="217712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用户特点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用户画像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痛点总结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需求转化</a:t>
              </a:r>
            </a:p>
          </p:txBody>
        </p: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36D442DF-0A7D-4FC1-AED7-95A386958BBB}"/>
              </a:ext>
            </a:extLst>
          </p:cNvPr>
          <p:cNvSpPr txBox="1"/>
          <p:nvPr/>
        </p:nvSpPr>
        <p:spPr>
          <a:xfrm>
            <a:off x="11156950" y="3759959"/>
            <a:ext cx="274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rPr>
              <a:t>05</a:t>
            </a:r>
            <a:endParaRPr lang="zh-CN" altLang="en-US" sz="6000" b="1" dirty="0">
              <a:solidFill>
                <a:schemeClr val="bg1">
                  <a:lumMod val="50000"/>
                </a:schemeClr>
              </a:solidFill>
              <a:latin typeface="HelveticaInserat-Roman-SemiBold" pitchFamily="2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4E8BF10-65AA-4CAE-B7F3-915324D6BD1B}"/>
              </a:ext>
            </a:extLst>
          </p:cNvPr>
          <p:cNvSpPr txBox="1"/>
          <p:nvPr/>
        </p:nvSpPr>
        <p:spPr>
          <a:xfrm>
            <a:off x="11217571" y="5014762"/>
            <a:ext cx="2710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项目总结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9031D2F-6E44-4970-8976-490424FE5185}"/>
              </a:ext>
            </a:extLst>
          </p:cNvPr>
          <p:cNvSpPr txBox="1"/>
          <p:nvPr/>
        </p:nvSpPr>
        <p:spPr>
          <a:xfrm>
            <a:off x="11293771" y="5624362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spc="95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Project </a:t>
            </a:r>
            <a:r>
              <a:rPr lang="en-US" altLang="zh-CN" sz="1800" spc="1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altLang="zh-CN" spc="12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S</a:t>
            </a:r>
            <a:r>
              <a:rPr lang="en-US" altLang="zh-CN" sz="1800" spc="12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ummary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75C7689-225E-4533-BBB2-77BB2494676F}"/>
              </a:ext>
            </a:extLst>
          </p:cNvPr>
          <p:cNvSpPr txBox="1"/>
          <p:nvPr/>
        </p:nvSpPr>
        <p:spPr>
          <a:xfrm>
            <a:off x="11293771" y="6538762"/>
            <a:ext cx="2177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价值主张</a:t>
            </a:r>
            <a:endParaRPr lang="en-US" altLang="zh-CN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项目总结</a:t>
            </a:r>
          </a:p>
        </p:txBody>
      </p:sp>
    </p:spTree>
    <p:extLst>
      <p:ext uri="{BB962C8B-B14F-4D97-AF65-F5344CB8AC3E}">
        <p14:creationId xmlns:p14="http://schemas.microsoft.com/office/powerpoint/2010/main" val="831272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>
            <a:extLst>
              <a:ext uri="{FF2B5EF4-FFF2-40B4-BE49-F238E27FC236}">
                <a16:creationId xmlns:a16="http://schemas.microsoft.com/office/drawing/2014/main" id="{2C5167AE-A5B6-4840-B27A-1D6970C425FA}"/>
              </a:ext>
            </a:extLst>
          </p:cNvPr>
          <p:cNvSpPr/>
          <p:nvPr/>
        </p:nvSpPr>
        <p:spPr>
          <a:xfrm>
            <a:off x="311343" y="695518"/>
            <a:ext cx="863407" cy="863407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5150" y="720725"/>
            <a:ext cx="515366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5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/>
                <a:cs typeface="Verdana"/>
              </a:rPr>
              <a:t>Contents</a:t>
            </a:r>
            <a:endParaRPr sz="7500" b="1" dirty="0">
              <a:solidFill>
                <a:schemeClr val="tx1">
                  <a:lumMod val="75000"/>
                  <a:lumOff val="25000"/>
                </a:schemeClr>
              </a:solidFill>
              <a:latin typeface="Verdana"/>
              <a:cs typeface="Verdana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6E27564-39FF-44B5-94BD-C99279AEBB52}"/>
              </a:ext>
            </a:extLst>
          </p:cNvPr>
          <p:cNvCxnSpPr>
            <a:cxnSpLocks/>
          </p:cNvCxnSpPr>
          <p:nvPr/>
        </p:nvCxnSpPr>
        <p:spPr>
          <a:xfrm>
            <a:off x="0" y="3499692"/>
            <a:ext cx="1321435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5F8CEDA-4245-4A70-BC27-ABD03DD58A8F}"/>
              </a:ext>
            </a:extLst>
          </p:cNvPr>
          <p:cNvCxnSpPr>
            <a:cxnSpLocks/>
          </p:cNvCxnSpPr>
          <p:nvPr/>
        </p:nvCxnSpPr>
        <p:spPr>
          <a:xfrm flipH="1">
            <a:off x="5718810" y="1304925"/>
            <a:ext cx="561340" cy="4064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226CC92-F59F-4815-97FF-F7D349033F46}"/>
              </a:ext>
            </a:extLst>
          </p:cNvPr>
          <p:cNvSpPr txBox="1"/>
          <p:nvPr/>
        </p:nvSpPr>
        <p:spPr>
          <a:xfrm>
            <a:off x="6280150" y="13555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A18061D-4D39-4888-8E19-08C92CAB5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1444" y="5687919"/>
            <a:ext cx="1352739" cy="1343212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62EF5DD-3537-493E-82A6-B4107D17A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19281" y="2589954"/>
            <a:ext cx="2076740" cy="2829320"/>
          </a:xfrm>
          <a:prstGeom prst="rect">
            <a:avLst/>
          </a:prstGeom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6B70BFD8-466E-4BBA-8CF1-D72C6B7B5343}"/>
              </a:ext>
            </a:extLst>
          </p:cNvPr>
          <p:cNvGrpSpPr/>
          <p:nvPr/>
        </p:nvGrpSpPr>
        <p:grpSpPr>
          <a:xfrm>
            <a:off x="9937750" y="3082925"/>
            <a:ext cx="3276600" cy="5598367"/>
            <a:chOff x="2851150" y="3275758"/>
            <a:chExt cx="3276600" cy="5598367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8BCD249-89E7-4A16-AED9-151AAD523EBF}"/>
                </a:ext>
              </a:extLst>
            </p:cNvPr>
            <p:cNvSpPr/>
            <p:nvPr/>
          </p:nvSpPr>
          <p:spPr>
            <a:xfrm>
              <a:off x="2851150" y="3275758"/>
              <a:ext cx="3276600" cy="5598367"/>
            </a:xfrm>
            <a:prstGeom prst="rect">
              <a:avLst/>
            </a:prstGeom>
            <a:solidFill>
              <a:srgbClr val="0F4ABE"/>
            </a:solidFill>
            <a:ln>
              <a:noFill/>
            </a:ln>
            <a:effectLst>
              <a:outerShdw blurRad="355600" dist="1333500" dir="8100000" sx="86000" sy="86000" algn="t" rotWithShape="0">
                <a:srgbClr val="0F4ABE">
                  <a:alpha val="24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D29A4B4-7E7B-401E-B670-F5FD104917FC}"/>
                </a:ext>
              </a:extLst>
            </p:cNvPr>
            <p:cNvSpPr/>
            <p:nvPr/>
          </p:nvSpPr>
          <p:spPr>
            <a:xfrm>
              <a:off x="2851150" y="3311525"/>
              <a:ext cx="1371600" cy="1524000"/>
            </a:xfrm>
            <a:prstGeom prst="ellipse">
              <a:avLst/>
            </a:prstGeom>
            <a:solidFill>
              <a:srgbClr val="0F4A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dirty="0">
                  <a:solidFill>
                    <a:schemeClr val="bg1"/>
                  </a:solidFill>
                  <a:latin typeface="HelveticaInserat-Roman-SemiBold" pitchFamily="2" charset="0"/>
                  <a:cs typeface="Calibri" panose="020F0502020204030204" pitchFamily="34" charset="0"/>
                </a:rPr>
                <a:t>05</a:t>
              </a:r>
              <a:endParaRPr lang="zh-CN" altLang="en-US" sz="6000" dirty="0">
                <a:solidFill>
                  <a:schemeClr val="bg1"/>
                </a:solidFill>
                <a:latin typeface="HelveticaInserat-Roman-SemiBold" pitchFamily="2" charset="0"/>
                <a:cs typeface="Calibri" panose="020F0502020204030204" pitchFamily="34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B0CFA08-D329-437E-AC62-F60F1346F188}"/>
                </a:ext>
              </a:extLst>
            </p:cNvPr>
            <p:cNvSpPr txBox="1"/>
            <p:nvPr/>
          </p:nvSpPr>
          <p:spPr>
            <a:xfrm>
              <a:off x="3079750" y="483552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2F46178-2407-4DA2-BB94-48E9FD0C61AE}"/>
                </a:ext>
              </a:extLst>
            </p:cNvPr>
            <p:cNvSpPr txBox="1"/>
            <p:nvPr/>
          </p:nvSpPr>
          <p:spPr>
            <a:xfrm>
              <a:off x="3079750" y="544512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/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altLang="zh-CN" spc="120" dirty="0">
                  <a:solidFill>
                    <a:schemeClr val="bg1"/>
                  </a:solidFill>
                  <a:latin typeface="Calibri"/>
                  <a:cs typeface="Calibri"/>
                </a:rPr>
                <a:t>S</a:t>
              </a:r>
              <a:r>
                <a:rPr lang="en-US" altLang="zh-CN" sz="1800" spc="120" dirty="0">
                  <a:solidFill>
                    <a:schemeClr val="bg1"/>
                  </a:solidFill>
                  <a:latin typeface="Calibri"/>
                  <a:cs typeface="Calibri"/>
                </a:rPr>
                <a:t>ummary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B1FFFB0-A1A4-4EEA-8556-A52BED8E07A5}"/>
                </a:ext>
              </a:extLst>
            </p:cNvPr>
            <p:cNvSpPr txBox="1"/>
            <p:nvPr/>
          </p:nvSpPr>
          <p:spPr>
            <a:xfrm>
              <a:off x="3079750" y="6359525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价值主张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C63EE8E-E606-4651-A78D-A56C18463A4C}"/>
              </a:ext>
            </a:extLst>
          </p:cNvPr>
          <p:cNvGrpSpPr/>
          <p:nvPr/>
        </p:nvGrpSpPr>
        <p:grpSpPr>
          <a:xfrm>
            <a:off x="946150" y="3779260"/>
            <a:ext cx="2710981" cy="3702133"/>
            <a:chOff x="4984750" y="3972093"/>
            <a:chExt cx="2710981" cy="3702133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B82CE67-6611-40CA-BD23-ACFFDEDABFEE}"/>
                </a:ext>
              </a:extLst>
            </p:cNvPr>
            <p:cNvSpPr txBox="1"/>
            <p:nvPr/>
          </p:nvSpPr>
          <p:spPr>
            <a:xfrm>
              <a:off x="5046980" y="3972093"/>
              <a:ext cx="11578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01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E46B6BC2-7CCB-44ED-913A-A48073B92DDF}"/>
                </a:ext>
              </a:extLst>
            </p:cNvPr>
            <p:cNvSpPr txBox="1"/>
            <p:nvPr/>
          </p:nvSpPr>
          <p:spPr>
            <a:xfrm>
              <a:off x="4984750" y="52268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项目概述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C7010B0F-279D-47E3-9C70-99D979DF5AB0}"/>
                </a:ext>
              </a:extLst>
            </p:cNvPr>
            <p:cNvSpPr txBox="1"/>
            <p:nvPr/>
          </p:nvSpPr>
          <p:spPr>
            <a:xfrm>
              <a:off x="5060950" y="58364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Project </a:t>
              </a:r>
              <a:r>
                <a:rPr lang="en-US" altLang="zh-CN" sz="1800" spc="10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 </a:t>
              </a:r>
              <a:r>
                <a:rPr lang="en-US" altLang="zh-CN" sz="1800" spc="12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O</a:t>
              </a:r>
              <a:r>
                <a:rPr lang="en-US" altLang="zh-CN" sz="1800" spc="5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v</a:t>
              </a:r>
              <a:r>
                <a:rPr lang="en-US" altLang="zh-CN" sz="1800" spc="7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e</a:t>
              </a:r>
              <a:r>
                <a:rPr lang="en-US" altLang="zh-CN" sz="1800" spc="110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r</a:t>
              </a:r>
              <a:r>
                <a:rPr lang="en-US" altLang="zh-CN" sz="1800" spc="10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view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B9FB897-7F6E-4864-AEB9-1C9DF2AD5B7F}"/>
                </a:ext>
              </a:extLst>
            </p:cNvPr>
            <p:cNvSpPr txBox="1"/>
            <p:nvPr/>
          </p:nvSpPr>
          <p:spPr>
            <a:xfrm>
              <a:off x="5060950" y="6750896"/>
              <a:ext cx="21771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项目背景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项目目标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9C8D35A-6B27-471C-B123-87B4F28C6DCB}"/>
              </a:ext>
            </a:extLst>
          </p:cNvPr>
          <p:cNvGrpSpPr/>
          <p:nvPr/>
        </p:nvGrpSpPr>
        <p:grpSpPr>
          <a:xfrm>
            <a:off x="3111969" y="3779260"/>
            <a:ext cx="2710981" cy="4256131"/>
            <a:chOff x="7088506" y="3972093"/>
            <a:chExt cx="2710981" cy="4256131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3374549-1A4F-4811-AF71-71D8AE8B8023}"/>
                </a:ext>
              </a:extLst>
            </p:cNvPr>
            <p:cNvSpPr txBox="1"/>
            <p:nvPr/>
          </p:nvSpPr>
          <p:spPr>
            <a:xfrm>
              <a:off x="7150736" y="3972093"/>
              <a:ext cx="106679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02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00774AE-0B4E-4755-8F86-073732E520F2}"/>
                </a:ext>
              </a:extLst>
            </p:cNvPr>
            <p:cNvSpPr txBox="1"/>
            <p:nvPr/>
          </p:nvSpPr>
          <p:spPr>
            <a:xfrm>
              <a:off x="7088506" y="5226896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3C2B19E-3DAD-4B2D-B1BF-830DD4E37FC9}"/>
                </a:ext>
              </a:extLst>
            </p:cNvPr>
            <p:cNvSpPr txBox="1"/>
            <p:nvPr/>
          </p:nvSpPr>
          <p:spPr>
            <a:xfrm>
              <a:off x="7164706" y="5836496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Market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Analysis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BD06A57-64F2-4B9C-AD59-2A1C737B4C19}"/>
                </a:ext>
              </a:extLst>
            </p:cNvPr>
            <p:cNvSpPr txBox="1"/>
            <p:nvPr/>
          </p:nvSpPr>
          <p:spPr>
            <a:xfrm>
              <a:off x="7164706" y="6750896"/>
              <a:ext cx="2177123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市场分析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竞品分析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四象限分析法总结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49FADA-E074-4138-90DE-BAFBF9028343}"/>
              </a:ext>
            </a:extLst>
          </p:cNvPr>
          <p:cNvGrpSpPr/>
          <p:nvPr/>
        </p:nvGrpSpPr>
        <p:grpSpPr>
          <a:xfrm>
            <a:off x="5227320" y="3759959"/>
            <a:ext cx="2805430" cy="4810128"/>
            <a:chOff x="9189722" y="3921125"/>
            <a:chExt cx="2805430" cy="4810128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35748DA-B11F-4EC4-9C52-973769799FD7}"/>
                </a:ext>
              </a:extLst>
            </p:cNvPr>
            <p:cNvSpPr txBox="1"/>
            <p:nvPr/>
          </p:nvSpPr>
          <p:spPr>
            <a:xfrm>
              <a:off x="9251952" y="3921125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03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CB7F3FB-78DB-4598-96F3-F835286C2A91}"/>
                </a:ext>
              </a:extLst>
            </p:cNvPr>
            <p:cNvSpPr txBox="1"/>
            <p:nvPr/>
          </p:nvSpPr>
          <p:spPr>
            <a:xfrm>
              <a:off x="9189722" y="5175928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用户研究</a:t>
              </a: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BDF46FE-025E-40D9-9223-33131E04915D}"/>
                </a:ext>
              </a:extLst>
            </p:cNvPr>
            <p:cNvSpPr txBox="1"/>
            <p:nvPr/>
          </p:nvSpPr>
          <p:spPr>
            <a:xfrm>
              <a:off x="9265922" y="5785528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User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Research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CF998B33-DC67-4106-9473-1D1AD68F9B5F}"/>
                </a:ext>
              </a:extLst>
            </p:cNvPr>
            <p:cNvSpPr txBox="1"/>
            <p:nvPr/>
          </p:nvSpPr>
          <p:spPr>
            <a:xfrm>
              <a:off x="9265922" y="6699928"/>
              <a:ext cx="2177123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用户特点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用户画像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痛点总结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需求转化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EDB90B6-398B-4C09-8FA4-9FC9353B2B6C}"/>
              </a:ext>
            </a:extLst>
          </p:cNvPr>
          <p:cNvGrpSpPr/>
          <p:nvPr/>
        </p:nvGrpSpPr>
        <p:grpSpPr>
          <a:xfrm>
            <a:off x="7346950" y="3759959"/>
            <a:ext cx="2743200" cy="5364126"/>
            <a:chOff x="11217571" y="3952792"/>
            <a:chExt cx="2743200" cy="5364126"/>
          </a:xfrm>
        </p:grpSpPr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6D442DF-0A7D-4FC1-AED7-95A386958BBB}"/>
                </a:ext>
              </a:extLst>
            </p:cNvPr>
            <p:cNvSpPr txBox="1"/>
            <p:nvPr/>
          </p:nvSpPr>
          <p:spPr>
            <a:xfrm>
              <a:off x="11217571" y="3952792"/>
              <a:ext cx="27432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b="1" dirty="0">
                  <a:solidFill>
                    <a:schemeClr val="bg1">
                      <a:lumMod val="50000"/>
                    </a:schemeClr>
                  </a:solidFill>
                  <a:latin typeface="HelveticaInserat-Roman-SemiBold" pitchFamily="2" charset="0"/>
                </a:rPr>
                <a:t>04</a:t>
              </a:r>
              <a:endParaRPr lang="zh-CN" altLang="en-US" sz="6000" b="1" dirty="0">
                <a:solidFill>
                  <a:schemeClr val="bg1">
                    <a:lumMod val="50000"/>
                  </a:schemeClr>
                </a:solidFill>
                <a:latin typeface="HelveticaInserat-Roman-SemiBold" pitchFamily="2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E4E8BF10-65AA-4CAE-B7F3-915324D6BD1B}"/>
                </a:ext>
              </a:extLst>
            </p:cNvPr>
            <p:cNvSpPr txBox="1"/>
            <p:nvPr/>
          </p:nvSpPr>
          <p:spPr>
            <a:xfrm>
              <a:off x="11217571" y="5207595"/>
              <a:ext cx="27109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D9031D2F-6E44-4970-8976-490424FE5185}"/>
                </a:ext>
              </a:extLst>
            </p:cNvPr>
            <p:cNvSpPr txBox="1"/>
            <p:nvPr/>
          </p:nvSpPr>
          <p:spPr>
            <a:xfrm>
              <a:off x="11293771" y="581719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Concept</a:t>
              </a:r>
            </a:p>
            <a:p>
              <a:r>
                <a:rPr lang="en-US" altLang="zh-CN" spc="95" dirty="0">
                  <a:solidFill>
                    <a:schemeClr val="bg1">
                      <a:lumMod val="50000"/>
                    </a:schemeClr>
                  </a:solidFill>
                  <a:latin typeface="Calibri"/>
                  <a:cs typeface="Calibri"/>
                </a:rPr>
                <a:t>Description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375C7689-225E-4533-BBB2-77BB2494676F}"/>
                </a:ext>
              </a:extLst>
            </p:cNvPr>
            <p:cNvSpPr txBox="1"/>
            <p:nvPr/>
          </p:nvSpPr>
          <p:spPr>
            <a:xfrm>
              <a:off x="11293771" y="6731595"/>
              <a:ext cx="217712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概念描述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设计架构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产品特点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营销模式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产品使用场景</a:t>
              </a:r>
              <a:endParaRPr lang="en-US" altLang="zh-CN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5207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7550" y="472023"/>
            <a:ext cx="532014" cy="532014"/>
          </a:xfrm>
          <a:custGeom>
            <a:avLst/>
            <a:gdLst/>
            <a:ahLst/>
            <a:cxnLst/>
            <a:rect l="l" t="t" r="r" b="b"/>
            <a:pathLst>
              <a:path w="631825" h="631825">
                <a:moveTo>
                  <a:pt x="337674" y="0"/>
                </a:moveTo>
                <a:lnTo>
                  <a:pt x="293539" y="0"/>
                </a:lnTo>
                <a:lnTo>
                  <a:pt x="249751" y="6126"/>
                </a:lnTo>
                <a:lnTo>
                  <a:pt x="207001" y="18380"/>
                </a:lnTo>
                <a:lnTo>
                  <a:pt x="165982" y="36761"/>
                </a:lnTo>
                <a:lnTo>
                  <a:pt x="127385" y="61268"/>
                </a:lnTo>
                <a:lnTo>
                  <a:pt x="91902" y="91902"/>
                </a:lnTo>
                <a:lnTo>
                  <a:pt x="61268" y="127385"/>
                </a:lnTo>
                <a:lnTo>
                  <a:pt x="36761" y="165982"/>
                </a:lnTo>
                <a:lnTo>
                  <a:pt x="18380" y="207001"/>
                </a:lnTo>
                <a:lnTo>
                  <a:pt x="6126" y="249751"/>
                </a:lnTo>
                <a:lnTo>
                  <a:pt x="0" y="293539"/>
                </a:lnTo>
                <a:lnTo>
                  <a:pt x="0" y="337674"/>
                </a:lnTo>
                <a:lnTo>
                  <a:pt x="6126" y="381462"/>
                </a:lnTo>
                <a:lnTo>
                  <a:pt x="18380" y="424212"/>
                </a:lnTo>
                <a:lnTo>
                  <a:pt x="36761" y="465231"/>
                </a:lnTo>
                <a:lnTo>
                  <a:pt x="61268" y="503828"/>
                </a:lnTo>
                <a:lnTo>
                  <a:pt x="91902" y="539311"/>
                </a:lnTo>
                <a:lnTo>
                  <a:pt x="127385" y="569942"/>
                </a:lnTo>
                <a:lnTo>
                  <a:pt x="165982" y="594447"/>
                </a:lnTo>
                <a:lnTo>
                  <a:pt x="207001" y="612825"/>
                </a:lnTo>
                <a:lnTo>
                  <a:pt x="249751" y="625078"/>
                </a:lnTo>
                <a:lnTo>
                  <a:pt x="293539" y="631204"/>
                </a:lnTo>
                <a:lnTo>
                  <a:pt x="337674" y="631204"/>
                </a:lnTo>
                <a:lnTo>
                  <a:pt x="381462" y="625078"/>
                </a:lnTo>
                <a:lnTo>
                  <a:pt x="424212" y="612825"/>
                </a:lnTo>
                <a:lnTo>
                  <a:pt x="465231" y="594447"/>
                </a:lnTo>
                <a:lnTo>
                  <a:pt x="503828" y="569942"/>
                </a:lnTo>
                <a:lnTo>
                  <a:pt x="539311" y="539311"/>
                </a:lnTo>
                <a:lnTo>
                  <a:pt x="569942" y="503828"/>
                </a:lnTo>
                <a:lnTo>
                  <a:pt x="594447" y="465231"/>
                </a:lnTo>
                <a:lnTo>
                  <a:pt x="612825" y="424212"/>
                </a:lnTo>
                <a:lnTo>
                  <a:pt x="625078" y="381462"/>
                </a:lnTo>
                <a:lnTo>
                  <a:pt x="631204" y="337674"/>
                </a:lnTo>
                <a:lnTo>
                  <a:pt x="631204" y="293539"/>
                </a:lnTo>
                <a:lnTo>
                  <a:pt x="625078" y="249751"/>
                </a:lnTo>
                <a:lnTo>
                  <a:pt x="612825" y="207001"/>
                </a:lnTo>
                <a:lnTo>
                  <a:pt x="594447" y="165982"/>
                </a:lnTo>
                <a:lnTo>
                  <a:pt x="569942" y="127385"/>
                </a:lnTo>
                <a:lnTo>
                  <a:pt x="539311" y="91902"/>
                </a:lnTo>
                <a:lnTo>
                  <a:pt x="503828" y="61268"/>
                </a:lnTo>
                <a:lnTo>
                  <a:pt x="465231" y="36761"/>
                </a:lnTo>
                <a:lnTo>
                  <a:pt x="424212" y="18380"/>
                </a:lnTo>
                <a:lnTo>
                  <a:pt x="381462" y="6126"/>
                </a:lnTo>
                <a:lnTo>
                  <a:pt x="337674" y="0"/>
                </a:lnTo>
                <a:close/>
              </a:path>
            </a:pathLst>
          </a:custGeom>
          <a:solidFill>
            <a:srgbClr val="0F4ABE">
              <a:alpha val="6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689" y="683435"/>
            <a:ext cx="1803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/>
              <a:t>项目背景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2689" y="1147480"/>
            <a:ext cx="216789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0" dirty="0">
                <a:solidFill>
                  <a:srgbClr val="898989"/>
                </a:solidFill>
                <a:latin typeface="Calibri"/>
                <a:cs typeface="Calibri"/>
              </a:rPr>
              <a:t>Project</a:t>
            </a:r>
            <a:r>
              <a:rPr sz="1600" spc="-9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sz="1600" spc="65" dirty="0">
                <a:solidFill>
                  <a:srgbClr val="898989"/>
                </a:solidFill>
                <a:latin typeface="Calibri"/>
                <a:cs typeface="Calibri"/>
              </a:rPr>
              <a:t>background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E3E704-8351-4E15-A892-813D7C7C313B}"/>
              </a:ext>
            </a:extLst>
          </p:cNvPr>
          <p:cNvSpPr txBox="1"/>
          <p:nvPr/>
        </p:nvSpPr>
        <p:spPr>
          <a:xfrm>
            <a:off x="9785350" y="796925"/>
            <a:ext cx="3419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儿童玩具有何趋势？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智能玩具或成最佳选择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79A11E9-1E4C-403F-9C30-A46C3F0C1D69}"/>
              </a:ext>
            </a:extLst>
          </p:cNvPr>
          <p:cNvGrpSpPr/>
          <p:nvPr/>
        </p:nvGrpSpPr>
        <p:grpSpPr>
          <a:xfrm>
            <a:off x="1019061" y="6329080"/>
            <a:ext cx="6480289" cy="1776602"/>
            <a:chOff x="5932203" y="1173969"/>
            <a:chExt cx="7276812" cy="1886220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1266C4D-3E7C-4437-A8AC-9FD72BBDCF67}"/>
                </a:ext>
              </a:extLst>
            </p:cNvPr>
            <p:cNvSpPr/>
            <p:nvPr/>
          </p:nvSpPr>
          <p:spPr>
            <a:xfrm rot="4038525">
              <a:off x="12632110" y="1173969"/>
              <a:ext cx="576905" cy="57690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F4ABE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AC95D9D-1EDE-467A-A543-55F04FDE2E2D}"/>
                </a:ext>
              </a:extLst>
            </p:cNvPr>
            <p:cNvSpPr txBox="1"/>
            <p:nvPr/>
          </p:nvSpPr>
          <p:spPr>
            <a:xfrm>
              <a:off x="5932203" y="1785799"/>
              <a:ext cx="7108240" cy="12743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我们针对</a:t>
              </a:r>
              <a:r>
                <a:rPr lang="en-US" altLang="zh-CN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0-1</a:t>
              </a:r>
              <a:r>
                <a:rPr lang="zh-CN" altLang="en-US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岁婴儿的感官发育，设计</a:t>
              </a: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了</a:t>
              </a:r>
              <a:r>
                <a:rPr lang="zh-CN" altLang="en-US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一款寓教于乐的智能玩具。这款玩具将以婴儿的感知发育为核心，通过丰富的自然感官交互来</a:t>
              </a:r>
              <a:r>
                <a:rPr lang="zh-CN" altLang="en-US" b="1" i="0" dirty="0">
                  <a:solidFill>
                    <a:srgbClr val="0F4ABE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帮助他们健康成长</a:t>
              </a:r>
              <a:r>
                <a:rPr lang="zh-CN" altLang="en-US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，同时也为父母</a:t>
              </a:r>
              <a:r>
                <a:rPr lang="zh-CN" altLang="en-US" b="1" i="0" dirty="0">
                  <a:solidFill>
                    <a:srgbClr val="0F4ABE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提供一个科学有效的工具</a:t>
              </a:r>
              <a:r>
                <a:rPr lang="zh-CN" altLang="en-US" b="0" i="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，帮助他们记录和关注孩子的成长过程。</a:t>
              </a:r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8349D55-7B33-41A8-8F41-F9D880DD8520}"/>
                </a:ext>
              </a:extLst>
            </p:cNvPr>
            <p:cNvSpPr txBox="1"/>
            <p:nvPr/>
          </p:nvSpPr>
          <p:spPr>
            <a:xfrm>
              <a:off x="8443137" y="1354841"/>
              <a:ext cx="4597306" cy="424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2000" b="1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0-1</a:t>
              </a:r>
              <a:r>
                <a:rPr lang="zh-CN" altLang="en-US" sz="2000" b="1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岁为感官发育最佳时期</a:t>
              </a:r>
              <a:endParaRPr lang="zh-CN" altLang="en-US" sz="2000" b="1" dirty="0"/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19AD2B71-9230-4C44-8961-1B1D6E6A0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91" y="3463925"/>
            <a:ext cx="6465827" cy="212612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DFA9E99B-26F0-430E-A712-98B59DD2DCE8}"/>
              </a:ext>
            </a:extLst>
          </p:cNvPr>
          <p:cNvGrpSpPr/>
          <p:nvPr/>
        </p:nvGrpSpPr>
        <p:grpSpPr>
          <a:xfrm>
            <a:off x="728723" y="1792141"/>
            <a:ext cx="7206083" cy="1366984"/>
            <a:chOff x="6104063" y="5898938"/>
            <a:chExt cx="6653087" cy="1366984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7A89F810-85DA-4437-BEBB-1F9AB23CCF20}"/>
                </a:ext>
              </a:extLst>
            </p:cNvPr>
            <p:cNvSpPr/>
            <p:nvPr/>
          </p:nvSpPr>
          <p:spPr>
            <a:xfrm rot="4038525">
              <a:off x="6148849" y="5898938"/>
              <a:ext cx="576905" cy="57690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F4ABE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D521115-1B52-41E3-9052-6BE604346CD8}"/>
                </a:ext>
              </a:extLst>
            </p:cNvPr>
            <p:cNvSpPr txBox="1"/>
            <p:nvPr/>
          </p:nvSpPr>
          <p:spPr>
            <a:xfrm>
              <a:off x="6104063" y="6187390"/>
              <a:ext cx="665308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i="0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“智能陪伴”成为玩具行业“新命题”</a:t>
              </a:r>
              <a:endParaRPr lang="en-US" altLang="zh-CN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89EAAF3-F2F4-42E2-A446-8C31C31C9ED6}"/>
                </a:ext>
              </a:extLst>
            </p:cNvPr>
            <p:cNvSpPr txBox="1"/>
            <p:nvPr/>
          </p:nvSpPr>
          <p:spPr>
            <a:xfrm>
              <a:off x="6385473" y="6619591"/>
              <a:ext cx="596963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zh-CN" sz="1800" kern="1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随着技术的进步，智能玩具不仅仅是提供娱乐，更是促进儿童身心发展的工具。</a:t>
              </a:r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B228BFB1-4C9B-49D9-B237-8A28BB3BC2F9}"/>
              </a:ext>
            </a:extLst>
          </p:cNvPr>
          <p:cNvSpPr txBox="1"/>
          <p:nvPr/>
        </p:nvSpPr>
        <p:spPr>
          <a:xfrm>
            <a:off x="8489950" y="6157000"/>
            <a:ext cx="46353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近年来受益于人工智能的发展，</a:t>
            </a:r>
            <a:r>
              <a:rPr lang="en-US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“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玩具</a:t>
            </a:r>
            <a:r>
              <a:rPr lang="en-US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智能</a:t>
            </a:r>
            <a:r>
              <a:rPr lang="en-US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”</a:t>
            </a:r>
            <a:r>
              <a:rPr lang="zh-CN" altLang="zh-CN" sz="1800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正成为玩具行业的发展潮流。儿童玩具市场的变迁反映了现代家庭的需求与压力，同展现了技术与传统产业的新结合，为家长和孩子提供了更多的选择和便利。智能玩具的崛起和发展也预示着未来的教育模式将会与娱乐益智、高科技等将更加紧密地结合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2D9D00AE-916E-4C44-9486-DF6F2B969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150" y="2064548"/>
            <a:ext cx="5140274" cy="3525497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EF85D4C0-F7FE-4EC7-B5B7-DF94A81A4A8F}"/>
              </a:ext>
            </a:extLst>
          </p:cNvPr>
          <p:cNvSpPr txBox="1"/>
          <p:nvPr/>
        </p:nvSpPr>
        <p:spPr>
          <a:xfrm>
            <a:off x="8454465" y="8550959"/>
            <a:ext cx="4752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i="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200" i="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以上数据及信息可参考智研咨询发布的</a:t>
            </a:r>
            <a:r>
              <a:rPr lang="en-US" altLang="zh-CN" sz="1200" i="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《2018-2023</a:t>
            </a:r>
            <a:r>
              <a:rPr lang="zh-CN" altLang="en-US" sz="1200" i="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年中国玩具行业市场全景调查及投资潜力研究报告</a:t>
            </a:r>
            <a:r>
              <a:rPr lang="en-US" altLang="zh-CN" sz="1200" i="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200" i="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任意多边形 14">
            <a:extLst>
              <a:ext uri="{FF2B5EF4-FFF2-40B4-BE49-F238E27FC236}">
                <a16:creationId xmlns:a16="http://schemas.microsoft.com/office/drawing/2014/main" id="{36888E46-9C17-4F75-B6F7-2F021A22EF5A}"/>
              </a:ext>
            </a:extLst>
          </p:cNvPr>
          <p:cNvSpPr/>
          <p:nvPr/>
        </p:nvSpPr>
        <p:spPr>
          <a:xfrm rot="10800000">
            <a:off x="9338" y="1939925"/>
            <a:ext cx="13949799" cy="6552670"/>
          </a:xfrm>
          <a:custGeom>
            <a:avLst/>
            <a:gdLst>
              <a:gd name="connsiteX0" fmla="*/ 0 w 20689"/>
              <a:gd name="connsiteY0" fmla="*/ 227 h 11147"/>
              <a:gd name="connsiteX1" fmla="*/ 5523 w 20689"/>
              <a:gd name="connsiteY1" fmla="*/ 371 h 11147"/>
              <a:gd name="connsiteX2" fmla="*/ 11026 w 20689"/>
              <a:gd name="connsiteY2" fmla="*/ 1910 h 11147"/>
              <a:gd name="connsiteX3" fmla="*/ 16069 w 20689"/>
              <a:gd name="connsiteY3" fmla="*/ 2875 h 11147"/>
              <a:gd name="connsiteX4" fmla="*/ 20689 w 20689"/>
              <a:gd name="connsiteY4" fmla="*/ 1910 h 11147"/>
              <a:gd name="connsiteX5" fmla="*/ 20689 w 20689"/>
              <a:gd name="connsiteY5" fmla="*/ 9794 h 11147"/>
              <a:gd name="connsiteX6" fmla="*/ 16022 w 20689"/>
              <a:gd name="connsiteY6" fmla="*/ 8436 h 11147"/>
              <a:gd name="connsiteX7" fmla="*/ 11306 w 20689"/>
              <a:gd name="connsiteY7" fmla="*/ 9141 h 11147"/>
              <a:gd name="connsiteX8" fmla="*/ 5594 w 20689"/>
              <a:gd name="connsiteY8" fmla="*/ 10762 h 11147"/>
              <a:gd name="connsiteX9" fmla="*/ 17 w 20689"/>
              <a:gd name="connsiteY9" fmla="*/ 11030 h 11147"/>
              <a:gd name="connsiteX10" fmla="*/ 0 w 20689"/>
              <a:gd name="connsiteY10" fmla="*/ 227 h 11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689" h="11148">
                <a:moveTo>
                  <a:pt x="0" y="227"/>
                </a:moveTo>
                <a:cubicBezTo>
                  <a:pt x="1411" y="-126"/>
                  <a:pt x="3713" y="-60"/>
                  <a:pt x="5523" y="371"/>
                </a:cubicBezTo>
                <a:cubicBezTo>
                  <a:pt x="7333" y="802"/>
                  <a:pt x="9918" y="1500"/>
                  <a:pt x="11026" y="1910"/>
                </a:cubicBezTo>
                <a:cubicBezTo>
                  <a:pt x="12135" y="2320"/>
                  <a:pt x="13935" y="2893"/>
                  <a:pt x="16069" y="2875"/>
                </a:cubicBezTo>
                <a:cubicBezTo>
                  <a:pt x="18202" y="2857"/>
                  <a:pt x="20690" y="1814"/>
                  <a:pt x="20689" y="1910"/>
                </a:cubicBezTo>
                <a:lnTo>
                  <a:pt x="20689" y="9794"/>
                </a:lnTo>
                <a:cubicBezTo>
                  <a:pt x="20689" y="9301"/>
                  <a:pt x="17610" y="8436"/>
                  <a:pt x="16022" y="8436"/>
                </a:cubicBezTo>
                <a:cubicBezTo>
                  <a:pt x="14434" y="8436"/>
                  <a:pt x="12727" y="8519"/>
                  <a:pt x="11306" y="9141"/>
                </a:cubicBezTo>
                <a:cubicBezTo>
                  <a:pt x="9884" y="9763"/>
                  <a:pt x="7543" y="10392"/>
                  <a:pt x="5594" y="10762"/>
                </a:cubicBezTo>
                <a:cubicBezTo>
                  <a:pt x="3645" y="11132"/>
                  <a:pt x="1931" y="11266"/>
                  <a:pt x="17" y="11030"/>
                </a:cubicBezTo>
                <a:lnTo>
                  <a:pt x="0" y="227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58000"/>
                </a:schemeClr>
              </a:gs>
              <a:gs pos="68000">
                <a:schemeClr val="bg1">
                  <a:lumMod val="95000"/>
                  <a:alpha val="48000"/>
                </a:schemeClr>
              </a:gs>
              <a:gs pos="100000">
                <a:schemeClr val="bg1">
                  <a:lumMod val="95000"/>
                  <a:alpha val="6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1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9C313F8-A1D5-42AF-92BE-61F7374FDD3D}"/>
              </a:ext>
            </a:extLst>
          </p:cNvPr>
          <p:cNvSpPr/>
          <p:nvPr/>
        </p:nvSpPr>
        <p:spPr>
          <a:xfrm>
            <a:off x="744787" y="455426"/>
            <a:ext cx="532014" cy="532014"/>
          </a:xfrm>
          <a:custGeom>
            <a:avLst/>
            <a:gdLst/>
            <a:ahLst/>
            <a:cxnLst/>
            <a:rect l="l" t="t" r="r" b="b"/>
            <a:pathLst>
              <a:path w="631825" h="631825">
                <a:moveTo>
                  <a:pt x="337674" y="0"/>
                </a:moveTo>
                <a:lnTo>
                  <a:pt x="293539" y="0"/>
                </a:lnTo>
                <a:lnTo>
                  <a:pt x="249751" y="6126"/>
                </a:lnTo>
                <a:lnTo>
                  <a:pt x="207001" y="18380"/>
                </a:lnTo>
                <a:lnTo>
                  <a:pt x="165982" y="36761"/>
                </a:lnTo>
                <a:lnTo>
                  <a:pt x="127385" y="61268"/>
                </a:lnTo>
                <a:lnTo>
                  <a:pt x="91902" y="91902"/>
                </a:lnTo>
                <a:lnTo>
                  <a:pt x="61268" y="127385"/>
                </a:lnTo>
                <a:lnTo>
                  <a:pt x="36761" y="165982"/>
                </a:lnTo>
                <a:lnTo>
                  <a:pt x="18380" y="207001"/>
                </a:lnTo>
                <a:lnTo>
                  <a:pt x="6126" y="249751"/>
                </a:lnTo>
                <a:lnTo>
                  <a:pt x="0" y="293539"/>
                </a:lnTo>
                <a:lnTo>
                  <a:pt x="0" y="337674"/>
                </a:lnTo>
                <a:lnTo>
                  <a:pt x="6126" y="381462"/>
                </a:lnTo>
                <a:lnTo>
                  <a:pt x="18380" y="424212"/>
                </a:lnTo>
                <a:lnTo>
                  <a:pt x="36761" y="465231"/>
                </a:lnTo>
                <a:lnTo>
                  <a:pt x="61268" y="503828"/>
                </a:lnTo>
                <a:lnTo>
                  <a:pt x="91902" y="539311"/>
                </a:lnTo>
                <a:lnTo>
                  <a:pt x="127385" y="569942"/>
                </a:lnTo>
                <a:lnTo>
                  <a:pt x="165982" y="594447"/>
                </a:lnTo>
                <a:lnTo>
                  <a:pt x="207001" y="612825"/>
                </a:lnTo>
                <a:lnTo>
                  <a:pt x="249751" y="625078"/>
                </a:lnTo>
                <a:lnTo>
                  <a:pt x="293539" y="631204"/>
                </a:lnTo>
                <a:lnTo>
                  <a:pt x="337674" y="631204"/>
                </a:lnTo>
                <a:lnTo>
                  <a:pt x="381462" y="625078"/>
                </a:lnTo>
                <a:lnTo>
                  <a:pt x="424212" y="612825"/>
                </a:lnTo>
                <a:lnTo>
                  <a:pt x="465231" y="594447"/>
                </a:lnTo>
                <a:lnTo>
                  <a:pt x="503828" y="569942"/>
                </a:lnTo>
                <a:lnTo>
                  <a:pt x="539311" y="539311"/>
                </a:lnTo>
                <a:lnTo>
                  <a:pt x="569942" y="503828"/>
                </a:lnTo>
                <a:lnTo>
                  <a:pt x="594447" y="465231"/>
                </a:lnTo>
                <a:lnTo>
                  <a:pt x="612825" y="424212"/>
                </a:lnTo>
                <a:lnTo>
                  <a:pt x="625078" y="381462"/>
                </a:lnTo>
                <a:lnTo>
                  <a:pt x="631204" y="337674"/>
                </a:lnTo>
                <a:lnTo>
                  <a:pt x="631204" y="293539"/>
                </a:lnTo>
                <a:lnTo>
                  <a:pt x="625078" y="249751"/>
                </a:lnTo>
                <a:lnTo>
                  <a:pt x="612825" y="207001"/>
                </a:lnTo>
                <a:lnTo>
                  <a:pt x="594447" y="165982"/>
                </a:lnTo>
                <a:lnTo>
                  <a:pt x="569942" y="127385"/>
                </a:lnTo>
                <a:lnTo>
                  <a:pt x="539311" y="91902"/>
                </a:lnTo>
                <a:lnTo>
                  <a:pt x="503828" y="61268"/>
                </a:lnTo>
                <a:lnTo>
                  <a:pt x="465231" y="36761"/>
                </a:lnTo>
                <a:lnTo>
                  <a:pt x="424212" y="18380"/>
                </a:lnTo>
                <a:lnTo>
                  <a:pt x="381462" y="6126"/>
                </a:lnTo>
                <a:lnTo>
                  <a:pt x="337674" y="0"/>
                </a:lnTo>
                <a:close/>
              </a:path>
            </a:pathLst>
          </a:custGeom>
          <a:solidFill>
            <a:srgbClr val="0F4ABE">
              <a:alpha val="6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88032A4-5798-4194-B8F3-7EBB675FED62}"/>
              </a:ext>
            </a:extLst>
          </p:cNvPr>
          <p:cNvSpPr txBox="1">
            <a:spLocks/>
          </p:cNvSpPr>
          <p:nvPr/>
        </p:nvSpPr>
        <p:spPr>
          <a:xfrm>
            <a:off x="1039926" y="666838"/>
            <a:ext cx="1803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500" b="0" i="0">
                <a:solidFill>
                  <a:srgbClr val="3E3A39"/>
                </a:solidFill>
                <a:latin typeface="幼圆"/>
                <a:ea typeface="+mj-ea"/>
                <a:cs typeface="幼圆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zh-CN" altLang="en-US" sz="2400" b="1" kern="0" dirty="0">
                <a:latin typeface="幼圆" panose="02010509060101010101" pitchFamily="49" charset="-122"/>
                <a:ea typeface="幼圆" panose="02010509060101010101" pitchFamily="49" charset="-122"/>
              </a:rPr>
              <a:t>项目目标</a:t>
            </a:r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ED15044A-AC08-4760-8445-ADDCC1559646}"/>
              </a:ext>
            </a:extLst>
          </p:cNvPr>
          <p:cNvSpPr txBox="1"/>
          <p:nvPr/>
        </p:nvSpPr>
        <p:spPr>
          <a:xfrm>
            <a:off x="1039926" y="1130883"/>
            <a:ext cx="216789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50" dirty="0">
                <a:solidFill>
                  <a:srgbClr val="898989"/>
                </a:solidFill>
                <a:latin typeface="Calibri"/>
                <a:cs typeface="Calibri"/>
              </a:rPr>
              <a:t>Project</a:t>
            </a:r>
            <a:r>
              <a:rPr sz="1600" spc="-90" dirty="0">
                <a:solidFill>
                  <a:srgbClr val="898989"/>
                </a:solidFill>
                <a:latin typeface="Calibri"/>
                <a:cs typeface="Calibri"/>
              </a:rPr>
              <a:t> </a:t>
            </a:r>
            <a:r>
              <a:rPr lang="en-US" sz="1600" spc="65" dirty="0">
                <a:solidFill>
                  <a:srgbClr val="898989"/>
                </a:solidFill>
                <a:latin typeface="Calibri"/>
                <a:cs typeface="Calibri"/>
              </a:rPr>
              <a:t>O</a:t>
            </a:r>
            <a:r>
              <a:rPr lang="en-US" altLang="zh-CN" sz="1600" spc="65" dirty="0">
                <a:solidFill>
                  <a:srgbClr val="898989"/>
                </a:solidFill>
                <a:latin typeface="Calibri"/>
                <a:cs typeface="Calibri"/>
              </a:rPr>
              <a:t>bjectives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6099C7-CC6F-4078-9141-475A4942C88A}"/>
              </a:ext>
            </a:extLst>
          </p:cNvPr>
          <p:cNvSpPr txBox="1"/>
          <p:nvPr/>
        </p:nvSpPr>
        <p:spPr>
          <a:xfrm>
            <a:off x="3640387" y="4581861"/>
            <a:ext cx="1225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交互性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450A6F-070F-405C-B8BC-D64881BE34D4}"/>
              </a:ext>
            </a:extLst>
          </p:cNvPr>
          <p:cNvSpPr txBox="1"/>
          <p:nvPr/>
        </p:nvSpPr>
        <p:spPr>
          <a:xfrm>
            <a:off x="5113041" y="6277830"/>
            <a:ext cx="1155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趣味性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C243257-A1E9-4738-B7A6-DAB1B10A2CDF}"/>
              </a:ext>
            </a:extLst>
          </p:cNvPr>
          <p:cNvSpPr txBox="1"/>
          <p:nvPr/>
        </p:nvSpPr>
        <p:spPr>
          <a:xfrm>
            <a:off x="885276" y="3797100"/>
            <a:ext cx="1148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科学性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065AB05-0DD2-404F-8FEE-23085148105F}"/>
              </a:ext>
            </a:extLst>
          </p:cNvPr>
          <p:cNvSpPr txBox="1"/>
          <p:nvPr/>
        </p:nvSpPr>
        <p:spPr>
          <a:xfrm>
            <a:off x="5329877" y="3997155"/>
            <a:ext cx="1155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社交性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6E9BB3A-FF07-42FB-9DD4-E1226C94123A}"/>
              </a:ext>
            </a:extLst>
          </p:cNvPr>
          <p:cNvSpPr txBox="1"/>
          <p:nvPr/>
        </p:nvSpPr>
        <p:spPr>
          <a:xfrm>
            <a:off x="4856306" y="5366622"/>
            <a:ext cx="144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多功能性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4304857-95FC-4847-A5EA-C5D752875645}"/>
              </a:ext>
            </a:extLst>
          </p:cNvPr>
          <p:cNvSpPr txBox="1"/>
          <p:nvPr/>
        </p:nvSpPr>
        <p:spPr>
          <a:xfrm>
            <a:off x="2408946" y="4443203"/>
            <a:ext cx="1148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创新性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26A79EE-4C4F-4628-BDA4-A8292122C065}"/>
              </a:ext>
            </a:extLst>
          </p:cNvPr>
          <p:cNvSpPr txBox="1"/>
          <p:nvPr/>
        </p:nvSpPr>
        <p:spPr>
          <a:xfrm>
            <a:off x="3158056" y="5366622"/>
            <a:ext cx="1148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实用性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70C1A5E-8139-4CCC-B8EC-F708E272120C}"/>
              </a:ext>
            </a:extLst>
          </p:cNvPr>
          <p:cNvSpPr txBox="1"/>
          <p:nvPr/>
        </p:nvSpPr>
        <p:spPr>
          <a:xfrm>
            <a:off x="230026" y="5086897"/>
            <a:ext cx="15919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不可替代性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2B4BE71-B3E7-4D18-AF50-40656DB49E34}"/>
              </a:ext>
            </a:extLst>
          </p:cNvPr>
          <p:cNvSpPr txBox="1"/>
          <p:nvPr/>
        </p:nvSpPr>
        <p:spPr>
          <a:xfrm>
            <a:off x="2583968" y="5903066"/>
            <a:ext cx="11481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安全性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3F7E3D3-6500-470F-8D34-CFAB83BCD27F}"/>
              </a:ext>
            </a:extLst>
          </p:cNvPr>
          <p:cNvSpPr txBox="1"/>
          <p:nvPr/>
        </p:nvSpPr>
        <p:spPr>
          <a:xfrm>
            <a:off x="950245" y="6286196"/>
            <a:ext cx="1155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spc="196" dirty="0">
                <a:solidFill>
                  <a:schemeClr val="bg1">
                    <a:lumMod val="6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便携性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4DED481-F08B-4917-A7CE-8F32941A1E37}"/>
              </a:ext>
            </a:extLst>
          </p:cNvPr>
          <p:cNvSpPr txBox="1"/>
          <p:nvPr/>
        </p:nvSpPr>
        <p:spPr>
          <a:xfrm>
            <a:off x="8536884" y="502433"/>
            <a:ext cx="4724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just"/>
            <a:r>
              <a:rPr lang="zh-CN" altLang="zh-CN" sz="16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奇趣球作为一款陪伴交互型智能玩具，通过记录成长数据、协同交互、跨界融合和培养孩子五感认知等方面的创新，为孩子们带来了全新的玩乐体验和学习方式。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AA7D0F0-0BE6-42F4-B488-1330FD1C47F4}"/>
              </a:ext>
            </a:extLst>
          </p:cNvPr>
          <p:cNvSpPr txBox="1"/>
          <p:nvPr/>
        </p:nvSpPr>
        <p:spPr>
          <a:xfrm>
            <a:off x="1039926" y="7426325"/>
            <a:ext cx="39806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kern="1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它不仅满足了孩子们的娱乐需求，还促进了他们的认知发展和技能培养。同时，智能玩具项目也给予了家长更多的安全保障和教育辅助工具。</a:t>
            </a:r>
            <a:endParaRPr lang="zh-CN" altLang="en-US" sz="16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764B4DF-59CC-44C9-84AF-004E8FB7A374}"/>
              </a:ext>
            </a:extLst>
          </p:cNvPr>
          <p:cNvSpPr txBox="1"/>
          <p:nvPr/>
        </p:nvSpPr>
        <p:spPr>
          <a:xfrm>
            <a:off x="9312069" y="2720135"/>
            <a:ext cx="4611854" cy="4246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融合科技 全新方式</a:t>
            </a:r>
            <a:endParaRPr lang="en-US" altLang="zh-CN" sz="2800" b="1" spc="196" dirty="0">
              <a:solidFill>
                <a:srgbClr val="6492C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</a:p>
          <a:p>
            <a:pPr algn="ctr">
              <a:lnSpc>
                <a:spcPct val="200000"/>
              </a:lnSpc>
            </a:pPr>
            <a:r>
              <a:rPr lang="zh-CN" altLang="en-US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促进婴儿</a:t>
            </a:r>
            <a:r>
              <a:rPr lang="en-US" altLang="zh-CN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感官发育</a:t>
            </a:r>
            <a:endParaRPr lang="en-US" altLang="zh-CN" sz="2800" b="1" spc="196" dirty="0">
              <a:solidFill>
                <a:srgbClr val="6492C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>
              <a:lnSpc>
                <a:spcPct val="200000"/>
              </a:lnSpc>
            </a:pPr>
            <a:r>
              <a:rPr lang="en-US" altLang="zh-CN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+</a:t>
            </a:r>
          </a:p>
          <a:p>
            <a:pPr algn="ctr">
              <a:lnSpc>
                <a:spcPct val="200000"/>
              </a:lnSpc>
            </a:pPr>
            <a:r>
              <a:rPr lang="zh-CN" altLang="en-US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帮助父母</a:t>
            </a:r>
            <a:r>
              <a:rPr lang="en-US" altLang="zh-CN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2800" b="1" spc="196" dirty="0">
                <a:solidFill>
                  <a:srgbClr val="6492C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科学管理</a:t>
            </a:r>
            <a:endParaRPr lang="en-US" altLang="zh-CN" sz="2800" b="1" spc="196" dirty="0">
              <a:solidFill>
                <a:srgbClr val="6492C6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E53489E-EE3E-4C19-9FAD-4F2F828F22BB}"/>
              </a:ext>
            </a:extLst>
          </p:cNvPr>
          <p:cNvSpPr/>
          <p:nvPr/>
        </p:nvSpPr>
        <p:spPr>
          <a:xfrm>
            <a:off x="7116481" y="4197210"/>
            <a:ext cx="1911712" cy="1628735"/>
          </a:xfrm>
          <a:prstGeom prst="rightArrow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8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550" y="1583192"/>
            <a:ext cx="13428201" cy="6519993"/>
          </a:xfrm>
          <a:prstGeom prst="rect">
            <a:avLst/>
          </a:prstGeom>
        </p:spPr>
      </p:pic>
      <p:pic>
        <p:nvPicPr>
          <p:cNvPr id="5" name="图片 4" descr="摄图网_500747237_在海边参加亲子活动的幸福的一家人（企业商用）">
            <a:extLst>
              <a:ext uri="{FF2B5EF4-FFF2-40B4-BE49-F238E27FC236}">
                <a16:creationId xmlns:a16="http://schemas.microsoft.com/office/drawing/2014/main" id="{9D4E172A-DB69-468D-A6A2-C26033B82E4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6617169" y="2589954"/>
            <a:ext cx="9969048" cy="724168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655DF45-AD68-4A7F-80E1-4673BCDB7850}"/>
              </a:ext>
            </a:extLst>
          </p:cNvPr>
          <p:cNvSpPr/>
          <p:nvPr/>
        </p:nvSpPr>
        <p:spPr>
          <a:xfrm>
            <a:off x="641350" y="568325"/>
            <a:ext cx="28194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47ABB4B-9AA0-48E8-8D97-BB3E500EE2C8}"/>
              </a:ext>
            </a:extLst>
          </p:cNvPr>
          <p:cNvGrpSpPr/>
          <p:nvPr/>
        </p:nvGrpSpPr>
        <p:grpSpPr>
          <a:xfrm>
            <a:off x="717550" y="472023"/>
            <a:ext cx="2463029" cy="934502"/>
            <a:chOff x="717550" y="472023"/>
            <a:chExt cx="2463029" cy="934502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0D1E4FA2-5851-4B18-8182-FA02671831D9}"/>
                </a:ext>
              </a:extLst>
            </p:cNvPr>
            <p:cNvSpPr/>
            <p:nvPr/>
          </p:nvSpPr>
          <p:spPr>
            <a:xfrm>
              <a:off x="717550" y="472023"/>
              <a:ext cx="532014" cy="532014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337674" y="0"/>
                  </a:moveTo>
                  <a:lnTo>
                    <a:pt x="293539" y="0"/>
                  </a:lnTo>
                  <a:lnTo>
                    <a:pt x="249751" y="6126"/>
                  </a:lnTo>
                  <a:lnTo>
                    <a:pt x="207001" y="18380"/>
                  </a:lnTo>
                  <a:lnTo>
                    <a:pt x="165982" y="36761"/>
                  </a:lnTo>
                  <a:lnTo>
                    <a:pt x="127385" y="61268"/>
                  </a:lnTo>
                  <a:lnTo>
                    <a:pt x="91902" y="91902"/>
                  </a:lnTo>
                  <a:lnTo>
                    <a:pt x="61268" y="127385"/>
                  </a:lnTo>
                  <a:lnTo>
                    <a:pt x="36761" y="165982"/>
                  </a:lnTo>
                  <a:lnTo>
                    <a:pt x="18380" y="207001"/>
                  </a:lnTo>
                  <a:lnTo>
                    <a:pt x="6126" y="249751"/>
                  </a:lnTo>
                  <a:lnTo>
                    <a:pt x="0" y="293539"/>
                  </a:lnTo>
                  <a:lnTo>
                    <a:pt x="0" y="337674"/>
                  </a:lnTo>
                  <a:lnTo>
                    <a:pt x="6126" y="381462"/>
                  </a:lnTo>
                  <a:lnTo>
                    <a:pt x="18380" y="424212"/>
                  </a:lnTo>
                  <a:lnTo>
                    <a:pt x="36761" y="465231"/>
                  </a:lnTo>
                  <a:lnTo>
                    <a:pt x="61268" y="503828"/>
                  </a:lnTo>
                  <a:lnTo>
                    <a:pt x="91902" y="539311"/>
                  </a:lnTo>
                  <a:lnTo>
                    <a:pt x="127385" y="569942"/>
                  </a:lnTo>
                  <a:lnTo>
                    <a:pt x="165982" y="594447"/>
                  </a:lnTo>
                  <a:lnTo>
                    <a:pt x="207001" y="612825"/>
                  </a:lnTo>
                  <a:lnTo>
                    <a:pt x="249751" y="625078"/>
                  </a:lnTo>
                  <a:lnTo>
                    <a:pt x="293539" y="631204"/>
                  </a:lnTo>
                  <a:lnTo>
                    <a:pt x="337674" y="631204"/>
                  </a:lnTo>
                  <a:lnTo>
                    <a:pt x="381462" y="625078"/>
                  </a:lnTo>
                  <a:lnTo>
                    <a:pt x="424212" y="612825"/>
                  </a:lnTo>
                  <a:lnTo>
                    <a:pt x="465231" y="594447"/>
                  </a:lnTo>
                  <a:lnTo>
                    <a:pt x="503828" y="569942"/>
                  </a:lnTo>
                  <a:lnTo>
                    <a:pt x="539311" y="539311"/>
                  </a:lnTo>
                  <a:lnTo>
                    <a:pt x="569942" y="503828"/>
                  </a:lnTo>
                  <a:lnTo>
                    <a:pt x="594447" y="465231"/>
                  </a:lnTo>
                  <a:lnTo>
                    <a:pt x="612825" y="424212"/>
                  </a:lnTo>
                  <a:lnTo>
                    <a:pt x="625078" y="381462"/>
                  </a:lnTo>
                  <a:lnTo>
                    <a:pt x="631204" y="337674"/>
                  </a:lnTo>
                  <a:lnTo>
                    <a:pt x="631204" y="293539"/>
                  </a:lnTo>
                  <a:lnTo>
                    <a:pt x="625078" y="249751"/>
                  </a:lnTo>
                  <a:lnTo>
                    <a:pt x="612825" y="207001"/>
                  </a:lnTo>
                  <a:lnTo>
                    <a:pt x="594447" y="165982"/>
                  </a:lnTo>
                  <a:lnTo>
                    <a:pt x="569942" y="127385"/>
                  </a:lnTo>
                  <a:lnTo>
                    <a:pt x="539311" y="91902"/>
                  </a:lnTo>
                  <a:lnTo>
                    <a:pt x="503828" y="61268"/>
                  </a:lnTo>
                  <a:lnTo>
                    <a:pt x="465231" y="36761"/>
                  </a:lnTo>
                  <a:lnTo>
                    <a:pt x="424212" y="18380"/>
                  </a:lnTo>
                  <a:lnTo>
                    <a:pt x="381462" y="6126"/>
                  </a:lnTo>
                  <a:lnTo>
                    <a:pt x="337674" y="0"/>
                  </a:lnTo>
                  <a:close/>
                </a:path>
              </a:pathLst>
            </a:custGeom>
            <a:solidFill>
              <a:srgbClr val="0F4ABE">
                <a:alpha val="6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99F43D39-05AE-4E2D-8360-21A45B8DED89}"/>
                </a:ext>
              </a:extLst>
            </p:cNvPr>
            <p:cNvSpPr txBox="1">
              <a:spLocks/>
            </p:cNvSpPr>
            <p:nvPr/>
          </p:nvSpPr>
          <p:spPr>
            <a:xfrm>
              <a:off x="1012689" y="683435"/>
              <a:ext cx="180340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 sz="3500" b="0" i="0">
                  <a:solidFill>
                    <a:srgbClr val="3E3A39"/>
                  </a:solidFill>
                  <a:latin typeface="幼圆"/>
                  <a:ea typeface="+mj-ea"/>
                  <a:cs typeface="幼圆"/>
                </a:defRPr>
              </a:lvl1pPr>
            </a:lstStyle>
            <a:p>
              <a:pPr marL="12700">
                <a:spcBef>
                  <a:spcPts val="100"/>
                </a:spcBef>
              </a:pPr>
              <a:r>
                <a:rPr lang="zh-CN" altLang="en-US" sz="2400" b="1" kern="0" dirty="0">
                  <a:latin typeface="幼圆" panose="02010509060101010101" pitchFamily="49" charset="-122"/>
                  <a:ea typeface="幼圆" panose="02010509060101010101" pitchFamily="49" charset="-122"/>
                </a:rPr>
                <a:t>市场分析</a:t>
              </a:r>
              <a:endParaRPr lang="en-US" altLang="zh-CN" sz="2400" b="1" kern="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1" name="object 16">
              <a:extLst>
                <a:ext uri="{FF2B5EF4-FFF2-40B4-BE49-F238E27FC236}">
                  <a16:creationId xmlns:a16="http://schemas.microsoft.com/office/drawing/2014/main" id="{C2BA797F-749B-46BD-A3EE-B62FB9CA605E}"/>
                </a:ext>
              </a:extLst>
            </p:cNvPr>
            <p:cNvSpPr txBox="1"/>
            <p:nvPr/>
          </p:nvSpPr>
          <p:spPr>
            <a:xfrm>
              <a:off x="1012689" y="1147480"/>
              <a:ext cx="216789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600" spc="5" dirty="0">
                  <a:solidFill>
                    <a:srgbClr val="898989"/>
                  </a:solidFill>
                  <a:latin typeface="Calibri"/>
                  <a:cs typeface="Calibri"/>
                </a:rPr>
                <a:t>Market</a:t>
              </a:r>
              <a:r>
                <a:rPr lang="en-US" altLang="zh-CN" sz="1600" spc="-110" dirty="0">
                  <a:solidFill>
                    <a:srgbClr val="898989"/>
                  </a:solidFill>
                  <a:latin typeface="Calibri"/>
                  <a:cs typeface="Calibri"/>
                </a:rPr>
                <a:t> </a:t>
              </a:r>
              <a:r>
                <a:rPr lang="en-US" altLang="zh-CN" sz="1600" spc="70" dirty="0">
                  <a:solidFill>
                    <a:srgbClr val="898989"/>
                  </a:solidFill>
                  <a:latin typeface="Calibri"/>
                  <a:cs typeface="Calibri"/>
                </a:rPr>
                <a:t>analysis</a:t>
              </a:r>
              <a:endParaRPr sz="16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0508" y="3395140"/>
            <a:ext cx="661976" cy="6500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5746" y="3395140"/>
            <a:ext cx="652824" cy="6500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77933" y="3395140"/>
            <a:ext cx="646723" cy="65004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17517" y="1955286"/>
            <a:ext cx="36226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zh-CN" altLang="en-US" sz="18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玩具根据其功能</a:t>
            </a:r>
            <a:br>
              <a:rPr lang="zh-CN" altLang="en-US" sz="18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</a:br>
            <a:r>
              <a:rPr lang="zh-CN" altLang="en-US" sz="1800" spc="12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/>
              </a:rPr>
              <a:t>广义上可分为以下几类：</a:t>
            </a:r>
            <a:endParaRPr sz="18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71628" y="4275611"/>
            <a:ext cx="13474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80" dirty="0" err="1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  <a:cs typeface="宋体"/>
              </a:rPr>
              <a:t>认知类</a:t>
            </a:r>
            <a:r>
              <a:rPr lang="zh-CN" altLang="en-US" sz="2000" b="1" spc="80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  <a:cs typeface="宋体"/>
              </a:rPr>
              <a:t>玩</a:t>
            </a:r>
            <a:r>
              <a:rPr sz="2000" b="1" spc="80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  <a:cs typeface="宋体"/>
              </a:rPr>
              <a:t>具</a:t>
            </a:r>
            <a:endParaRPr sz="2000" b="1" dirty="0">
              <a:solidFill>
                <a:srgbClr val="0F4ABE"/>
              </a:solidFill>
              <a:latin typeface="幼圆" panose="02010509060101010101" pitchFamily="49" charset="-122"/>
              <a:ea typeface="幼圆" panose="02010509060101010101" pitchFamily="49" charset="-122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9784" y="4278663"/>
            <a:ext cx="1876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80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  <a:cs typeface="宋体"/>
              </a:rPr>
              <a:t>语言训练类玩具</a:t>
            </a:r>
            <a:endParaRPr sz="2000" b="1" dirty="0">
              <a:solidFill>
                <a:srgbClr val="0F4ABE"/>
              </a:solidFill>
              <a:latin typeface="幼圆" panose="02010509060101010101" pitchFamily="49" charset="-122"/>
              <a:ea typeface="幼圆" panose="02010509060101010101" pitchFamily="49" charset="-122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01485" y="4278663"/>
            <a:ext cx="1894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00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  <a:cs typeface="宋体"/>
              </a:rPr>
              <a:t>动作操作类玩具</a:t>
            </a:r>
            <a:endParaRPr sz="2000" b="1" dirty="0">
              <a:solidFill>
                <a:srgbClr val="0F4ABE"/>
              </a:solidFill>
              <a:latin typeface="幼圆" panose="02010509060101010101" pitchFamily="49" charset="-122"/>
              <a:ea typeface="幼圆" panose="02010509060101010101" pitchFamily="49" charset="-122"/>
              <a:cs typeface="宋体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A90A15E-5335-4B37-8F22-51C320298F59}"/>
              </a:ext>
            </a:extLst>
          </p:cNvPr>
          <p:cNvGrpSpPr/>
          <p:nvPr/>
        </p:nvGrpSpPr>
        <p:grpSpPr>
          <a:xfrm>
            <a:off x="954874" y="570191"/>
            <a:ext cx="3420276" cy="688399"/>
            <a:chOff x="954874" y="570191"/>
            <a:chExt cx="3420276" cy="688399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15D80C1-1C85-4003-B16E-B10D2965219F}"/>
                </a:ext>
              </a:extLst>
            </p:cNvPr>
            <p:cNvSpPr/>
            <p:nvPr/>
          </p:nvSpPr>
          <p:spPr>
            <a:xfrm rot="4038525">
              <a:off x="940064" y="585001"/>
              <a:ext cx="543378" cy="51375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F4ABE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7E2A0CC-6232-4612-A1A1-9AC54E480478}"/>
                </a:ext>
              </a:extLst>
            </p:cNvPr>
            <p:cNvSpPr txBox="1"/>
            <p:nvPr/>
          </p:nvSpPr>
          <p:spPr>
            <a:xfrm>
              <a:off x="1095136" y="796925"/>
              <a:ext cx="328001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spc="120" dirty="0">
                  <a:solidFill>
                    <a:srgbClr val="50525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什么才是“好玩具”？</a:t>
              </a:r>
              <a:endParaRPr lang="zh-CN" altLang="en-US" sz="2400" b="1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0942F261-6583-43B6-AA6F-6417D4DA1EC7}"/>
              </a:ext>
            </a:extLst>
          </p:cNvPr>
          <p:cNvSpPr txBox="1"/>
          <p:nvPr/>
        </p:nvSpPr>
        <p:spPr>
          <a:xfrm>
            <a:off x="1403350" y="4854396"/>
            <a:ext cx="325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808080"/>
                </a:solidFill>
                <a:effectLst/>
              </a:rPr>
              <a:t>培养孩子的认知能力，包括形状、大小、空间方位、颜色、形状等，还可以促进孩子的空间想象能力。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3A2F2-9408-4756-90DA-B061D8112377}"/>
              </a:ext>
            </a:extLst>
          </p:cNvPr>
          <p:cNvSpPr txBox="1"/>
          <p:nvPr/>
        </p:nvSpPr>
        <p:spPr>
          <a:xfrm>
            <a:off x="5481236" y="4826532"/>
            <a:ext cx="325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锻炼孩子的听力，并鼓励孩子多表达；如故事机通过讲故事、唱歌的方式，培养孩子听、说的能力。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158626-B984-4CDE-94E8-F904218E910F}"/>
              </a:ext>
            </a:extLst>
          </p:cNvPr>
          <p:cNvSpPr txBox="1"/>
          <p:nvPr/>
        </p:nvSpPr>
        <p:spPr>
          <a:xfrm>
            <a:off x="9541299" y="4826532"/>
            <a:ext cx="3151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锻炼宝宝的专注力，手、肌肉及身体各部位的协调能力。如婴儿爬行玩具。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AA72731-7D14-4068-B487-7002EE370A09}"/>
              </a:ext>
            </a:extLst>
          </p:cNvPr>
          <p:cNvGrpSpPr/>
          <p:nvPr/>
        </p:nvGrpSpPr>
        <p:grpSpPr>
          <a:xfrm>
            <a:off x="10010536" y="7576859"/>
            <a:ext cx="3280014" cy="830997"/>
            <a:chOff x="1095136" y="796925"/>
            <a:chExt cx="3280014" cy="830997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1D9B1F23-7FE9-4ECA-82E5-1E50BB3CC301}"/>
                </a:ext>
              </a:extLst>
            </p:cNvPr>
            <p:cNvSpPr/>
            <p:nvPr/>
          </p:nvSpPr>
          <p:spPr>
            <a:xfrm rot="4038525">
              <a:off x="3212226" y="1021289"/>
              <a:ext cx="543378" cy="51375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F4ABE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E5DD8E3-627D-410C-9DAE-EEE7FE1B3989}"/>
                </a:ext>
              </a:extLst>
            </p:cNvPr>
            <p:cNvSpPr txBox="1"/>
            <p:nvPr/>
          </p:nvSpPr>
          <p:spPr>
            <a:xfrm>
              <a:off x="1095136" y="796925"/>
              <a:ext cx="328001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spc="120" dirty="0">
                  <a:solidFill>
                    <a:srgbClr val="50525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由此</a:t>
              </a:r>
              <a:endParaRPr lang="en-US" altLang="zh-CN" sz="2400" b="1" spc="120" dirty="0">
                <a:solidFill>
                  <a:srgbClr val="50525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400" b="1" spc="120" dirty="0">
                  <a:solidFill>
                    <a:srgbClr val="50525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我们分析并总结</a:t>
              </a:r>
              <a:endParaRPr lang="zh-CN" altLang="en-US" sz="2400" b="1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9458028" y="2107358"/>
            <a:ext cx="1454150" cy="7239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5080" indent="79375">
              <a:lnSpc>
                <a:spcPts val="2500"/>
              </a:lnSpc>
              <a:spcBef>
                <a:spcPts val="600"/>
              </a:spcBef>
            </a:pPr>
            <a:r>
              <a:rPr sz="2500" dirty="0">
                <a:solidFill>
                  <a:srgbClr val="FFFFFF"/>
                </a:solidFill>
                <a:latin typeface="幼圆"/>
                <a:cs typeface="幼圆"/>
              </a:rPr>
              <a:t>科大讯飞 阿尔法蛋S</a:t>
            </a:r>
            <a:endParaRPr sz="2500" dirty="0">
              <a:latin typeface="幼圆"/>
              <a:cs typeface="幼圆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DB83E4-2C1B-4414-BB66-E9E62E7D9A10}"/>
              </a:ext>
            </a:extLst>
          </p:cNvPr>
          <p:cNvGrpSpPr/>
          <p:nvPr/>
        </p:nvGrpSpPr>
        <p:grpSpPr>
          <a:xfrm>
            <a:off x="1080464" y="2866878"/>
            <a:ext cx="4775133" cy="5016647"/>
            <a:chOff x="1708150" y="2635620"/>
            <a:chExt cx="4662035" cy="4906323"/>
          </a:xfrm>
        </p:grpSpPr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C10F4AB9-9B8B-4989-9FA4-82B88E0DF541}"/>
                </a:ext>
              </a:extLst>
            </p:cNvPr>
            <p:cNvSpPr txBox="1"/>
            <p:nvPr/>
          </p:nvSpPr>
          <p:spPr>
            <a:xfrm>
              <a:off x="1923492" y="3151240"/>
              <a:ext cx="4446693" cy="1406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2000" b="1" dirty="0">
                  <a:solidFill>
                    <a:srgbClr val="73737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专为</a:t>
              </a:r>
              <a:r>
                <a:rPr lang="en-US" sz="2000" b="1" dirty="0">
                  <a:solidFill>
                    <a:srgbClr val="67A2F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0-2岁</a:t>
              </a:r>
              <a:r>
                <a:rPr lang="en-US" sz="2000" b="1" dirty="0">
                  <a:solidFill>
                    <a:srgbClr val="73737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宝宝设计的多功能抓握玩偶，旨在提供安抚哄睡的效果，帮助宝宝安稳入睡，让宝宝拥有更好的睡眠质量</a:t>
              </a:r>
            </a:p>
            <a:p>
              <a:pPr>
                <a:lnSpc>
                  <a:spcPts val="2800"/>
                </a:lnSpc>
              </a:pPr>
              <a:endParaRPr lang="en-US" sz="2000" dirty="0">
                <a:solidFill>
                  <a:srgbClr val="737373"/>
                </a:solidFill>
                <a:ea typeface="Arimo"/>
              </a:endParaRPr>
            </a:p>
          </p:txBody>
        </p:sp>
        <p:sp>
          <p:nvSpPr>
            <p:cNvPr id="23" name="TextBox 19">
              <a:extLst>
                <a:ext uri="{FF2B5EF4-FFF2-40B4-BE49-F238E27FC236}">
                  <a16:creationId xmlns:a16="http://schemas.microsoft.com/office/drawing/2014/main" id="{C46461EE-45E9-483A-B1E8-4575AC38FD6D}"/>
                </a:ext>
              </a:extLst>
            </p:cNvPr>
            <p:cNvSpPr txBox="1"/>
            <p:nvPr/>
          </p:nvSpPr>
          <p:spPr>
            <a:xfrm>
              <a:off x="1810046" y="2635620"/>
              <a:ext cx="1952066" cy="349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</a:pPr>
              <a:r>
                <a:rPr lang="en-US" sz="2299" b="1" dirty="0" err="1">
                  <a:solidFill>
                    <a:srgbClr val="0F4ABE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产品定位</a:t>
              </a:r>
              <a:r>
                <a:rPr lang="en-US" sz="2299" b="1" dirty="0">
                  <a:solidFill>
                    <a:srgbClr val="0F4ABE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：</a:t>
              </a:r>
            </a:p>
          </p:txBody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F10044F8-C445-4707-9E4D-F0733DA91190}"/>
                </a:ext>
              </a:extLst>
            </p:cNvPr>
            <p:cNvSpPr txBox="1"/>
            <p:nvPr/>
          </p:nvSpPr>
          <p:spPr>
            <a:xfrm>
              <a:off x="1827629" y="4339643"/>
              <a:ext cx="1952066" cy="375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</a:pPr>
              <a:r>
                <a:rPr lang="en-US" sz="2299" dirty="0" err="1">
                  <a:solidFill>
                    <a:srgbClr val="0F4ABE"/>
                  </a:solidFill>
                  <a:ea typeface="Arimo Bold"/>
                </a:rPr>
                <a:t>优势</a:t>
              </a:r>
              <a:r>
                <a:rPr lang="en-US" sz="2299" dirty="0">
                  <a:solidFill>
                    <a:srgbClr val="0F4ABE"/>
                  </a:solidFill>
                  <a:ea typeface="Arimo Bold"/>
                </a:rPr>
                <a:t>：</a:t>
              </a:r>
            </a:p>
          </p:txBody>
        </p:sp>
        <p:sp>
          <p:nvSpPr>
            <p:cNvPr id="25" name="TextBox 21">
              <a:extLst>
                <a:ext uri="{FF2B5EF4-FFF2-40B4-BE49-F238E27FC236}">
                  <a16:creationId xmlns:a16="http://schemas.microsoft.com/office/drawing/2014/main" id="{6B0FD0DF-0C87-45AA-A1C1-3622FC4B1B51}"/>
                </a:ext>
              </a:extLst>
            </p:cNvPr>
            <p:cNvSpPr txBox="1"/>
            <p:nvPr/>
          </p:nvSpPr>
          <p:spPr>
            <a:xfrm>
              <a:off x="1708150" y="4803336"/>
              <a:ext cx="4571808" cy="21323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15901" lvl="1">
                <a:lnSpc>
                  <a:spcPts val="2800"/>
                </a:lnSpc>
              </a:pPr>
              <a:r>
                <a:rPr lang="en-US" sz="2000" b="1" dirty="0" err="1">
                  <a:solidFill>
                    <a:srgbClr val="73737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音乐安抚，灯光柔和，营造睡眠环境</a:t>
              </a:r>
              <a:endParaRPr lang="en-US" sz="2000" b="1" dirty="0">
                <a:solidFill>
                  <a:srgbClr val="737373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marL="215901" lvl="1">
                <a:lnSpc>
                  <a:spcPts val="2800"/>
                </a:lnSpc>
              </a:pPr>
              <a:r>
                <a:rPr lang="en-US" sz="2000" b="1" dirty="0" err="1">
                  <a:solidFill>
                    <a:srgbClr val="73737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无机械伤害，柔软细腻，玩耍无隐患</a:t>
              </a:r>
              <a:endParaRPr lang="en-US" sz="2000" b="1" dirty="0">
                <a:solidFill>
                  <a:srgbClr val="737373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marL="215901" lvl="1">
                <a:lnSpc>
                  <a:spcPts val="2800"/>
                </a:lnSpc>
              </a:pPr>
              <a:r>
                <a:rPr lang="en-US" sz="2000" b="1" dirty="0" err="1">
                  <a:solidFill>
                    <a:srgbClr val="73737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绒毛不易脱落，耐啃咬</a:t>
              </a:r>
              <a:endParaRPr lang="en-US" sz="2000" b="1" dirty="0">
                <a:solidFill>
                  <a:srgbClr val="737373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marL="215901" lvl="1">
                <a:lnSpc>
                  <a:spcPts val="2800"/>
                </a:lnSpc>
              </a:pPr>
              <a:r>
                <a:rPr lang="en-US" sz="2000" b="1" dirty="0" err="1">
                  <a:solidFill>
                    <a:srgbClr val="73737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分离设计，方便清洗，操作方便</a:t>
              </a:r>
              <a:endParaRPr lang="en-US" sz="2000" b="1" dirty="0">
                <a:solidFill>
                  <a:srgbClr val="737373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ts val="2800"/>
                </a:lnSpc>
              </a:pPr>
              <a:endParaRPr lang="en-US" sz="2000" b="1" dirty="0">
                <a:solidFill>
                  <a:srgbClr val="737373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ts val="2800"/>
                </a:lnSpc>
              </a:pPr>
              <a:endParaRPr lang="en-US" sz="2000" b="1" dirty="0">
                <a:solidFill>
                  <a:srgbClr val="737373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" name="TextBox 22">
              <a:extLst>
                <a:ext uri="{FF2B5EF4-FFF2-40B4-BE49-F238E27FC236}">
                  <a16:creationId xmlns:a16="http://schemas.microsoft.com/office/drawing/2014/main" id="{3FA2833B-C9D1-445E-B518-1421E574FCA8}"/>
                </a:ext>
              </a:extLst>
            </p:cNvPr>
            <p:cNvSpPr txBox="1"/>
            <p:nvPr/>
          </p:nvSpPr>
          <p:spPr>
            <a:xfrm>
              <a:off x="1747351" y="6324648"/>
              <a:ext cx="1952066" cy="375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</a:pPr>
              <a:r>
                <a:rPr lang="en-US" sz="2299" dirty="0" err="1">
                  <a:solidFill>
                    <a:srgbClr val="0F4ABE"/>
                  </a:solidFill>
                  <a:ea typeface="Arimo Bold"/>
                </a:rPr>
                <a:t>劣势</a:t>
              </a:r>
              <a:r>
                <a:rPr lang="en-US" sz="2299" dirty="0">
                  <a:solidFill>
                    <a:srgbClr val="0F4ABE"/>
                  </a:solidFill>
                  <a:ea typeface="Arimo Bold"/>
                </a:rPr>
                <a:t>：</a:t>
              </a:r>
            </a:p>
          </p:txBody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27427C9D-B43A-4A15-83DE-38457DAE1326}"/>
                </a:ext>
              </a:extLst>
            </p:cNvPr>
            <p:cNvSpPr txBox="1"/>
            <p:nvPr/>
          </p:nvSpPr>
          <p:spPr>
            <a:xfrm>
              <a:off x="1708342" y="6840268"/>
              <a:ext cx="4571808" cy="701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215901" lvl="1">
                <a:lnSpc>
                  <a:spcPts val="2800"/>
                </a:lnSpc>
              </a:pPr>
              <a:r>
                <a:rPr lang="en-US" sz="2000" b="1" dirty="0" err="1">
                  <a:solidFill>
                    <a:srgbClr val="73737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产品包装</a:t>
              </a:r>
              <a:r>
                <a:rPr lang="zh-CN" altLang="en-US" sz="2000" b="1" dirty="0">
                  <a:solidFill>
                    <a:srgbClr val="737373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简单</a:t>
              </a:r>
              <a:endParaRPr lang="en-US" sz="2000" b="1" dirty="0">
                <a:solidFill>
                  <a:srgbClr val="737373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>
                <a:lnSpc>
                  <a:spcPts val="2800"/>
                </a:lnSpc>
              </a:pPr>
              <a:endParaRPr lang="en-US" sz="2000" dirty="0">
                <a:solidFill>
                  <a:srgbClr val="737373"/>
                </a:solidFill>
                <a:ea typeface="Arimo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6A338A2B-A014-4E8E-BE8C-E5503EB6BF75}"/>
              </a:ext>
            </a:extLst>
          </p:cNvPr>
          <p:cNvSpPr/>
          <p:nvPr/>
        </p:nvSpPr>
        <p:spPr>
          <a:xfrm>
            <a:off x="869950" y="2244724"/>
            <a:ext cx="5312215" cy="6201018"/>
          </a:xfrm>
          <a:custGeom>
            <a:avLst/>
            <a:gdLst>
              <a:gd name="connsiteX0" fmla="*/ 0 w 5312215"/>
              <a:gd name="connsiteY0" fmla="*/ 0 h 6201018"/>
              <a:gd name="connsiteX1" fmla="*/ 5312215 w 5312215"/>
              <a:gd name="connsiteY1" fmla="*/ 0 h 6201018"/>
              <a:gd name="connsiteX2" fmla="*/ 5312215 w 5312215"/>
              <a:gd name="connsiteY2" fmla="*/ 6201018 h 6201018"/>
              <a:gd name="connsiteX3" fmla="*/ 0 w 5312215"/>
              <a:gd name="connsiteY3" fmla="*/ 6201018 h 6201018"/>
              <a:gd name="connsiteX4" fmla="*/ 0 w 5312215"/>
              <a:gd name="connsiteY4" fmla="*/ 0 h 620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2215" h="6201018" extrusionOk="0">
                <a:moveTo>
                  <a:pt x="0" y="0"/>
                </a:moveTo>
                <a:cubicBezTo>
                  <a:pt x="1719041" y="-36650"/>
                  <a:pt x="2747288" y="-3840"/>
                  <a:pt x="5312215" y="0"/>
                </a:cubicBezTo>
                <a:cubicBezTo>
                  <a:pt x="5372976" y="2789455"/>
                  <a:pt x="5447351" y="5036874"/>
                  <a:pt x="5312215" y="6201018"/>
                </a:cubicBezTo>
                <a:cubicBezTo>
                  <a:pt x="4310587" y="6156761"/>
                  <a:pt x="1893258" y="6063020"/>
                  <a:pt x="0" y="6201018"/>
                </a:cubicBezTo>
                <a:cubicBezTo>
                  <a:pt x="-72092" y="3506937"/>
                  <a:pt x="-150349" y="2490279"/>
                  <a:pt x="0" y="0"/>
                </a:cubicBezTo>
                <a:close/>
              </a:path>
            </a:pathLst>
          </a:custGeom>
          <a:noFill/>
          <a:ln w="57150">
            <a:prstDash val="solid"/>
            <a:extLst>
              <a:ext uri="{C807C97D-BFC1-408E-A445-0C87EB9F89A2}">
                <ask:lineSketchStyleProps xmlns:ask="http://schemas.microsoft.com/office/drawing/2018/sketchyshapes" sd="320296678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 descr="费雪Fisher-Price小海马0-1岁哄睡神器宝宝安抚玩偶-新版声光安抚海马GCK71质量好吗,质量靠谱吗? - 豪评测网">
            <a:extLst>
              <a:ext uri="{FF2B5EF4-FFF2-40B4-BE49-F238E27FC236}">
                <a16:creationId xmlns:a16="http://schemas.microsoft.com/office/drawing/2014/main" id="{A1F588CE-C8F1-4B92-AD14-E70D98639EF1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050" y="6868503"/>
            <a:ext cx="2085432" cy="2081822"/>
          </a:xfrm>
          <a:prstGeom prst="ellipse">
            <a:avLst/>
          </a:prstGeom>
          <a:ln w="63500"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57AB5EB7-BD92-492A-9B8E-3DEDFC948CAF}"/>
              </a:ext>
            </a:extLst>
          </p:cNvPr>
          <p:cNvGrpSpPr/>
          <p:nvPr/>
        </p:nvGrpSpPr>
        <p:grpSpPr>
          <a:xfrm>
            <a:off x="717550" y="472023"/>
            <a:ext cx="2463029" cy="934502"/>
            <a:chOff x="717550" y="472023"/>
            <a:chExt cx="2463029" cy="934502"/>
          </a:xfrm>
        </p:grpSpPr>
        <p:sp>
          <p:nvSpPr>
            <p:cNvPr id="20" name="object 2">
              <a:extLst>
                <a:ext uri="{FF2B5EF4-FFF2-40B4-BE49-F238E27FC236}">
                  <a16:creationId xmlns:a16="http://schemas.microsoft.com/office/drawing/2014/main" id="{B60284D8-6382-4EF5-89FE-EDA19A419C7B}"/>
                </a:ext>
              </a:extLst>
            </p:cNvPr>
            <p:cNvSpPr/>
            <p:nvPr/>
          </p:nvSpPr>
          <p:spPr>
            <a:xfrm>
              <a:off x="717550" y="472023"/>
              <a:ext cx="532014" cy="532014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337674" y="0"/>
                  </a:moveTo>
                  <a:lnTo>
                    <a:pt x="293539" y="0"/>
                  </a:lnTo>
                  <a:lnTo>
                    <a:pt x="249751" y="6126"/>
                  </a:lnTo>
                  <a:lnTo>
                    <a:pt x="207001" y="18380"/>
                  </a:lnTo>
                  <a:lnTo>
                    <a:pt x="165982" y="36761"/>
                  </a:lnTo>
                  <a:lnTo>
                    <a:pt x="127385" y="61268"/>
                  </a:lnTo>
                  <a:lnTo>
                    <a:pt x="91902" y="91902"/>
                  </a:lnTo>
                  <a:lnTo>
                    <a:pt x="61268" y="127385"/>
                  </a:lnTo>
                  <a:lnTo>
                    <a:pt x="36761" y="165982"/>
                  </a:lnTo>
                  <a:lnTo>
                    <a:pt x="18380" y="207001"/>
                  </a:lnTo>
                  <a:lnTo>
                    <a:pt x="6126" y="249751"/>
                  </a:lnTo>
                  <a:lnTo>
                    <a:pt x="0" y="293539"/>
                  </a:lnTo>
                  <a:lnTo>
                    <a:pt x="0" y="337674"/>
                  </a:lnTo>
                  <a:lnTo>
                    <a:pt x="6126" y="381462"/>
                  </a:lnTo>
                  <a:lnTo>
                    <a:pt x="18380" y="424212"/>
                  </a:lnTo>
                  <a:lnTo>
                    <a:pt x="36761" y="465231"/>
                  </a:lnTo>
                  <a:lnTo>
                    <a:pt x="61268" y="503828"/>
                  </a:lnTo>
                  <a:lnTo>
                    <a:pt x="91902" y="539311"/>
                  </a:lnTo>
                  <a:lnTo>
                    <a:pt x="127385" y="569942"/>
                  </a:lnTo>
                  <a:lnTo>
                    <a:pt x="165982" y="594447"/>
                  </a:lnTo>
                  <a:lnTo>
                    <a:pt x="207001" y="612825"/>
                  </a:lnTo>
                  <a:lnTo>
                    <a:pt x="249751" y="625078"/>
                  </a:lnTo>
                  <a:lnTo>
                    <a:pt x="293539" y="631204"/>
                  </a:lnTo>
                  <a:lnTo>
                    <a:pt x="337674" y="631204"/>
                  </a:lnTo>
                  <a:lnTo>
                    <a:pt x="381462" y="625078"/>
                  </a:lnTo>
                  <a:lnTo>
                    <a:pt x="424212" y="612825"/>
                  </a:lnTo>
                  <a:lnTo>
                    <a:pt x="465231" y="594447"/>
                  </a:lnTo>
                  <a:lnTo>
                    <a:pt x="503828" y="569942"/>
                  </a:lnTo>
                  <a:lnTo>
                    <a:pt x="539311" y="539311"/>
                  </a:lnTo>
                  <a:lnTo>
                    <a:pt x="569942" y="503828"/>
                  </a:lnTo>
                  <a:lnTo>
                    <a:pt x="594447" y="465231"/>
                  </a:lnTo>
                  <a:lnTo>
                    <a:pt x="612825" y="424212"/>
                  </a:lnTo>
                  <a:lnTo>
                    <a:pt x="625078" y="381462"/>
                  </a:lnTo>
                  <a:lnTo>
                    <a:pt x="631204" y="337674"/>
                  </a:lnTo>
                  <a:lnTo>
                    <a:pt x="631204" y="293539"/>
                  </a:lnTo>
                  <a:lnTo>
                    <a:pt x="625078" y="249751"/>
                  </a:lnTo>
                  <a:lnTo>
                    <a:pt x="612825" y="207001"/>
                  </a:lnTo>
                  <a:lnTo>
                    <a:pt x="594447" y="165982"/>
                  </a:lnTo>
                  <a:lnTo>
                    <a:pt x="569942" y="127385"/>
                  </a:lnTo>
                  <a:lnTo>
                    <a:pt x="539311" y="91902"/>
                  </a:lnTo>
                  <a:lnTo>
                    <a:pt x="503828" y="61268"/>
                  </a:lnTo>
                  <a:lnTo>
                    <a:pt x="465231" y="36761"/>
                  </a:lnTo>
                  <a:lnTo>
                    <a:pt x="424212" y="18380"/>
                  </a:lnTo>
                  <a:lnTo>
                    <a:pt x="381462" y="6126"/>
                  </a:lnTo>
                  <a:lnTo>
                    <a:pt x="337674" y="0"/>
                  </a:lnTo>
                  <a:close/>
                </a:path>
              </a:pathLst>
            </a:custGeom>
            <a:solidFill>
              <a:srgbClr val="0F4ABE">
                <a:alpha val="6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3">
              <a:extLst>
                <a:ext uri="{FF2B5EF4-FFF2-40B4-BE49-F238E27FC236}">
                  <a16:creationId xmlns:a16="http://schemas.microsoft.com/office/drawing/2014/main" id="{B17848B9-5379-4DA8-8025-0AFDAF5EA149}"/>
                </a:ext>
              </a:extLst>
            </p:cNvPr>
            <p:cNvSpPr txBox="1">
              <a:spLocks/>
            </p:cNvSpPr>
            <p:nvPr/>
          </p:nvSpPr>
          <p:spPr>
            <a:xfrm>
              <a:off x="1012689" y="683435"/>
              <a:ext cx="180340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 sz="3500" b="0" i="0">
                  <a:solidFill>
                    <a:srgbClr val="3E3A39"/>
                  </a:solidFill>
                  <a:latin typeface="幼圆"/>
                  <a:ea typeface="+mj-ea"/>
                  <a:cs typeface="幼圆"/>
                </a:defRPr>
              </a:lvl1pPr>
            </a:lstStyle>
            <a:p>
              <a:pPr marL="12700">
                <a:spcBef>
                  <a:spcPts val="100"/>
                </a:spcBef>
              </a:pPr>
              <a:r>
                <a:rPr lang="zh-CN" altLang="en-US" sz="2400" b="1" kern="0" dirty="0">
                  <a:latin typeface="幼圆" panose="02010509060101010101" pitchFamily="49" charset="-122"/>
                  <a:ea typeface="幼圆" panose="02010509060101010101" pitchFamily="49" charset="-122"/>
                </a:rPr>
                <a:t>竞品分析</a:t>
              </a:r>
              <a:endParaRPr lang="en-US" altLang="zh-CN" sz="2400" b="1" kern="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8" name="object 16">
              <a:extLst>
                <a:ext uri="{FF2B5EF4-FFF2-40B4-BE49-F238E27FC236}">
                  <a16:creationId xmlns:a16="http://schemas.microsoft.com/office/drawing/2014/main" id="{12A1687B-A632-4468-905B-7890C51AB9AA}"/>
                </a:ext>
              </a:extLst>
            </p:cNvPr>
            <p:cNvSpPr txBox="1"/>
            <p:nvPr/>
          </p:nvSpPr>
          <p:spPr>
            <a:xfrm>
              <a:off x="1012689" y="1147480"/>
              <a:ext cx="216789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600" spc="5" dirty="0">
                  <a:solidFill>
                    <a:srgbClr val="898989"/>
                  </a:solidFill>
                  <a:latin typeface="Calibri"/>
                  <a:cs typeface="Calibri"/>
                </a:rPr>
                <a:t>Competitive Analysis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04DEF9-9F4E-4C14-A9BC-70A736CFDA51}"/>
              </a:ext>
            </a:extLst>
          </p:cNvPr>
          <p:cNvSpPr/>
          <p:nvPr/>
        </p:nvSpPr>
        <p:spPr>
          <a:xfrm>
            <a:off x="2319887" y="1714034"/>
            <a:ext cx="2212443" cy="946329"/>
          </a:xfrm>
          <a:prstGeom prst="roundRect">
            <a:avLst/>
          </a:prstGeom>
          <a:solidFill>
            <a:srgbClr val="F8D5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费曼</a:t>
            </a:r>
            <a:endParaRPr lang="en-US" altLang="zh-CN" sz="28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安抚海马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B525751-8C65-4B0D-BE9F-33CDDEA23179}"/>
              </a:ext>
            </a:extLst>
          </p:cNvPr>
          <p:cNvSpPr/>
          <p:nvPr/>
        </p:nvSpPr>
        <p:spPr>
          <a:xfrm>
            <a:off x="7370122" y="2239308"/>
            <a:ext cx="5312215" cy="6201018"/>
          </a:xfrm>
          <a:custGeom>
            <a:avLst/>
            <a:gdLst>
              <a:gd name="connsiteX0" fmla="*/ 0 w 5312215"/>
              <a:gd name="connsiteY0" fmla="*/ 0 h 6201018"/>
              <a:gd name="connsiteX1" fmla="*/ 5312215 w 5312215"/>
              <a:gd name="connsiteY1" fmla="*/ 0 h 6201018"/>
              <a:gd name="connsiteX2" fmla="*/ 5312215 w 5312215"/>
              <a:gd name="connsiteY2" fmla="*/ 6201018 h 6201018"/>
              <a:gd name="connsiteX3" fmla="*/ 0 w 5312215"/>
              <a:gd name="connsiteY3" fmla="*/ 6201018 h 6201018"/>
              <a:gd name="connsiteX4" fmla="*/ 0 w 5312215"/>
              <a:gd name="connsiteY4" fmla="*/ 0 h 620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2215" h="6201018" extrusionOk="0">
                <a:moveTo>
                  <a:pt x="0" y="0"/>
                </a:moveTo>
                <a:cubicBezTo>
                  <a:pt x="1719041" y="-36650"/>
                  <a:pt x="2747288" y="-3840"/>
                  <a:pt x="5312215" y="0"/>
                </a:cubicBezTo>
                <a:cubicBezTo>
                  <a:pt x="5372976" y="2789455"/>
                  <a:pt x="5447351" y="5036874"/>
                  <a:pt x="5312215" y="6201018"/>
                </a:cubicBezTo>
                <a:cubicBezTo>
                  <a:pt x="4310587" y="6156761"/>
                  <a:pt x="1893258" y="6063020"/>
                  <a:pt x="0" y="6201018"/>
                </a:cubicBezTo>
                <a:cubicBezTo>
                  <a:pt x="-72092" y="3506937"/>
                  <a:pt x="-150349" y="2490279"/>
                  <a:pt x="0" y="0"/>
                </a:cubicBezTo>
                <a:close/>
              </a:path>
            </a:pathLst>
          </a:custGeom>
          <a:noFill/>
          <a:ln w="57150">
            <a:prstDash val="solid"/>
            <a:extLst>
              <a:ext uri="{C807C97D-BFC1-408E-A445-0C87EB9F89A2}">
                <ask:lineSketchStyleProps xmlns:ask="http://schemas.microsoft.com/office/drawing/2018/sketchyshapes" sd="320296678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EBCB7994-EAB3-465E-8330-CA52DD2441A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" b="87"/>
          <a:stretch/>
        </p:blipFill>
        <p:spPr bwMode="auto">
          <a:xfrm>
            <a:off x="11533222" y="6863087"/>
            <a:ext cx="2085432" cy="2081822"/>
          </a:xfrm>
          <a:prstGeom prst="ellipse">
            <a:avLst/>
          </a:prstGeom>
          <a:ln w="63500"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269A2CF-B8F8-4AAE-9311-FD33CA516B73}"/>
              </a:ext>
            </a:extLst>
          </p:cNvPr>
          <p:cNvSpPr/>
          <p:nvPr/>
        </p:nvSpPr>
        <p:spPr>
          <a:xfrm>
            <a:off x="8820059" y="1708618"/>
            <a:ext cx="2212443" cy="946329"/>
          </a:xfrm>
          <a:prstGeom prst="roundRect">
            <a:avLst/>
          </a:prstGeom>
          <a:solidFill>
            <a:srgbClr val="C9E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125"/>
              </a:spcAft>
            </a:pPr>
            <a:r>
              <a:rPr lang="zh-CN" altLang="zh-CN" sz="2400" b="1" kern="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科大讯飞</a:t>
            </a:r>
            <a:endParaRPr lang="en-US" altLang="zh-CN" sz="2400" b="1" kern="0" dirty="0">
              <a:solidFill>
                <a:schemeClr val="bg1"/>
              </a:solidFill>
              <a:effectLst/>
              <a:latin typeface="等线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spcAft>
                <a:spcPts val="1125"/>
              </a:spcAft>
            </a:pPr>
            <a:r>
              <a:rPr lang="zh-CN" altLang="zh-CN" sz="2400" b="1" kern="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阿尔法蛋</a:t>
            </a:r>
            <a:r>
              <a:rPr lang="en-US" altLang="zh-CN" sz="2400" b="1" kern="0" dirty="0">
                <a:solidFill>
                  <a:schemeClr val="bg1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endParaRPr lang="zh-CN" altLang="zh-CN" sz="2400" kern="100" dirty="0">
              <a:solidFill>
                <a:schemeClr val="bg1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9245C8A-B54A-4646-BA2B-C28FC994614D}"/>
              </a:ext>
            </a:extLst>
          </p:cNvPr>
          <p:cNvSpPr txBox="1"/>
          <p:nvPr/>
        </p:nvSpPr>
        <p:spPr>
          <a:xfrm>
            <a:off x="7727950" y="2866878"/>
            <a:ext cx="4560340" cy="469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76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产品定位：</a:t>
            </a:r>
            <a:endParaRPr lang="en-US" altLang="zh-CN" sz="2300" b="1" dirty="0">
              <a:solidFill>
                <a:srgbClr val="0F4ABE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ts val="276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专为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0-12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岁儿童而打造的一款智能陪伴教育机器人</a:t>
            </a:r>
          </a:p>
          <a:p>
            <a:pPr>
              <a:lnSpc>
                <a:spcPct val="20000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优势：</a:t>
            </a:r>
          </a:p>
          <a:p>
            <a:pPr>
              <a:lnSpc>
                <a:spcPts val="276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朗读绘本，远程微聊，语音互动 英语学习，百度解答 无屏设计，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LED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灯点显示屏幕内容 习惯养成，记录孩子每一刻</a:t>
            </a:r>
          </a:p>
          <a:p>
            <a:pPr>
              <a:lnSpc>
                <a:spcPct val="20000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劣势：</a:t>
            </a:r>
          </a:p>
          <a:p>
            <a:pPr>
              <a:lnSpc>
                <a:spcPts val="2760"/>
              </a:lnSpc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外形单一，配色引不起兴趣 不防水，携带不便 开关位置尴尬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9399723" y="2231549"/>
            <a:ext cx="1612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幼圆"/>
                <a:cs typeface="幼圆"/>
              </a:rPr>
              <a:t>智能卢米斯</a:t>
            </a:r>
            <a:endParaRPr sz="2500">
              <a:latin typeface="幼圆"/>
              <a:cs typeface="幼圆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15994" y="2302395"/>
            <a:ext cx="1582420" cy="314960"/>
            <a:chOff x="9415994" y="2302395"/>
            <a:chExt cx="1582420" cy="3149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15994" y="2304061"/>
              <a:ext cx="295478" cy="30620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8066" y="2304879"/>
              <a:ext cx="290828" cy="3111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056514" y="2308745"/>
              <a:ext cx="283845" cy="300990"/>
            </a:xfrm>
            <a:custGeom>
              <a:avLst/>
              <a:gdLst/>
              <a:ahLst/>
              <a:cxnLst/>
              <a:rect l="l" t="t" r="r" b="b"/>
              <a:pathLst>
                <a:path w="283845" h="300989">
                  <a:moveTo>
                    <a:pt x="124853" y="9918"/>
                  </a:moveTo>
                  <a:lnTo>
                    <a:pt x="124853" y="66967"/>
                  </a:lnTo>
                  <a:lnTo>
                    <a:pt x="75247" y="66967"/>
                  </a:lnTo>
                  <a:lnTo>
                    <a:pt x="57880" y="69448"/>
                  </a:lnTo>
                  <a:lnTo>
                    <a:pt x="45478" y="76890"/>
                  </a:lnTo>
                  <a:lnTo>
                    <a:pt x="38039" y="89293"/>
                  </a:lnTo>
                  <a:lnTo>
                    <a:pt x="35560" y="106654"/>
                  </a:lnTo>
                  <a:lnTo>
                    <a:pt x="35560" y="163702"/>
                  </a:lnTo>
                  <a:lnTo>
                    <a:pt x="35402" y="197350"/>
                  </a:lnTo>
                  <a:lnTo>
                    <a:pt x="29976" y="228822"/>
                  </a:lnTo>
                  <a:lnTo>
                    <a:pt x="19281" y="258121"/>
                  </a:lnTo>
                  <a:lnTo>
                    <a:pt x="3314" y="285254"/>
                  </a:lnTo>
                  <a:lnTo>
                    <a:pt x="0" y="296824"/>
                  </a:lnTo>
                  <a:lnTo>
                    <a:pt x="3314" y="300951"/>
                  </a:lnTo>
                  <a:lnTo>
                    <a:pt x="13233" y="297649"/>
                  </a:lnTo>
                  <a:lnTo>
                    <a:pt x="30440" y="270522"/>
                  </a:lnTo>
                  <a:lnTo>
                    <a:pt x="42378" y="238744"/>
                  </a:lnTo>
                  <a:lnTo>
                    <a:pt x="49046" y="202312"/>
                  </a:lnTo>
                  <a:lnTo>
                    <a:pt x="50444" y="161226"/>
                  </a:lnTo>
                  <a:lnTo>
                    <a:pt x="224066" y="161226"/>
                  </a:lnTo>
                  <a:lnTo>
                    <a:pt x="243447" y="159991"/>
                  </a:lnTo>
                  <a:lnTo>
                    <a:pt x="256936" y="153790"/>
                  </a:lnTo>
                  <a:lnTo>
                    <a:pt x="264535" y="142627"/>
                  </a:lnTo>
                  <a:lnTo>
                    <a:pt x="266242" y="126504"/>
                  </a:lnTo>
                  <a:lnTo>
                    <a:pt x="266242" y="96735"/>
                  </a:lnTo>
                  <a:lnTo>
                    <a:pt x="266085" y="83710"/>
                  </a:lnTo>
                  <a:lnTo>
                    <a:pt x="260659" y="74407"/>
                  </a:lnTo>
                  <a:lnTo>
                    <a:pt x="249963" y="68827"/>
                  </a:lnTo>
                  <a:lnTo>
                    <a:pt x="233997" y="66967"/>
                  </a:lnTo>
                  <a:lnTo>
                    <a:pt x="139738" y="66967"/>
                  </a:lnTo>
                  <a:lnTo>
                    <a:pt x="139738" y="37198"/>
                  </a:lnTo>
                  <a:lnTo>
                    <a:pt x="273685" y="37198"/>
                  </a:lnTo>
                  <a:lnTo>
                    <a:pt x="283603" y="32245"/>
                  </a:lnTo>
                  <a:lnTo>
                    <a:pt x="283603" y="27279"/>
                  </a:lnTo>
                  <a:lnTo>
                    <a:pt x="273685" y="22326"/>
                  </a:lnTo>
                  <a:lnTo>
                    <a:pt x="139738" y="22326"/>
                  </a:lnTo>
                  <a:lnTo>
                    <a:pt x="139738" y="9918"/>
                  </a:lnTo>
                  <a:lnTo>
                    <a:pt x="134772" y="0"/>
                  </a:lnTo>
                  <a:lnTo>
                    <a:pt x="129819" y="0"/>
                  </a:lnTo>
                  <a:lnTo>
                    <a:pt x="124853" y="991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00609" y="2384247"/>
              <a:ext cx="213614" cy="7719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374013" y="2308745"/>
              <a:ext cx="300990" cy="302260"/>
            </a:xfrm>
            <a:custGeom>
              <a:avLst/>
              <a:gdLst/>
              <a:ahLst/>
              <a:cxnLst/>
              <a:rect l="l" t="t" r="r" b="b"/>
              <a:pathLst>
                <a:path w="300990" h="302260">
                  <a:moveTo>
                    <a:pt x="139738" y="9918"/>
                  </a:moveTo>
                  <a:lnTo>
                    <a:pt x="139738" y="128981"/>
                  </a:lnTo>
                  <a:lnTo>
                    <a:pt x="10756" y="128981"/>
                  </a:lnTo>
                  <a:lnTo>
                    <a:pt x="2476" y="133946"/>
                  </a:lnTo>
                  <a:lnTo>
                    <a:pt x="2476" y="138899"/>
                  </a:lnTo>
                  <a:lnTo>
                    <a:pt x="10756" y="143865"/>
                  </a:lnTo>
                  <a:lnTo>
                    <a:pt x="139738" y="143865"/>
                  </a:lnTo>
                  <a:lnTo>
                    <a:pt x="109815" y="182315"/>
                  </a:lnTo>
                  <a:lnTo>
                    <a:pt x="77103" y="215803"/>
                  </a:lnTo>
                  <a:lnTo>
                    <a:pt x="41602" y="244326"/>
                  </a:lnTo>
                  <a:lnTo>
                    <a:pt x="3314" y="267881"/>
                  </a:lnTo>
                  <a:lnTo>
                    <a:pt x="0" y="276136"/>
                  </a:lnTo>
                  <a:lnTo>
                    <a:pt x="3314" y="280288"/>
                  </a:lnTo>
                  <a:lnTo>
                    <a:pt x="13233" y="280288"/>
                  </a:lnTo>
                  <a:lnTo>
                    <a:pt x="50900" y="256568"/>
                  </a:lnTo>
                  <a:lnTo>
                    <a:pt x="84539" y="230060"/>
                  </a:lnTo>
                  <a:lnTo>
                    <a:pt x="114151" y="200761"/>
                  </a:lnTo>
                  <a:lnTo>
                    <a:pt x="139738" y="168668"/>
                  </a:lnTo>
                  <a:lnTo>
                    <a:pt x="139738" y="295173"/>
                  </a:lnTo>
                  <a:lnTo>
                    <a:pt x="144703" y="301777"/>
                  </a:lnTo>
                  <a:lnTo>
                    <a:pt x="149656" y="301777"/>
                  </a:lnTo>
                  <a:lnTo>
                    <a:pt x="154622" y="295173"/>
                  </a:lnTo>
                  <a:lnTo>
                    <a:pt x="154622" y="168668"/>
                  </a:lnTo>
                  <a:lnTo>
                    <a:pt x="181589" y="202005"/>
                  </a:lnTo>
                  <a:lnTo>
                    <a:pt x="212904" y="232543"/>
                  </a:lnTo>
                  <a:lnTo>
                    <a:pt x="248564" y="260290"/>
                  </a:lnTo>
                  <a:lnTo>
                    <a:pt x="288569" y="285254"/>
                  </a:lnTo>
                  <a:lnTo>
                    <a:pt x="298488" y="285254"/>
                  </a:lnTo>
                  <a:lnTo>
                    <a:pt x="300964" y="280288"/>
                  </a:lnTo>
                  <a:lnTo>
                    <a:pt x="296011" y="270370"/>
                  </a:lnTo>
                  <a:lnTo>
                    <a:pt x="255542" y="244790"/>
                  </a:lnTo>
                  <a:lnTo>
                    <a:pt x="218487" y="215180"/>
                  </a:lnTo>
                  <a:lnTo>
                    <a:pt x="184847" y="181539"/>
                  </a:lnTo>
                  <a:lnTo>
                    <a:pt x="154622" y="143865"/>
                  </a:lnTo>
                  <a:lnTo>
                    <a:pt x="288569" y="143865"/>
                  </a:lnTo>
                  <a:lnTo>
                    <a:pt x="296824" y="138899"/>
                  </a:lnTo>
                  <a:lnTo>
                    <a:pt x="296824" y="133946"/>
                  </a:lnTo>
                  <a:lnTo>
                    <a:pt x="288569" y="128981"/>
                  </a:lnTo>
                  <a:lnTo>
                    <a:pt x="154622" y="128981"/>
                  </a:lnTo>
                  <a:lnTo>
                    <a:pt x="154622" y="9918"/>
                  </a:lnTo>
                  <a:lnTo>
                    <a:pt x="149656" y="0"/>
                  </a:lnTo>
                  <a:lnTo>
                    <a:pt x="144703" y="0"/>
                  </a:lnTo>
                  <a:lnTo>
                    <a:pt x="139738" y="991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01559" y="2326386"/>
              <a:ext cx="78854" cy="11024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64450" y="2326425"/>
              <a:ext cx="82156" cy="1126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35614" y="2359444"/>
              <a:ext cx="104470" cy="24998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843653" y="2328583"/>
              <a:ext cx="148590" cy="280035"/>
            </a:xfrm>
            <a:custGeom>
              <a:avLst/>
              <a:gdLst/>
              <a:ahLst/>
              <a:cxnLst/>
              <a:rect l="l" t="t" r="r" b="b"/>
              <a:pathLst>
                <a:path w="148590" h="280035">
                  <a:moveTo>
                    <a:pt x="0" y="262928"/>
                  </a:moveTo>
                  <a:lnTo>
                    <a:pt x="0" y="272859"/>
                  </a:lnTo>
                  <a:lnTo>
                    <a:pt x="4127" y="276148"/>
                  </a:lnTo>
                  <a:lnTo>
                    <a:pt x="34105" y="225109"/>
                  </a:lnTo>
                  <a:lnTo>
                    <a:pt x="39687" y="171157"/>
                  </a:lnTo>
                  <a:lnTo>
                    <a:pt x="39687" y="89293"/>
                  </a:lnTo>
                  <a:lnTo>
                    <a:pt x="89293" y="89293"/>
                  </a:lnTo>
                  <a:lnTo>
                    <a:pt x="89293" y="272859"/>
                  </a:lnTo>
                  <a:lnTo>
                    <a:pt x="94259" y="279463"/>
                  </a:lnTo>
                  <a:lnTo>
                    <a:pt x="99225" y="279463"/>
                  </a:lnTo>
                  <a:lnTo>
                    <a:pt x="104178" y="272859"/>
                  </a:lnTo>
                  <a:lnTo>
                    <a:pt x="104178" y="89293"/>
                  </a:lnTo>
                  <a:lnTo>
                    <a:pt x="141389" y="89293"/>
                  </a:lnTo>
                  <a:lnTo>
                    <a:pt x="147993" y="84340"/>
                  </a:lnTo>
                  <a:lnTo>
                    <a:pt x="147993" y="79375"/>
                  </a:lnTo>
                  <a:lnTo>
                    <a:pt x="141389" y="74422"/>
                  </a:lnTo>
                  <a:lnTo>
                    <a:pt x="39687" y="74422"/>
                  </a:lnTo>
                  <a:lnTo>
                    <a:pt x="39687" y="37210"/>
                  </a:lnTo>
                  <a:lnTo>
                    <a:pt x="39687" y="30594"/>
                  </a:lnTo>
                  <a:lnTo>
                    <a:pt x="42163" y="26479"/>
                  </a:lnTo>
                  <a:lnTo>
                    <a:pt x="47129" y="24803"/>
                  </a:lnTo>
                  <a:lnTo>
                    <a:pt x="68053" y="22331"/>
                  </a:lnTo>
                  <a:lnTo>
                    <a:pt x="88669" y="19853"/>
                  </a:lnTo>
                  <a:lnTo>
                    <a:pt x="108978" y="17370"/>
                  </a:lnTo>
                  <a:lnTo>
                    <a:pt x="128981" y="14884"/>
                  </a:lnTo>
                  <a:lnTo>
                    <a:pt x="135597" y="8280"/>
                  </a:lnTo>
                  <a:lnTo>
                    <a:pt x="134759" y="3314"/>
                  </a:lnTo>
                  <a:lnTo>
                    <a:pt x="126504" y="0"/>
                  </a:lnTo>
                  <a:lnTo>
                    <a:pt x="105263" y="2638"/>
                  </a:lnTo>
                  <a:lnTo>
                    <a:pt x="61857" y="8840"/>
                  </a:lnTo>
                  <a:lnTo>
                    <a:pt x="24803" y="20675"/>
                  </a:lnTo>
                  <a:lnTo>
                    <a:pt x="24803" y="32245"/>
                  </a:lnTo>
                  <a:lnTo>
                    <a:pt x="24803" y="168668"/>
                  </a:lnTo>
                  <a:lnTo>
                    <a:pt x="24181" y="195960"/>
                  </a:lnTo>
                  <a:lnTo>
                    <a:pt x="19840" y="220765"/>
                  </a:lnTo>
                  <a:lnTo>
                    <a:pt x="11780" y="243086"/>
                  </a:lnTo>
                  <a:lnTo>
                    <a:pt x="0" y="26292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84331" y="2303221"/>
              <a:ext cx="187159" cy="305384"/>
            </a:xfrm>
            <a:prstGeom prst="rect">
              <a:avLst/>
            </a:prstGeom>
          </p:spPr>
        </p:pic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71479D01-35C5-4C3D-808F-6C069190BBC3}"/>
              </a:ext>
            </a:extLst>
          </p:cNvPr>
          <p:cNvSpPr/>
          <p:nvPr/>
        </p:nvSpPr>
        <p:spPr>
          <a:xfrm>
            <a:off x="869950" y="2244724"/>
            <a:ext cx="5312215" cy="6201018"/>
          </a:xfrm>
          <a:custGeom>
            <a:avLst/>
            <a:gdLst>
              <a:gd name="connsiteX0" fmla="*/ 0 w 5312215"/>
              <a:gd name="connsiteY0" fmla="*/ 0 h 6201018"/>
              <a:gd name="connsiteX1" fmla="*/ 5312215 w 5312215"/>
              <a:gd name="connsiteY1" fmla="*/ 0 h 6201018"/>
              <a:gd name="connsiteX2" fmla="*/ 5312215 w 5312215"/>
              <a:gd name="connsiteY2" fmla="*/ 6201018 h 6201018"/>
              <a:gd name="connsiteX3" fmla="*/ 0 w 5312215"/>
              <a:gd name="connsiteY3" fmla="*/ 6201018 h 6201018"/>
              <a:gd name="connsiteX4" fmla="*/ 0 w 5312215"/>
              <a:gd name="connsiteY4" fmla="*/ 0 h 620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2215" h="6201018" extrusionOk="0">
                <a:moveTo>
                  <a:pt x="0" y="0"/>
                </a:moveTo>
                <a:cubicBezTo>
                  <a:pt x="1719041" y="-36650"/>
                  <a:pt x="2747288" y="-3840"/>
                  <a:pt x="5312215" y="0"/>
                </a:cubicBezTo>
                <a:cubicBezTo>
                  <a:pt x="5372976" y="2789455"/>
                  <a:pt x="5447351" y="5036874"/>
                  <a:pt x="5312215" y="6201018"/>
                </a:cubicBezTo>
                <a:cubicBezTo>
                  <a:pt x="4310587" y="6156761"/>
                  <a:pt x="1893258" y="6063020"/>
                  <a:pt x="0" y="6201018"/>
                </a:cubicBezTo>
                <a:cubicBezTo>
                  <a:pt x="-72092" y="3506937"/>
                  <a:pt x="-150349" y="2490279"/>
                  <a:pt x="0" y="0"/>
                </a:cubicBezTo>
                <a:close/>
              </a:path>
            </a:pathLst>
          </a:custGeom>
          <a:noFill/>
          <a:ln w="57150">
            <a:prstDash val="solid"/>
            <a:extLst>
              <a:ext uri="{C807C97D-BFC1-408E-A445-0C87EB9F89A2}">
                <ask:lineSketchStyleProps xmlns:ask="http://schemas.microsoft.com/office/drawing/2018/sketchyshapes" sd="320296678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E635092-BABB-4E02-B69D-482AEB7A5E0D}"/>
              </a:ext>
            </a:extLst>
          </p:cNvPr>
          <p:cNvSpPr/>
          <p:nvPr/>
        </p:nvSpPr>
        <p:spPr>
          <a:xfrm>
            <a:off x="2319887" y="1714034"/>
            <a:ext cx="2212443" cy="946329"/>
          </a:xfrm>
          <a:prstGeom prst="roundRect">
            <a:avLst/>
          </a:prstGeom>
          <a:solidFill>
            <a:srgbClr val="F6DE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err="1">
                <a:latin typeface="幼圆" panose="02010509060101010101" pitchFamily="49" charset="-122"/>
                <a:ea typeface="幼圆" panose="02010509060101010101" pitchFamily="49" charset="-122"/>
              </a:rPr>
              <a:t>LukaMini</a:t>
            </a:r>
            <a:endParaRPr lang="en-US" altLang="zh-CN" sz="28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早教机器人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6DFD05B-FE5C-4F5E-88BD-05C2CDD96FE3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9" r="2409"/>
          <a:stretch/>
        </p:blipFill>
        <p:spPr bwMode="auto">
          <a:xfrm>
            <a:off x="5033050" y="6868503"/>
            <a:ext cx="2085432" cy="2081822"/>
          </a:xfrm>
          <a:prstGeom prst="ellipse">
            <a:avLst/>
          </a:prstGeom>
          <a:ln w="63500"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29CCC48F-60FE-4200-80B3-0D3B897761A5}"/>
              </a:ext>
            </a:extLst>
          </p:cNvPr>
          <p:cNvSpPr txBox="1"/>
          <p:nvPr/>
        </p:nvSpPr>
        <p:spPr>
          <a:xfrm>
            <a:off x="1334620" y="2553781"/>
            <a:ext cx="456453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产品定位：</a:t>
            </a:r>
            <a:endParaRPr lang="en-US" altLang="zh-CN" sz="2300" b="1" dirty="0">
              <a:solidFill>
                <a:srgbClr val="0F4ABE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宋体" panose="02010600030101010101" pitchFamily="2" charset="-122"/>
              </a:rPr>
              <a:t>0-6</a:t>
            </a:r>
            <a:r>
              <a:rPr lang="zh-CN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  <a:cs typeface="宋体" panose="02010600030101010101" pitchFamily="2" charset="-122"/>
              </a:rPr>
              <a:t>岁学龄前儿童的启蒙故事机</a:t>
            </a:r>
            <a:endParaRPr lang="zh-CN" altLang="zh-CN" b="1" kern="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优势：</a:t>
            </a: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多方面覆盖</a:t>
            </a:r>
            <a:r>
              <a:rPr lang="en-US" altLang="zh-CN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0-6</a:t>
            </a:r>
            <a:r>
              <a:rPr lang="zh-CN" altLang="en-US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岁的宝宝成长期</a:t>
            </a:r>
            <a:endParaRPr lang="zh-CN" altLang="en-US" b="1" dirty="0">
              <a:solidFill>
                <a:srgbClr val="73737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能记住宝宝的阅读喜好，拥有专属云盘扩容，收听内容自主</a:t>
            </a:r>
            <a:r>
              <a:rPr lang="en-US" altLang="zh-CN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DIY</a:t>
            </a:r>
            <a:endParaRPr lang="zh-CN" altLang="en-US" b="1" dirty="0">
              <a:solidFill>
                <a:srgbClr val="73737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APP</a:t>
            </a:r>
            <a:r>
              <a:rPr lang="zh-CN" altLang="en-US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远程点播，操作简单</a:t>
            </a:r>
            <a:endParaRPr lang="zh-CN" altLang="en-US" b="1" dirty="0">
              <a:solidFill>
                <a:srgbClr val="73737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柔光角灯，小巧抓握，安抚宝宝入睡</a:t>
            </a:r>
            <a:endParaRPr lang="zh-CN" altLang="en-US" b="1" dirty="0">
              <a:solidFill>
                <a:srgbClr val="73737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进口防水外壳，安全硅胶材料</a:t>
            </a:r>
            <a:endParaRPr lang="en-US" altLang="zh-CN" b="1" i="0" dirty="0">
              <a:solidFill>
                <a:srgbClr val="737373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劣势：</a:t>
            </a:r>
          </a:p>
          <a:p>
            <a:pPr>
              <a:lnSpc>
                <a:spcPct val="150000"/>
              </a:lnSpc>
            </a:pPr>
            <a:r>
              <a:rPr lang="zh-CN" altLang="en-US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价格较高，性价比不高</a:t>
            </a:r>
            <a:endParaRPr lang="zh-CN" altLang="en-US" b="1" dirty="0">
              <a:solidFill>
                <a:srgbClr val="73737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b="1" i="0" dirty="0">
                <a:solidFill>
                  <a:srgbClr val="737373"/>
                </a:solidFill>
                <a:effectLst/>
                <a:latin typeface="幼圆" panose="02010509060101010101" pitchFamily="49" charset="-122"/>
                <a:ea typeface="幼圆" panose="02010509060101010101" pitchFamily="49" charset="-122"/>
              </a:rPr>
              <a:t>功能过于单</a:t>
            </a:r>
            <a:endParaRPr lang="zh-CN" altLang="en-US" b="1" dirty="0">
              <a:solidFill>
                <a:srgbClr val="737373"/>
              </a:solidFill>
              <a:effectLst/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15822FB-8B22-4CB3-99D3-7AD6D1653D9E}"/>
              </a:ext>
            </a:extLst>
          </p:cNvPr>
          <p:cNvSpPr/>
          <p:nvPr/>
        </p:nvSpPr>
        <p:spPr>
          <a:xfrm>
            <a:off x="7370122" y="2239308"/>
            <a:ext cx="5312215" cy="6201018"/>
          </a:xfrm>
          <a:custGeom>
            <a:avLst/>
            <a:gdLst>
              <a:gd name="connsiteX0" fmla="*/ 0 w 5312215"/>
              <a:gd name="connsiteY0" fmla="*/ 0 h 6201018"/>
              <a:gd name="connsiteX1" fmla="*/ 5312215 w 5312215"/>
              <a:gd name="connsiteY1" fmla="*/ 0 h 6201018"/>
              <a:gd name="connsiteX2" fmla="*/ 5312215 w 5312215"/>
              <a:gd name="connsiteY2" fmla="*/ 6201018 h 6201018"/>
              <a:gd name="connsiteX3" fmla="*/ 0 w 5312215"/>
              <a:gd name="connsiteY3" fmla="*/ 6201018 h 6201018"/>
              <a:gd name="connsiteX4" fmla="*/ 0 w 5312215"/>
              <a:gd name="connsiteY4" fmla="*/ 0 h 6201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12215" h="6201018" extrusionOk="0">
                <a:moveTo>
                  <a:pt x="0" y="0"/>
                </a:moveTo>
                <a:cubicBezTo>
                  <a:pt x="1719041" y="-36650"/>
                  <a:pt x="2747288" y="-3840"/>
                  <a:pt x="5312215" y="0"/>
                </a:cubicBezTo>
                <a:cubicBezTo>
                  <a:pt x="5372976" y="2789455"/>
                  <a:pt x="5447351" y="5036874"/>
                  <a:pt x="5312215" y="6201018"/>
                </a:cubicBezTo>
                <a:cubicBezTo>
                  <a:pt x="4310587" y="6156761"/>
                  <a:pt x="1893258" y="6063020"/>
                  <a:pt x="0" y="6201018"/>
                </a:cubicBezTo>
                <a:cubicBezTo>
                  <a:pt x="-72092" y="3506937"/>
                  <a:pt x="-150349" y="2490279"/>
                  <a:pt x="0" y="0"/>
                </a:cubicBezTo>
                <a:close/>
              </a:path>
            </a:pathLst>
          </a:custGeom>
          <a:noFill/>
          <a:ln w="57150">
            <a:prstDash val="solid"/>
            <a:extLst>
              <a:ext uri="{C807C97D-BFC1-408E-A445-0C87EB9F89A2}">
                <ask:lineSketchStyleProps xmlns:ask="http://schemas.microsoft.com/office/drawing/2018/sketchyshapes" sd="3202966789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9251E0E0-78DA-4B5A-B379-18A928F50670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1" r="21951"/>
          <a:stretch/>
        </p:blipFill>
        <p:spPr bwMode="auto">
          <a:xfrm>
            <a:off x="11533222" y="6863087"/>
            <a:ext cx="2085432" cy="2081822"/>
          </a:xfrm>
          <a:prstGeom prst="ellipse">
            <a:avLst/>
          </a:prstGeom>
          <a:ln w="63500" cap="rnd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2C88C64-3BCF-4982-B3AE-B5D057AB0CB0}"/>
              </a:ext>
            </a:extLst>
          </p:cNvPr>
          <p:cNvSpPr/>
          <p:nvPr/>
        </p:nvSpPr>
        <p:spPr>
          <a:xfrm>
            <a:off x="8820059" y="1708618"/>
            <a:ext cx="2212443" cy="946329"/>
          </a:xfrm>
          <a:prstGeom prst="roundRect">
            <a:avLst/>
          </a:prstGeom>
          <a:solidFill>
            <a:srgbClr val="C9E3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智能卢米斯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4F36E21-E578-4FF2-A622-2F9A5F3E6A9C}"/>
              </a:ext>
            </a:extLst>
          </p:cNvPr>
          <p:cNvGrpSpPr/>
          <p:nvPr/>
        </p:nvGrpSpPr>
        <p:grpSpPr>
          <a:xfrm>
            <a:off x="717550" y="472023"/>
            <a:ext cx="2463029" cy="934502"/>
            <a:chOff x="717550" y="472023"/>
            <a:chExt cx="2463029" cy="934502"/>
          </a:xfrm>
        </p:grpSpPr>
        <p:sp>
          <p:nvSpPr>
            <p:cNvPr id="45" name="object 2">
              <a:extLst>
                <a:ext uri="{FF2B5EF4-FFF2-40B4-BE49-F238E27FC236}">
                  <a16:creationId xmlns:a16="http://schemas.microsoft.com/office/drawing/2014/main" id="{26671133-DAB3-48CC-920B-3AF1301479AE}"/>
                </a:ext>
              </a:extLst>
            </p:cNvPr>
            <p:cNvSpPr/>
            <p:nvPr/>
          </p:nvSpPr>
          <p:spPr>
            <a:xfrm>
              <a:off x="717550" y="472023"/>
              <a:ext cx="532014" cy="532014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337674" y="0"/>
                  </a:moveTo>
                  <a:lnTo>
                    <a:pt x="293539" y="0"/>
                  </a:lnTo>
                  <a:lnTo>
                    <a:pt x="249751" y="6126"/>
                  </a:lnTo>
                  <a:lnTo>
                    <a:pt x="207001" y="18380"/>
                  </a:lnTo>
                  <a:lnTo>
                    <a:pt x="165982" y="36761"/>
                  </a:lnTo>
                  <a:lnTo>
                    <a:pt x="127385" y="61268"/>
                  </a:lnTo>
                  <a:lnTo>
                    <a:pt x="91902" y="91902"/>
                  </a:lnTo>
                  <a:lnTo>
                    <a:pt x="61268" y="127385"/>
                  </a:lnTo>
                  <a:lnTo>
                    <a:pt x="36761" y="165982"/>
                  </a:lnTo>
                  <a:lnTo>
                    <a:pt x="18380" y="207001"/>
                  </a:lnTo>
                  <a:lnTo>
                    <a:pt x="6126" y="249751"/>
                  </a:lnTo>
                  <a:lnTo>
                    <a:pt x="0" y="293539"/>
                  </a:lnTo>
                  <a:lnTo>
                    <a:pt x="0" y="337674"/>
                  </a:lnTo>
                  <a:lnTo>
                    <a:pt x="6126" y="381462"/>
                  </a:lnTo>
                  <a:lnTo>
                    <a:pt x="18380" y="424212"/>
                  </a:lnTo>
                  <a:lnTo>
                    <a:pt x="36761" y="465231"/>
                  </a:lnTo>
                  <a:lnTo>
                    <a:pt x="61268" y="503828"/>
                  </a:lnTo>
                  <a:lnTo>
                    <a:pt x="91902" y="539311"/>
                  </a:lnTo>
                  <a:lnTo>
                    <a:pt x="127385" y="569942"/>
                  </a:lnTo>
                  <a:lnTo>
                    <a:pt x="165982" y="594447"/>
                  </a:lnTo>
                  <a:lnTo>
                    <a:pt x="207001" y="612825"/>
                  </a:lnTo>
                  <a:lnTo>
                    <a:pt x="249751" y="625078"/>
                  </a:lnTo>
                  <a:lnTo>
                    <a:pt x="293539" y="631204"/>
                  </a:lnTo>
                  <a:lnTo>
                    <a:pt x="337674" y="631204"/>
                  </a:lnTo>
                  <a:lnTo>
                    <a:pt x="381462" y="625078"/>
                  </a:lnTo>
                  <a:lnTo>
                    <a:pt x="424212" y="612825"/>
                  </a:lnTo>
                  <a:lnTo>
                    <a:pt x="465231" y="594447"/>
                  </a:lnTo>
                  <a:lnTo>
                    <a:pt x="503828" y="569942"/>
                  </a:lnTo>
                  <a:lnTo>
                    <a:pt x="539311" y="539311"/>
                  </a:lnTo>
                  <a:lnTo>
                    <a:pt x="569942" y="503828"/>
                  </a:lnTo>
                  <a:lnTo>
                    <a:pt x="594447" y="465231"/>
                  </a:lnTo>
                  <a:lnTo>
                    <a:pt x="612825" y="424212"/>
                  </a:lnTo>
                  <a:lnTo>
                    <a:pt x="625078" y="381462"/>
                  </a:lnTo>
                  <a:lnTo>
                    <a:pt x="631204" y="337674"/>
                  </a:lnTo>
                  <a:lnTo>
                    <a:pt x="631204" y="293539"/>
                  </a:lnTo>
                  <a:lnTo>
                    <a:pt x="625078" y="249751"/>
                  </a:lnTo>
                  <a:lnTo>
                    <a:pt x="612825" y="207001"/>
                  </a:lnTo>
                  <a:lnTo>
                    <a:pt x="594447" y="165982"/>
                  </a:lnTo>
                  <a:lnTo>
                    <a:pt x="569942" y="127385"/>
                  </a:lnTo>
                  <a:lnTo>
                    <a:pt x="539311" y="91902"/>
                  </a:lnTo>
                  <a:lnTo>
                    <a:pt x="503828" y="61268"/>
                  </a:lnTo>
                  <a:lnTo>
                    <a:pt x="465231" y="36761"/>
                  </a:lnTo>
                  <a:lnTo>
                    <a:pt x="424212" y="18380"/>
                  </a:lnTo>
                  <a:lnTo>
                    <a:pt x="381462" y="6126"/>
                  </a:lnTo>
                  <a:lnTo>
                    <a:pt x="337674" y="0"/>
                  </a:lnTo>
                  <a:close/>
                </a:path>
              </a:pathLst>
            </a:custGeom>
            <a:solidFill>
              <a:srgbClr val="0F4ABE">
                <a:alpha val="6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3">
              <a:extLst>
                <a:ext uri="{FF2B5EF4-FFF2-40B4-BE49-F238E27FC236}">
                  <a16:creationId xmlns:a16="http://schemas.microsoft.com/office/drawing/2014/main" id="{4FA0A715-EF75-4AF9-9FEE-CE3622EEB72A}"/>
                </a:ext>
              </a:extLst>
            </p:cNvPr>
            <p:cNvSpPr txBox="1">
              <a:spLocks/>
            </p:cNvSpPr>
            <p:nvPr/>
          </p:nvSpPr>
          <p:spPr>
            <a:xfrm>
              <a:off x="1012689" y="683435"/>
              <a:ext cx="180340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 sz="3500" b="0" i="0">
                  <a:solidFill>
                    <a:srgbClr val="3E3A39"/>
                  </a:solidFill>
                  <a:latin typeface="幼圆"/>
                  <a:ea typeface="+mj-ea"/>
                  <a:cs typeface="幼圆"/>
                </a:defRPr>
              </a:lvl1pPr>
            </a:lstStyle>
            <a:p>
              <a:pPr marL="12700">
                <a:spcBef>
                  <a:spcPts val="100"/>
                </a:spcBef>
              </a:pPr>
              <a:r>
                <a:rPr lang="zh-CN" altLang="en-US" sz="2400" b="1" kern="0" dirty="0">
                  <a:latin typeface="幼圆" panose="02010509060101010101" pitchFamily="49" charset="-122"/>
                  <a:ea typeface="幼圆" panose="02010509060101010101" pitchFamily="49" charset="-122"/>
                </a:rPr>
                <a:t>竞品分析</a:t>
              </a:r>
              <a:endParaRPr lang="en-US" altLang="zh-CN" sz="2400" b="1" kern="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47" name="object 16">
              <a:extLst>
                <a:ext uri="{FF2B5EF4-FFF2-40B4-BE49-F238E27FC236}">
                  <a16:creationId xmlns:a16="http://schemas.microsoft.com/office/drawing/2014/main" id="{5EAC4E46-04A5-4E1A-A749-CCA8EA6D3B59}"/>
                </a:ext>
              </a:extLst>
            </p:cNvPr>
            <p:cNvSpPr txBox="1"/>
            <p:nvPr/>
          </p:nvSpPr>
          <p:spPr>
            <a:xfrm>
              <a:off x="1012689" y="1147480"/>
              <a:ext cx="216789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600" spc="5" dirty="0">
                  <a:solidFill>
                    <a:srgbClr val="898989"/>
                  </a:solidFill>
                  <a:latin typeface="Calibri"/>
                  <a:cs typeface="Calibri"/>
                </a:rPr>
                <a:t>Competitive Analysis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D056A1B-FD41-4525-B329-BA111515D341}"/>
              </a:ext>
            </a:extLst>
          </p:cNvPr>
          <p:cNvSpPr txBox="1"/>
          <p:nvPr/>
        </p:nvSpPr>
        <p:spPr>
          <a:xfrm>
            <a:off x="7804150" y="2575409"/>
            <a:ext cx="4419600" cy="496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产品定位：</a:t>
            </a:r>
            <a:endParaRPr lang="en-US" altLang="zh-CN" sz="2300" b="1" dirty="0">
              <a:solidFill>
                <a:srgbClr val="0F4ABE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6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岁至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12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岁孩子设计的，记录孩子得分、表现，针对不同年龄孩子设计不同的游戏，致力于孩子的大脑发育</a:t>
            </a:r>
          </a:p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优势：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针对不同年龄孩子设计不同的游戏 游戏种类多种多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设计简约小巧，便于携带</a:t>
            </a:r>
          </a:p>
          <a:p>
            <a:pPr>
              <a:lnSpc>
                <a:spcPct val="150000"/>
              </a:lnSpc>
            </a:pPr>
            <a:r>
              <a:rPr lang="zh-CN" altLang="en-US" sz="2300" b="1" dirty="0">
                <a:solidFill>
                  <a:srgbClr val="0F4ABE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劣势：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依赖手机平板等电子设备 外观简约，难吸引孩子兴趣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981710" y="1453815"/>
            <a:ext cx="4155440" cy="108106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7305" marR="5080">
              <a:lnSpc>
                <a:spcPct val="100000"/>
              </a:lnSpc>
              <a:spcBef>
                <a:spcPts val="305"/>
              </a:spcBef>
            </a:pPr>
            <a:r>
              <a:rPr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cs typeface="微软雅黑"/>
              </a:rPr>
              <a:t>通过收集线上线下用户对于产品的评价</a:t>
            </a:r>
            <a:r>
              <a:rPr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cs typeface="微软雅黑"/>
              </a:rPr>
              <a:t>， 我们获得了以下数据...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cs typeface="微软雅黑"/>
            </a:endParaRPr>
          </a:p>
          <a:p>
            <a:pPr marL="14604">
              <a:lnSpc>
                <a:spcPct val="100000"/>
              </a:lnSpc>
              <a:spcBef>
                <a:spcPts val="1350"/>
              </a:spcBef>
            </a:pPr>
            <a:r>
              <a:rPr sz="1500" dirty="0">
                <a:solidFill>
                  <a:srgbClr val="3E3A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产品性能雷达图</a:t>
            </a:r>
            <a:endParaRPr sz="1500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70750" y="1635125"/>
            <a:ext cx="5939790" cy="10746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通过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竞</a:t>
            </a: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品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分</a:t>
            </a:r>
            <a:r>
              <a:rPr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析</a:t>
            </a:r>
            <a:endParaRPr sz="2300" dirty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cs typeface="微软雅黑"/>
            </a:endParaRPr>
          </a:p>
          <a:p>
            <a:pPr marL="12700" marR="293370">
              <a:lnSpc>
                <a:spcPct val="100000"/>
              </a:lnSpc>
            </a:pP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我</a:t>
            </a: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们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可</a:t>
            </a: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以初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步</a:t>
            </a: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了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解</a:t>
            </a: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设计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一</a:t>
            </a: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个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婴</a:t>
            </a: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儿智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能</a:t>
            </a:r>
            <a:r>
              <a:rPr sz="2300" b="1" spc="3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玩</a:t>
            </a:r>
            <a:r>
              <a:rPr sz="2300" b="1" spc="25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具</a:t>
            </a:r>
            <a:r>
              <a:rPr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的 </a:t>
            </a:r>
            <a:r>
              <a:rPr sz="2300" b="1" spc="3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核</a:t>
            </a:r>
            <a:r>
              <a:rPr sz="2300" b="1" spc="2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心</a:t>
            </a:r>
            <a:r>
              <a:rPr sz="2300" b="1" spc="3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发</a:t>
            </a:r>
            <a:r>
              <a:rPr sz="2300" b="1" spc="2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展</a:t>
            </a:r>
            <a:r>
              <a:rPr sz="2300" b="1" spc="3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方向</a:t>
            </a:r>
            <a:r>
              <a:rPr sz="2300" b="1" spc="2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及</a:t>
            </a:r>
            <a:r>
              <a:rPr sz="2300" b="1" spc="3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需</a:t>
            </a:r>
            <a:r>
              <a:rPr sz="2300" b="1" spc="2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要</a:t>
            </a:r>
            <a:r>
              <a:rPr sz="2300" b="1" spc="3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规避</a:t>
            </a:r>
            <a:r>
              <a:rPr sz="2300" b="1" spc="25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的</a:t>
            </a:r>
            <a:r>
              <a:rPr sz="2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误区</a:t>
            </a:r>
            <a:r>
              <a:rPr sz="2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cs typeface="微软雅黑"/>
              </a:rPr>
              <a:t>：</a:t>
            </a:r>
            <a:endParaRPr sz="2300" dirty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cs typeface="微软雅黑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70492D1-7397-435D-A387-D5EB549486AC}"/>
              </a:ext>
            </a:extLst>
          </p:cNvPr>
          <p:cNvGrpSpPr/>
          <p:nvPr/>
        </p:nvGrpSpPr>
        <p:grpSpPr>
          <a:xfrm>
            <a:off x="954875" y="4979406"/>
            <a:ext cx="5856483" cy="3437519"/>
            <a:chOff x="954875" y="5446991"/>
            <a:chExt cx="5856483" cy="3437519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05E0BDB-F1CF-4EBC-B3C9-9408E340CB2C}"/>
                </a:ext>
              </a:extLst>
            </p:cNvPr>
            <p:cNvSpPr/>
            <p:nvPr/>
          </p:nvSpPr>
          <p:spPr>
            <a:xfrm rot="4038525">
              <a:off x="940065" y="5461801"/>
              <a:ext cx="543378" cy="51375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F4ABE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1164559" y="5616949"/>
              <a:ext cx="5646799" cy="3267561"/>
            </a:xfrm>
            <a:prstGeom prst="rect">
              <a:avLst/>
            </a:prstGeom>
          </p:spPr>
          <p:txBody>
            <a:bodyPr vert="horz" wrap="square" lIns="0" tIns="8128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640"/>
                </a:spcBef>
              </a:pPr>
              <a:r>
                <a:rPr sz="2000" b="1"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规避误区</a:t>
              </a:r>
              <a:r>
                <a:rPr sz="2000" b="1" dirty="0">
                  <a:solidFill>
                    <a:srgbClr val="221815"/>
                  </a:solidFill>
                  <a:latin typeface="微软雅黑"/>
                  <a:cs typeface="微软雅黑"/>
                </a:rPr>
                <a:t>：</a:t>
              </a:r>
              <a:endParaRPr lang="en-US" sz="2000" dirty="0">
                <a:latin typeface="微软雅黑"/>
                <a:cs typeface="微软雅黑"/>
              </a:endParaRPr>
            </a:p>
            <a:p>
              <a:pPr marL="12700">
                <a:lnSpc>
                  <a:spcPct val="100000"/>
                </a:lnSpc>
                <a:spcBef>
                  <a:spcPts val="640"/>
                </a:spcBef>
              </a:pPr>
              <a:r>
                <a:rPr b="1" spc="30"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忽</a:t>
              </a:r>
              <a:r>
                <a:rPr b="1"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视儿童安全：</a:t>
              </a:r>
              <a:r>
                <a:rPr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确保玩具设计符合安全标准，避免使用可能对婴幼儿造成伤害的材料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。</a:t>
              </a:r>
              <a:endParaRPr lang="en-US" dirty="0">
                <a:latin typeface="微软雅黑"/>
                <a:cs typeface="微软雅黑"/>
              </a:endParaRPr>
            </a:p>
            <a:p>
              <a:pPr marL="12700">
                <a:lnSpc>
                  <a:spcPct val="100000"/>
                </a:lnSpc>
                <a:spcBef>
                  <a:spcPts val="640"/>
                </a:spcBef>
              </a:pPr>
              <a:r>
                <a:rPr b="1"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玩具过度商业化：</a:t>
              </a:r>
              <a:r>
                <a:rPr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确保产品的教育性和科学性大于商业利益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。 </a:t>
              </a:r>
              <a:endParaRPr lang="en-US" dirty="0">
                <a:solidFill>
                  <a:srgbClr val="221815"/>
                </a:solidFill>
                <a:latin typeface="微软雅黑"/>
                <a:cs typeface="微软雅黑"/>
              </a:endParaRPr>
            </a:p>
            <a:p>
              <a:pPr marL="12700">
                <a:lnSpc>
                  <a:spcPct val="100000"/>
                </a:lnSpc>
                <a:spcBef>
                  <a:spcPts val="640"/>
                </a:spcBef>
              </a:pPr>
              <a:r>
                <a:rPr b="1"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忽视家长角色：</a:t>
              </a:r>
              <a:r>
                <a:rPr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确保产品对家长友好，易于操作和理解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。</a:t>
              </a:r>
              <a:endParaRPr lang="en-US" dirty="0">
                <a:latin typeface="微软雅黑"/>
                <a:cs typeface="微软雅黑"/>
              </a:endParaRPr>
            </a:p>
            <a:p>
              <a:pPr marL="12700">
                <a:lnSpc>
                  <a:spcPct val="100000"/>
                </a:lnSpc>
                <a:spcBef>
                  <a:spcPts val="640"/>
                </a:spcBef>
              </a:pPr>
              <a:r>
                <a:rPr b="1"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功能冗杂</a:t>
              </a:r>
              <a:r>
                <a:rPr b="1" dirty="0">
                  <a:solidFill>
                    <a:srgbClr val="221815"/>
                  </a:solidFill>
                  <a:latin typeface="微软雅黑"/>
                  <a:cs typeface="微软雅黑"/>
                </a:rPr>
                <a:t> ：</a:t>
              </a:r>
              <a:r>
                <a:rPr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保持简洁性，专注于核心功能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。</a:t>
              </a:r>
              <a:endParaRPr lang="en-US" dirty="0">
                <a:latin typeface="微软雅黑"/>
                <a:cs typeface="微软雅黑"/>
              </a:endParaRPr>
            </a:p>
            <a:p>
              <a:pPr marL="12700">
                <a:lnSpc>
                  <a:spcPct val="100000"/>
                </a:lnSpc>
                <a:spcBef>
                  <a:spcPts val="640"/>
                </a:spcBef>
              </a:pPr>
              <a:r>
                <a:rPr b="1"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轻视用户反馈：</a:t>
              </a:r>
              <a:r>
                <a:rPr dirty="0" err="1">
                  <a:solidFill>
                    <a:srgbClr val="221815"/>
                  </a:solidFill>
                  <a:latin typeface="微软雅黑"/>
                  <a:cs typeface="微软雅黑"/>
                </a:rPr>
                <a:t>积极收集用户反馈并加以改进，及时听取用户的建议和意见，持续优化产品以满足用户需求</a:t>
              </a:r>
              <a:r>
                <a:rPr spc="30" dirty="0">
                  <a:solidFill>
                    <a:srgbClr val="221815"/>
                  </a:solidFill>
                  <a:latin typeface="微软雅黑"/>
                  <a:cs typeface="微软雅黑"/>
                </a:rPr>
                <a:t>。</a:t>
              </a:r>
              <a:endParaRPr dirty="0">
                <a:latin typeface="微软雅黑"/>
                <a:cs typeface="微软雅黑"/>
              </a:endParaRP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E929CEBE-BE56-441B-AC21-A4D9E05D62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543" b="26099"/>
          <a:stretch/>
        </p:blipFill>
        <p:spPr>
          <a:xfrm>
            <a:off x="1403350" y="2625725"/>
            <a:ext cx="2977653" cy="24275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032493-1EDA-42ED-BD85-BB3FE0AF09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832" t="75014" r="28467"/>
          <a:stretch/>
        </p:blipFill>
        <p:spPr>
          <a:xfrm>
            <a:off x="4527550" y="3921125"/>
            <a:ext cx="1850727" cy="1109178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538B466-58F1-46C9-9B20-D34DB23B5AE9}"/>
              </a:ext>
            </a:extLst>
          </p:cNvPr>
          <p:cNvGrpSpPr/>
          <p:nvPr/>
        </p:nvGrpSpPr>
        <p:grpSpPr>
          <a:xfrm>
            <a:off x="7423150" y="3283799"/>
            <a:ext cx="5682729" cy="4599726"/>
            <a:chOff x="7499350" y="2779991"/>
            <a:chExt cx="5682729" cy="4599726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030371B9-6CB4-4813-81EC-E0ACEC147A0F}"/>
                </a:ext>
              </a:extLst>
            </p:cNvPr>
            <p:cNvSpPr/>
            <p:nvPr/>
          </p:nvSpPr>
          <p:spPr>
            <a:xfrm rot="4038525">
              <a:off x="12653512" y="2794801"/>
              <a:ext cx="543378" cy="513757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F4ABE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7499350" y="3557773"/>
              <a:ext cx="5646799" cy="382194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38900"/>
                </a:lnSpc>
                <a:spcBef>
                  <a:spcPts val="100"/>
                </a:spcBef>
              </a:pPr>
              <a:r>
                <a:rPr b="1" dirty="0">
                  <a:solidFill>
                    <a:srgbClr val="221815"/>
                  </a:solidFill>
                  <a:latin typeface="微软雅黑"/>
                  <a:cs typeface="微软雅黑"/>
                </a:rPr>
                <a:t>科学与精准：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确保玩具提供的数据和内容都基于科学研究， 能够准确地捕捉和分析婴儿的感知发育数据。</a:t>
              </a:r>
              <a:endParaRPr dirty="0">
                <a:latin typeface="微软雅黑"/>
                <a:cs typeface="微软雅黑"/>
              </a:endParaRPr>
            </a:p>
            <a:p>
              <a:pPr marL="12700" marR="5080">
                <a:lnSpc>
                  <a:spcPct val="138900"/>
                </a:lnSpc>
              </a:pPr>
              <a:r>
                <a:rPr b="1" dirty="0">
                  <a:solidFill>
                    <a:srgbClr val="221815"/>
                  </a:solidFill>
                  <a:latin typeface="微软雅黑"/>
                  <a:cs typeface="微软雅黑"/>
                </a:rPr>
                <a:t>用户友好：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玩具的设计应简单、直观，确保家长和婴儿都能 轻松使用，尤其是非技术背景的家长。</a:t>
              </a:r>
              <a:endParaRPr dirty="0">
                <a:latin typeface="微软雅黑"/>
                <a:cs typeface="微软雅黑"/>
              </a:endParaRPr>
            </a:p>
            <a:p>
              <a:pPr marL="12700" marR="5080">
                <a:lnSpc>
                  <a:spcPct val="138900"/>
                </a:lnSpc>
              </a:pPr>
              <a:r>
                <a:rPr b="1" dirty="0">
                  <a:solidFill>
                    <a:srgbClr val="221815"/>
                  </a:solidFill>
                  <a:latin typeface="微软雅黑"/>
                  <a:cs typeface="微软雅黑"/>
                </a:rPr>
                <a:t>注重教育与互动：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在记录功能的基础上，加入丰富的教育和 互动体验，鼓励家长与婴儿的亲子时间。</a:t>
              </a:r>
              <a:endParaRPr dirty="0">
                <a:latin typeface="微软雅黑"/>
                <a:cs typeface="微软雅黑"/>
              </a:endParaRPr>
            </a:p>
            <a:p>
              <a:pPr marL="12700" marR="5080">
                <a:lnSpc>
                  <a:spcPct val="138900"/>
                </a:lnSpc>
              </a:pPr>
              <a:r>
                <a:rPr b="1" dirty="0">
                  <a:solidFill>
                    <a:srgbClr val="221815"/>
                  </a:solidFill>
                  <a:latin typeface="微软雅黑"/>
                  <a:cs typeface="微软雅黑"/>
                </a:rPr>
                <a:t>尊重数据隐私：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确保用户的数据安全，尊重和保护家长与婴 儿的隐私。</a:t>
              </a:r>
              <a:endParaRPr dirty="0">
                <a:latin typeface="微软雅黑"/>
                <a:cs typeface="微软雅黑"/>
              </a:endParaRPr>
            </a:p>
            <a:p>
              <a:pPr marL="12700" marR="5080">
                <a:lnSpc>
                  <a:spcPct val="138900"/>
                </a:lnSpc>
              </a:pPr>
              <a:r>
                <a:rPr b="1" dirty="0">
                  <a:solidFill>
                    <a:srgbClr val="221815"/>
                  </a:solidFill>
                  <a:latin typeface="微软雅黑"/>
                  <a:cs typeface="微软雅黑"/>
                </a:rPr>
                <a:t>持续创新：</a:t>
              </a:r>
              <a:r>
                <a:rPr dirty="0">
                  <a:solidFill>
                    <a:srgbClr val="221815"/>
                  </a:solidFill>
                  <a:latin typeface="微软雅黑"/>
                  <a:cs typeface="微软雅黑"/>
                </a:rPr>
                <a:t>随着技术和市场的发展，不断更新和优化产品功 能，确保其始终走在科技和教育前沿。</a:t>
              </a:r>
              <a:endParaRPr dirty="0">
                <a:latin typeface="微软雅黑"/>
                <a:cs typeface="微软雅黑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5FE8558-F92B-4C7E-9EC1-577C295FBD28}"/>
                </a:ext>
              </a:extLst>
            </p:cNvPr>
            <p:cNvSpPr txBox="1"/>
            <p:nvPr/>
          </p:nvSpPr>
          <p:spPr>
            <a:xfrm>
              <a:off x="11790126" y="2930525"/>
              <a:ext cx="12858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5080" algn="r">
                <a:lnSpc>
                  <a:spcPct val="100000"/>
                </a:lnSpc>
                <a:spcBef>
                  <a:spcPts val="1805"/>
                </a:spcBef>
              </a:pPr>
              <a:r>
                <a:rPr lang="zh-CN" altLang="en-US" sz="2000" b="1" dirty="0">
                  <a:solidFill>
                    <a:srgbClr val="22181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/>
                </a:rPr>
                <a:t>发展方向：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383EB49-BC2B-4111-8D5F-265E3EED62BB}"/>
              </a:ext>
            </a:extLst>
          </p:cNvPr>
          <p:cNvGrpSpPr/>
          <p:nvPr/>
        </p:nvGrpSpPr>
        <p:grpSpPr>
          <a:xfrm>
            <a:off x="717550" y="472023"/>
            <a:ext cx="2463029" cy="934502"/>
            <a:chOff x="717550" y="472023"/>
            <a:chExt cx="2463029" cy="934502"/>
          </a:xfrm>
        </p:grpSpPr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FD250B6-716F-477A-891D-68D7F4E51326}"/>
                </a:ext>
              </a:extLst>
            </p:cNvPr>
            <p:cNvSpPr/>
            <p:nvPr/>
          </p:nvSpPr>
          <p:spPr>
            <a:xfrm>
              <a:off x="717550" y="472023"/>
              <a:ext cx="532014" cy="532014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337674" y="0"/>
                  </a:moveTo>
                  <a:lnTo>
                    <a:pt x="293539" y="0"/>
                  </a:lnTo>
                  <a:lnTo>
                    <a:pt x="249751" y="6126"/>
                  </a:lnTo>
                  <a:lnTo>
                    <a:pt x="207001" y="18380"/>
                  </a:lnTo>
                  <a:lnTo>
                    <a:pt x="165982" y="36761"/>
                  </a:lnTo>
                  <a:lnTo>
                    <a:pt x="127385" y="61268"/>
                  </a:lnTo>
                  <a:lnTo>
                    <a:pt x="91902" y="91902"/>
                  </a:lnTo>
                  <a:lnTo>
                    <a:pt x="61268" y="127385"/>
                  </a:lnTo>
                  <a:lnTo>
                    <a:pt x="36761" y="165982"/>
                  </a:lnTo>
                  <a:lnTo>
                    <a:pt x="18380" y="207001"/>
                  </a:lnTo>
                  <a:lnTo>
                    <a:pt x="6126" y="249751"/>
                  </a:lnTo>
                  <a:lnTo>
                    <a:pt x="0" y="293539"/>
                  </a:lnTo>
                  <a:lnTo>
                    <a:pt x="0" y="337674"/>
                  </a:lnTo>
                  <a:lnTo>
                    <a:pt x="6126" y="381462"/>
                  </a:lnTo>
                  <a:lnTo>
                    <a:pt x="18380" y="424212"/>
                  </a:lnTo>
                  <a:lnTo>
                    <a:pt x="36761" y="465231"/>
                  </a:lnTo>
                  <a:lnTo>
                    <a:pt x="61268" y="503828"/>
                  </a:lnTo>
                  <a:lnTo>
                    <a:pt x="91902" y="539311"/>
                  </a:lnTo>
                  <a:lnTo>
                    <a:pt x="127385" y="569942"/>
                  </a:lnTo>
                  <a:lnTo>
                    <a:pt x="165982" y="594447"/>
                  </a:lnTo>
                  <a:lnTo>
                    <a:pt x="207001" y="612825"/>
                  </a:lnTo>
                  <a:lnTo>
                    <a:pt x="249751" y="625078"/>
                  </a:lnTo>
                  <a:lnTo>
                    <a:pt x="293539" y="631204"/>
                  </a:lnTo>
                  <a:lnTo>
                    <a:pt x="337674" y="631204"/>
                  </a:lnTo>
                  <a:lnTo>
                    <a:pt x="381462" y="625078"/>
                  </a:lnTo>
                  <a:lnTo>
                    <a:pt x="424212" y="612825"/>
                  </a:lnTo>
                  <a:lnTo>
                    <a:pt x="465231" y="594447"/>
                  </a:lnTo>
                  <a:lnTo>
                    <a:pt x="503828" y="569942"/>
                  </a:lnTo>
                  <a:lnTo>
                    <a:pt x="539311" y="539311"/>
                  </a:lnTo>
                  <a:lnTo>
                    <a:pt x="569942" y="503828"/>
                  </a:lnTo>
                  <a:lnTo>
                    <a:pt x="594447" y="465231"/>
                  </a:lnTo>
                  <a:lnTo>
                    <a:pt x="612825" y="424212"/>
                  </a:lnTo>
                  <a:lnTo>
                    <a:pt x="625078" y="381462"/>
                  </a:lnTo>
                  <a:lnTo>
                    <a:pt x="631204" y="337674"/>
                  </a:lnTo>
                  <a:lnTo>
                    <a:pt x="631204" y="293539"/>
                  </a:lnTo>
                  <a:lnTo>
                    <a:pt x="625078" y="249751"/>
                  </a:lnTo>
                  <a:lnTo>
                    <a:pt x="612825" y="207001"/>
                  </a:lnTo>
                  <a:lnTo>
                    <a:pt x="594447" y="165982"/>
                  </a:lnTo>
                  <a:lnTo>
                    <a:pt x="569942" y="127385"/>
                  </a:lnTo>
                  <a:lnTo>
                    <a:pt x="539311" y="91902"/>
                  </a:lnTo>
                  <a:lnTo>
                    <a:pt x="503828" y="61268"/>
                  </a:lnTo>
                  <a:lnTo>
                    <a:pt x="465231" y="36761"/>
                  </a:lnTo>
                  <a:lnTo>
                    <a:pt x="424212" y="18380"/>
                  </a:lnTo>
                  <a:lnTo>
                    <a:pt x="381462" y="6126"/>
                  </a:lnTo>
                  <a:lnTo>
                    <a:pt x="337674" y="0"/>
                  </a:lnTo>
                  <a:close/>
                </a:path>
              </a:pathLst>
            </a:custGeom>
            <a:solidFill>
              <a:srgbClr val="0F4ABE">
                <a:alpha val="6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3">
              <a:extLst>
                <a:ext uri="{FF2B5EF4-FFF2-40B4-BE49-F238E27FC236}">
                  <a16:creationId xmlns:a16="http://schemas.microsoft.com/office/drawing/2014/main" id="{8CF40187-2998-4DAB-B8F6-79C9F52F5C90}"/>
                </a:ext>
              </a:extLst>
            </p:cNvPr>
            <p:cNvSpPr txBox="1">
              <a:spLocks/>
            </p:cNvSpPr>
            <p:nvPr/>
          </p:nvSpPr>
          <p:spPr>
            <a:xfrm>
              <a:off x="1012689" y="683435"/>
              <a:ext cx="180340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 sz="3500" b="0" i="0">
                  <a:solidFill>
                    <a:srgbClr val="3E3A39"/>
                  </a:solidFill>
                  <a:latin typeface="幼圆"/>
                  <a:ea typeface="+mj-ea"/>
                  <a:cs typeface="幼圆"/>
                </a:defRPr>
              </a:lvl1pPr>
            </a:lstStyle>
            <a:p>
              <a:pPr marL="12700">
                <a:spcBef>
                  <a:spcPts val="100"/>
                </a:spcBef>
              </a:pPr>
              <a:r>
                <a:rPr lang="zh-CN" altLang="en-US" sz="2400" b="1" kern="0" dirty="0">
                  <a:latin typeface="幼圆" panose="02010509060101010101" pitchFamily="49" charset="-122"/>
                  <a:ea typeface="幼圆" panose="02010509060101010101" pitchFamily="49" charset="-122"/>
                </a:rPr>
                <a:t>竞品分析</a:t>
              </a:r>
              <a:endParaRPr lang="en-US" altLang="zh-CN" sz="2400" b="1" kern="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26" name="object 16">
              <a:extLst>
                <a:ext uri="{FF2B5EF4-FFF2-40B4-BE49-F238E27FC236}">
                  <a16:creationId xmlns:a16="http://schemas.microsoft.com/office/drawing/2014/main" id="{B54593E6-10E6-4336-AD0F-45C39F0C9E10}"/>
                </a:ext>
              </a:extLst>
            </p:cNvPr>
            <p:cNvSpPr txBox="1"/>
            <p:nvPr/>
          </p:nvSpPr>
          <p:spPr>
            <a:xfrm>
              <a:off x="1012689" y="1147480"/>
              <a:ext cx="216789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600" spc="5" dirty="0">
                  <a:solidFill>
                    <a:srgbClr val="898989"/>
                  </a:solidFill>
                  <a:latin typeface="Calibri"/>
                  <a:cs typeface="Calibri"/>
                </a:rPr>
                <a:t>Competitive Analysis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pic>
        <p:nvPicPr>
          <p:cNvPr id="27" name="图片 26" descr="摄图网_500747237_在海边参加亲子活动的幸福的一家人（企业商用）">
            <a:extLst>
              <a:ext uri="{FF2B5EF4-FFF2-40B4-BE49-F238E27FC236}">
                <a16:creationId xmlns:a16="http://schemas.microsoft.com/office/drawing/2014/main" id="{4DBE7AE6-C154-46E3-9CE9-59DE41E2235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6617169" y="2589954"/>
            <a:ext cx="9969048" cy="72416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>
            <a:extLst>
              <a:ext uri="{FF2B5EF4-FFF2-40B4-BE49-F238E27FC236}">
                <a16:creationId xmlns:a16="http://schemas.microsoft.com/office/drawing/2014/main" id="{A56C248D-A992-49A1-B689-AE056AF93660}"/>
              </a:ext>
            </a:extLst>
          </p:cNvPr>
          <p:cNvGrpSpPr/>
          <p:nvPr/>
        </p:nvGrpSpPr>
        <p:grpSpPr>
          <a:xfrm>
            <a:off x="1012689" y="1096034"/>
            <a:ext cx="11937518" cy="7363120"/>
            <a:chOff x="1595160" y="893392"/>
            <a:chExt cx="11619944" cy="8472858"/>
          </a:xfrm>
        </p:grpSpPr>
        <p:sp>
          <p:nvSpPr>
            <p:cNvPr id="46" name="AutoShape 17">
              <a:extLst>
                <a:ext uri="{FF2B5EF4-FFF2-40B4-BE49-F238E27FC236}">
                  <a16:creationId xmlns:a16="http://schemas.microsoft.com/office/drawing/2014/main" id="{2ABF4FB6-8C55-40F0-BBB4-133BF3FB4A4D}"/>
                </a:ext>
              </a:extLst>
            </p:cNvPr>
            <p:cNvSpPr/>
            <p:nvPr/>
          </p:nvSpPr>
          <p:spPr>
            <a:xfrm flipH="1" flipV="1">
              <a:off x="7270750" y="893392"/>
              <a:ext cx="0" cy="8472858"/>
            </a:xfrm>
            <a:prstGeom prst="line">
              <a:avLst/>
            </a:prstGeom>
            <a:ln w="95250" cap="flat">
              <a:solidFill>
                <a:srgbClr val="6292C5"/>
              </a:solidFill>
              <a:prstDash val="sysDash"/>
              <a:headEnd type="triangle" w="lg" len="med"/>
              <a:tailEnd type="triangle" w="lg" len="med"/>
            </a:ln>
          </p:spPr>
        </p: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E1E63AA6-B7E4-4A35-B818-BE9F99CB05FA}"/>
                </a:ext>
              </a:extLst>
            </p:cNvPr>
            <p:cNvGrpSpPr/>
            <p:nvPr/>
          </p:nvGrpSpPr>
          <p:grpSpPr>
            <a:xfrm>
              <a:off x="1595160" y="1324716"/>
              <a:ext cx="11619944" cy="7647986"/>
              <a:chOff x="1595160" y="1324716"/>
              <a:chExt cx="11619944" cy="7647986"/>
            </a:xfrm>
          </p:grpSpPr>
          <p:grpSp>
            <p:nvGrpSpPr>
              <p:cNvPr id="36" name="Group 7">
                <a:extLst>
                  <a:ext uri="{FF2B5EF4-FFF2-40B4-BE49-F238E27FC236}">
                    <a16:creationId xmlns:a16="http://schemas.microsoft.com/office/drawing/2014/main" id="{007DDEC8-DD24-4A18-9B5F-E2188B3649A1}"/>
                  </a:ext>
                </a:extLst>
              </p:cNvPr>
              <p:cNvGrpSpPr/>
              <p:nvPr/>
            </p:nvGrpSpPr>
            <p:grpSpPr>
              <a:xfrm>
                <a:off x="7885683" y="1508427"/>
                <a:ext cx="4813868" cy="3093952"/>
                <a:chOff x="0" y="0"/>
                <a:chExt cx="1242574" cy="798623"/>
              </a:xfrm>
            </p:grpSpPr>
            <p:sp>
              <p:nvSpPr>
                <p:cNvPr id="37" name="Freeform 8">
                  <a:extLst>
                    <a:ext uri="{FF2B5EF4-FFF2-40B4-BE49-F238E27FC236}">
                      <a16:creationId xmlns:a16="http://schemas.microsoft.com/office/drawing/2014/main" id="{05ECBCE3-BA49-4731-9FE7-11E528A5647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42574" cy="798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574" h="798623">
                      <a:moveTo>
                        <a:pt x="0" y="0"/>
                      </a:moveTo>
                      <a:lnTo>
                        <a:pt x="1242574" y="0"/>
                      </a:lnTo>
                      <a:lnTo>
                        <a:pt x="1242574" y="798623"/>
                      </a:lnTo>
                      <a:lnTo>
                        <a:pt x="0" y="79862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6292C5">
                    <a:alpha val="80000"/>
                  </a:srgbClr>
                </a:solidFill>
              </p:spPr>
            </p:sp>
            <p:sp>
              <p:nvSpPr>
                <p:cNvPr id="38" name="TextBox 9">
                  <a:extLst>
                    <a:ext uri="{FF2B5EF4-FFF2-40B4-BE49-F238E27FC236}">
                      <a16:creationId xmlns:a16="http://schemas.microsoft.com/office/drawing/2014/main" id="{8BB61CD6-35BF-4D66-9B2A-3FE2F8F628A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12800" cy="8509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50"/>
                    </a:lnSpc>
                  </a:pPr>
                  <a:endParaRPr/>
                </a:p>
              </p:txBody>
            </p:sp>
          </p:grpSp>
          <p:grpSp>
            <p:nvGrpSpPr>
              <p:cNvPr id="39" name="Group 10">
                <a:extLst>
                  <a:ext uri="{FF2B5EF4-FFF2-40B4-BE49-F238E27FC236}">
                    <a16:creationId xmlns:a16="http://schemas.microsoft.com/office/drawing/2014/main" id="{CBE8EDE2-8992-45DB-A67A-27677D950BF7}"/>
                  </a:ext>
                </a:extLst>
              </p:cNvPr>
              <p:cNvGrpSpPr/>
              <p:nvPr/>
            </p:nvGrpSpPr>
            <p:grpSpPr>
              <a:xfrm>
                <a:off x="2005678" y="5703840"/>
                <a:ext cx="4813868" cy="3093952"/>
                <a:chOff x="0" y="0"/>
                <a:chExt cx="1242574" cy="798623"/>
              </a:xfrm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20247881-3DA3-404B-ABEB-DB1E60DB35D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42574" cy="798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574" h="798623">
                      <a:moveTo>
                        <a:pt x="0" y="0"/>
                      </a:moveTo>
                      <a:lnTo>
                        <a:pt x="1242574" y="0"/>
                      </a:lnTo>
                      <a:lnTo>
                        <a:pt x="1242574" y="798623"/>
                      </a:lnTo>
                      <a:lnTo>
                        <a:pt x="0" y="79862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6292C5">
                    <a:alpha val="80000"/>
                  </a:srgbClr>
                </a:solidFill>
              </p:spPr>
            </p:sp>
            <p:sp>
              <p:nvSpPr>
                <p:cNvPr id="41" name="TextBox 12">
                  <a:extLst>
                    <a:ext uri="{FF2B5EF4-FFF2-40B4-BE49-F238E27FC236}">
                      <a16:creationId xmlns:a16="http://schemas.microsoft.com/office/drawing/2014/main" id="{949BEA5B-A158-4853-B739-B8DF8042F2F1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12800" cy="8509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50"/>
                    </a:lnSpc>
                  </a:pPr>
                  <a:endParaRPr/>
                </a:p>
              </p:txBody>
            </p:sp>
          </p:grpSp>
          <p:grpSp>
            <p:nvGrpSpPr>
              <p:cNvPr id="42" name="Group 13">
                <a:extLst>
                  <a:ext uri="{FF2B5EF4-FFF2-40B4-BE49-F238E27FC236}">
                    <a16:creationId xmlns:a16="http://schemas.microsoft.com/office/drawing/2014/main" id="{A93E9B61-CFC0-4FB9-A8F4-8E31D8F600F9}"/>
                  </a:ext>
                </a:extLst>
              </p:cNvPr>
              <p:cNvGrpSpPr/>
              <p:nvPr/>
            </p:nvGrpSpPr>
            <p:grpSpPr>
              <a:xfrm>
                <a:off x="7903696" y="5706113"/>
                <a:ext cx="4795855" cy="3093952"/>
                <a:chOff x="0" y="0"/>
                <a:chExt cx="1237925" cy="798623"/>
              </a:xfrm>
            </p:grpSpPr>
            <p:sp>
              <p:nvSpPr>
                <p:cNvPr id="43" name="Freeform 14">
                  <a:extLst>
                    <a:ext uri="{FF2B5EF4-FFF2-40B4-BE49-F238E27FC236}">
                      <a16:creationId xmlns:a16="http://schemas.microsoft.com/office/drawing/2014/main" id="{55241245-C8D4-4341-91B5-D2A3EF01AA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37925" cy="798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7925" h="798623">
                      <a:moveTo>
                        <a:pt x="0" y="0"/>
                      </a:moveTo>
                      <a:lnTo>
                        <a:pt x="1237925" y="0"/>
                      </a:lnTo>
                      <a:lnTo>
                        <a:pt x="1237925" y="798623"/>
                      </a:lnTo>
                      <a:lnTo>
                        <a:pt x="0" y="79862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6292C5">
                    <a:alpha val="80000"/>
                  </a:srgbClr>
                </a:solidFill>
              </p:spPr>
            </p:sp>
            <p:sp>
              <p:nvSpPr>
                <p:cNvPr id="44" name="TextBox 15">
                  <a:extLst>
                    <a:ext uri="{FF2B5EF4-FFF2-40B4-BE49-F238E27FC236}">
                      <a16:creationId xmlns:a16="http://schemas.microsoft.com/office/drawing/2014/main" id="{88FCF91E-0389-4868-99A3-728C6DCE3E1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12800" cy="8509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50"/>
                    </a:lnSpc>
                  </a:pPr>
                  <a:endParaRPr/>
                </a:p>
              </p:txBody>
            </p:sp>
          </p:grpSp>
          <p:sp>
            <p:nvSpPr>
              <p:cNvPr id="45" name="AutoShape 16">
                <a:extLst>
                  <a:ext uri="{FF2B5EF4-FFF2-40B4-BE49-F238E27FC236}">
                    <a16:creationId xmlns:a16="http://schemas.microsoft.com/office/drawing/2014/main" id="{06EC2DA8-ED85-45B7-BFA1-059A1BC90A11}"/>
                  </a:ext>
                </a:extLst>
              </p:cNvPr>
              <p:cNvSpPr/>
              <p:nvPr/>
            </p:nvSpPr>
            <p:spPr>
              <a:xfrm>
                <a:off x="1595160" y="5195224"/>
                <a:ext cx="11619944" cy="0"/>
              </a:xfrm>
              <a:prstGeom prst="line">
                <a:avLst/>
              </a:prstGeom>
              <a:ln w="95250" cap="flat">
                <a:solidFill>
                  <a:srgbClr val="6292C5"/>
                </a:solidFill>
                <a:prstDash val="sysDash"/>
                <a:headEnd type="triangle" w="lg" len="med"/>
                <a:tailEnd type="triangle" w="lg" len="med"/>
              </a:ln>
            </p:spPr>
          </p:sp>
          <p:grpSp>
            <p:nvGrpSpPr>
              <p:cNvPr id="47" name="Group 18">
                <a:extLst>
                  <a:ext uri="{FF2B5EF4-FFF2-40B4-BE49-F238E27FC236}">
                    <a16:creationId xmlns:a16="http://schemas.microsoft.com/office/drawing/2014/main" id="{74B407B1-8735-49AB-9604-6B7911C3A54D}"/>
                  </a:ext>
                </a:extLst>
              </p:cNvPr>
              <p:cNvGrpSpPr/>
              <p:nvPr/>
            </p:nvGrpSpPr>
            <p:grpSpPr>
              <a:xfrm>
                <a:off x="2005678" y="1508427"/>
                <a:ext cx="4813868" cy="3093952"/>
                <a:chOff x="0" y="0"/>
                <a:chExt cx="1242574" cy="798623"/>
              </a:xfrm>
            </p:grpSpPr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65ABB94D-DFFD-4457-B082-4C37F39DEF6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242574" cy="798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2574" h="798623">
                      <a:moveTo>
                        <a:pt x="0" y="0"/>
                      </a:moveTo>
                      <a:lnTo>
                        <a:pt x="1242574" y="0"/>
                      </a:lnTo>
                      <a:lnTo>
                        <a:pt x="1242574" y="798623"/>
                      </a:lnTo>
                      <a:lnTo>
                        <a:pt x="0" y="79862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6292C5">
                    <a:alpha val="80000"/>
                  </a:srgbClr>
                </a:solidFill>
              </p:spPr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49" name="TextBox 20">
                  <a:extLst>
                    <a:ext uri="{FF2B5EF4-FFF2-40B4-BE49-F238E27FC236}">
                      <a16:creationId xmlns:a16="http://schemas.microsoft.com/office/drawing/2014/main" id="{6C790A9B-DF29-450E-B0CB-C42C9AE4D986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812800" cy="8509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350"/>
                    </a:lnSpc>
                  </a:pPr>
                  <a:endParaRPr/>
                </a:p>
              </p:txBody>
            </p:sp>
          </p:grpSp>
          <p:sp>
            <p:nvSpPr>
              <p:cNvPr id="50" name="TextBox 21">
                <a:extLst>
                  <a:ext uri="{FF2B5EF4-FFF2-40B4-BE49-F238E27FC236}">
                    <a16:creationId xmlns:a16="http://schemas.microsoft.com/office/drawing/2014/main" id="{FDDE64A8-E546-4D66-AD16-29358AA53F0A}"/>
                  </a:ext>
                </a:extLst>
              </p:cNvPr>
              <p:cNvSpPr txBox="1"/>
              <p:nvPr/>
            </p:nvSpPr>
            <p:spPr>
              <a:xfrm>
                <a:off x="3234568" y="1820699"/>
                <a:ext cx="3424470" cy="267271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23848" lvl="1" indent="-161924" algn="just">
                  <a:lnSpc>
                    <a:spcPts val="2099"/>
                  </a:lnSpc>
                  <a:buFont typeface="Arial"/>
                  <a:buChar char="•"/>
                </a:pPr>
                <a:r>
                  <a:rPr lang="en-US" sz="1499" spc="59" dirty="0">
                    <a:solidFill>
                      <a:srgbClr val="FFFFFF"/>
                    </a:solidFill>
                    <a:ea typeface="思源黑体 3"/>
                  </a:rPr>
                  <a:t>针对性强：专为0-1岁婴儿设计，满足这一特定年龄段的感官发育需求。</a:t>
                </a:r>
              </a:p>
              <a:p>
                <a:pPr marL="323848" lvl="1" indent="-161924" algn="just">
                  <a:lnSpc>
                    <a:spcPts val="2099"/>
                  </a:lnSpc>
                  <a:buFont typeface="Arial"/>
                  <a:buChar char="•"/>
                </a:pPr>
                <a:r>
                  <a:rPr lang="en-US" sz="1499" spc="59" dirty="0" err="1">
                    <a:solidFill>
                      <a:srgbClr val="FFFFFF"/>
                    </a:solidFill>
                    <a:ea typeface="思源黑体 3"/>
                  </a:rPr>
                  <a:t>全面记录：后台实时记录婴儿同玩具的交互数据</a:t>
                </a:r>
                <a:r>
                  <a:rPr lang="en-US" sz="1499" spc="59" dirty="0">
                    <a:solidFill>
                      <a:srgbClr val="FFFFFF"/>
                    </a:solidFill>
                    <a:ea typeface="思源黑体 3"/>
                  </a:rPr>
                  <a:t>。</a:t>
                </a:r>
              </a:p>
              <a:p>
                <a:pPr marL="323848" lvl="1" indent="-161924" algn="just">
                  <a:lnSpc>
                    <a:spcPts val="2099"/>
                  </a:lnSpc>
                  <a:buFont typeface="Arial"/>
                  <a:buChar char="•"/>
                </a:pPr>
                <a:r>
                  <a:rPr lang="en-US" sz="1499" spc="59" dirty="0" err="1">
                    <a:solidFill>
                      <a:srgbClr val="FFFFFF"/>
                    </a:solidFill>
                    <a:ea typeface="思源黑体 3"/>
                  </a:rPr>
                  <a:t>科学参考：为父母提供科学的数据参考，帮助他们了解婴儿的感知发育状况</a:t>
                </a:r>
                <a:r>
                  <a:rPr lang="en-US" sz="1499" spc="59" dirty="0">
                    <a:solidFill>
                      <a:srgbClr val="FFFFFF"/>
                    </a:solidFill>
                    <a:ea typeface="思源黑体 3"/>
                  </a:rPr>
                  <a:t>。</a:t>
                </a:r>
              </a:p>
              <a:p>
                <a:pPr marL="323848" lvl="1" indent="-161924" algn="just">
                  <a:lnSpc>
                    <a:spcPts val="2099"/>
                  </a:lnSpc>
                  <a:buFont typeface="Arial"/>
                  <a:buChar char="•"/>
                </a:pPr>
                <a:r>
                  <a:rPr lang="en-US" sz="1499" spc="59" dirty="0" err="1">
                    <a:solidFill>
                      <a:srgbClr val="FFFFFF"/>
                    </a:solidFill>
                    <a:ea typeface="思源黑体 3"/>
                  </a:rPr>
                  <a:t>教育与互动：提供丰富的感知发育训练及互动体验，寓教于乐</a:t>
                </a:r>
                <a:endParaRPr lang="en-US" sz="1499" spc="59" dirty="0">
                  <a:solidFill>
                    <a:srgbClr val="FFFFFF"/>
                  </a:solidFill>
                  <a:ea typeface="思源黑体 3"/>
                </a:endParaRPr>
              </a:p>
            </p:txBody>
          </p:sp>
          <p:sp>
            <p:nvSpPr>
              <p:cNvPr id="51" name="TextBox 22">
                <a:extLst>
                  <a:ext uri="{FF2B5EF4-FFF2-40B4-BE49-F238E27FC236}">
                    <a16:creationId xmlns:a16="http://schemas.microsoft.com/office/drawing/2014/main" id="{2515EEA0-7869-4C54-AC0C-3B999617A35A}"/>
                  </a:ext>
                </a:extLst>
              </p:cNvPr>
              <p:cNvSpPr txBox="1"/>
              <p:nvPr/>
            </p:nvSpPr>
            <p:spPr>
              <a:xfrm>
                <a:off x="3234568" y="6174492"/>
                <a:ext cx="3424470" cy="212407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市场需求：现代家长越来越注重婴儿的早期教育，市场潜在需求大。</a:t>
                </a:r>
              </a:p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合作机会：与育儿机构和专家合作，可以进一步提高本玩具的科学性和权威性。</a:t>
                </a:r>
              </a:p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科技进步：现代技术发展，特别是AI和数据分析，为本玩具提供了技术支持。</a:t>
                </a:r>
              </a:p>
            </p:txBody>
          </p:sp>
          <p:sp>
            <p:nvSpPr>
              <p:cNvPr id="52" name="TextBox 23">
                <a:extLst>
                  <a:ext uri="{FF2B5EF4-FFF2-40B4-BE49-F238E27FC236}">
                    <a16:creationId xmlns:a16="http://schemas.microsoft.com/office/drawing/2014/main" id="{21F798B4-1587-484F-A459-CD726D5FB5BF}"/>
                  </a:ext>
                </a:extLst>
              </p:cNvPr>
              <p:cNvSpPr txBox="1"/>
              <p:nvPr/>
            </p:nvSpPr>
            <p:spPr>
              <a:xfrm>
                <a:off x="8085708" y="1811174"/>
                <a:ext cx="3258767" cy="185737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技术难度：准确地捕捉和分析婴儿的感知发育数据难度较高。</a:t>
                </a:r>
              </a:p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数据隐私：如何确保婴儿的数据安全和隐私。</a:t>
                </a:r>
              </a:p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产品复杂度：如何确保产品对用户（尤其是老年家长）友好和易于使用。</a:t>
                </a:r>
              </a:p>
            </p:txBody>
          </p:sp>
          <p:sp>
            <p:nvSpPr>
              <p:cNvPr id="53" name="TextBox 24">
                <a:extLst>
                  <a:ext uri="{FF2B5EF4-FFF2-40B4-BE49-F238E27FC236}">
                    <a16:creationId xmlns:a16="http://schemas.microsoft.com/office/drawing/2014/main" id="{7D61481C-AE84-48B2-ABBF-1061E72A56DF}"/>
                  </a:ext>
                </a:extLst>
              </p:cNvPr>
              <p:cNvSpPr txBox="1"/>
              <p:nvPr/>
            </p:nvSpPr>
            <p:spPr>
              <a:xfrm>
                <a:off x="8085708" y="6138208"/>
                <a:ext cx="3394432" cy="212407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竞争对手：可能会有同类型的产品进入市场，产生竞争。</a:t>
                </a:r>
              </a:p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技术更新：技术的迅速更新可能导致本玩具很快被替代。</a:t>
                </a:r>
              </a:p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市场接受度：家长可能对此类智能玩具的准确性和安全性产生疑虑。</a:t>
                </a:r>
              </a:p>
              <a:p>
                <a:pPr marL="323852" lvl="1" indent="-161926" algn="just">
                  <a:lnSpc>
                    <a:spcPts val="2100"/>
                  </a:lnSpc>
                  <a:buFont typeface="Arial"/>
                  <a:buChar char="•"/>
                </a:pPr>
                <a:r>
                  <a:rPr lang="en-US" sz="1500" spc="60">
                    <a:solidFill>
                      <a:srgbClr val="FFFFFF"/>
                    </a:solidFill>
                    <a:ea typeface="思源黑体 3"/>
                  </a:rPr>
                  <a:t>成本控制：高技术的应用可能导致玩具成本上升，影响定价策略。</a:t>
                </a:r>
              </a:p>
            </p:txBody>
          </p:sp>
          <p:sp>
            <p:nvSpPr>
              <p:cNvPr id="54" name="TextBox 25">
                <a:extLst>
                  <a:ext uri="{FF2B5EF4-FFF2-40B4-BE49-F238E27FC236}">
                    <a16:creationId xmlns:a16="http://schemas.microsoft.com/office/drawing/2014/main" id="{86588703-6399-4169-807A-D94A9C4D37FD}"/>
                  </a:ext>
                </a:extLst>
              </p:cNvPr>
              <p:cNvSpPr txBox="1"/>
              <p:nvPr/>
            </p:nvSpPr>
            <p:spPr>
              <a:xfrm>
                <a:off x="2359444" y="1324716"/>
                <a:ext cx="746641" cy="156654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2880"/>
                  </a:lnSpc>
                </a:pPr>
                <a:r>
                  <a:rPr lang="en-US" sz="9200">
                    <a:solidFill>
                      <a:srgbClr val="FFFFFF"/>
                    </a:solidFill>
                    <a:latin typeface="思源黑体-超粗体 Bold"/>
                  </a:rPr>
                  <a:t>S</a:t>
                </a:r>
              </a:p>
            </p:txBody>
          </p:sp>
          <p:sp>
            <p:nvSpPr>
              <p:cNvPr id="55" name="TextBox 26">
                <a:extLst>
                  <a:ext uri="{FF2B5EF4-FFF2-40B4-BE49-F238E27FC236}">
                    <a16:creationId xmlns:a16="http://schemas.microsoft.com/office/drawing/2014/main" id="{C23B7E63-EAFA-4E6D-89B5-0A31B63CCAF9}"/>
                  </a:ext>
                </a:extLst>
              </p:cNvPr>
              <p:cNvSpPr txBox="1"/>
              <p:nvPr/>
            </p:nvSpPr>
            <p:spPr>
              <a:xfrm>
                <a:off x="11287325" y="1474096"/>
                <a:ext cx="1092518" cy="156654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2880"/>
                  </a:lnSpc>
                </a:pPr>
                <a:r>
                  <a:rPr lang="en-US" sz="9200">
                    <a:solidFill>
                      <a:srgbClr val="FFFFFF"/>
                    </a:solidFill>
                    <a:latin typeface="思源黑体-超粗体 Bold"/>
                  </a:rPr>
                  <a:t>W</a:t>
                </a:r>
              </a:p>
            </p:txBody>
          </p:sp>
          <p:sp>
            <p:nvSpPr>
              <p:cNvPr id="56" name="TextBox 27">
                <a:extLst>
                  <a:ext uri="{FF2B5EF4-FFF2-40B4-BE49-F238E27FC236}">
                    <a16:creationId xmlns:a16="http://schemas.microsoft.com/office/drawing/2014/main" id="{521E33E5-E0E2-4089-A8A2-14676181A934}"/>
                  </a:ext>
                </a:extLst>
              </p:cNvPr>
              <p:cNvSpPr txBox="1"/>
              <p:nvPr/>
            </p:nvSpPr>
            <p:spPr>
              <a:xfrm>
                <a:off x="2205673" y="5610085"/>
                <a:ext cx="937131" cy="16044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3142"/>
                  </a:lnSpc>
                </a:pPr>
                <a:r>
                  <a:rPr lang="en-US" sz="9387">
                    <a:solidFill>
                      <a:srgbClr val="FFFFFF"/>
                    </a:solidFill>
                    <a:latin typeface="思源黑体-超粗体 Bold"/>
                  </a:rPr>
                  <a:t>O</a:t>
                </a:r>
              </a:p>
            </p:txBody>
          </p:sp>
          <p:sp>
            <p:nvSpPr>
              <p:cNvPr id="57" name="TextBox 28">
                <a:extLst>
                  <a:ext uri="{FF2B5EF4-FFF2-40B4-BE49-F238E27FC236}">
                    <a16:creationId xmlns:a16="http://schemas.microsoft.com/office/drawing/2014/main" id="{C8218519-A99B-4585-A9BE-8D8AEE08771D}"/>
                  </a:ext>
                </a:extLst>
              </p:cNvPr>
              <p:cNvSpPr txBox="1"/>
              <p:nvPr/>
            </p:nvSpPr>
            <p:spPr>
              <a:xfrm>
                <a:off x="11497376" y="5715946"/>
                <a:ext cx="763044" cy="160444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3142"/>
                  </a:lnSpc>
                </a:pPr>
                <a:r>
                  <a:rPr lang="en-US" sz="9387">
                    <a:solidFill>
                      <a:srgbClr val="FFFFFF"/>
                    </a:solidFill>
                    <a:latin typeface="思源黑体-超粗体 Bold"/>
                  </a:rPr>
                  <a:t>T</a:t>
                </a:r>
              </a:p>
            </p:txBody>
          </p:sp>
          <p:sp>
            <p:nvSpPr>
              <p:cNvPr id="58" name="TextBox 29">
                <a:extLst>
                  <a:ext uri="{FF2B5EF4-FFF2-40B4-BE49-F238E27FC236}">
                    <a16:creationId xmlns:a16="http://schemas.microsoft.com/office/drawing/2014/main" id="{83D7FCE5-CBFA-441D-9028-F6D19CD1E9FA}"/>
                  </a:ext>
                </a:extLst>
              </p:cNvPr>
              <p:cNvSpPr txBox="1"/>
              <p:nvPr/>
            </p:nvSpPr>
            <p:spPr>
              <a:xfrm>
                <a:off x="2310422" y="2782906"/>
                <a:ext cx="647876" cy="42989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571"/>
                  </a:lnSpc>
                </a:pPr>
                <a:r>
                  <a:rPr lang="en-US" sz="2550">
                    <a:solidFill>
                      <a:srgbClr val="FFFFFF"/>
                    </a:solidFill>
                    <a:ea typeface="思源黑体 1 Bold"/>
                  </a:rPr>
                  <a:t>优势</a:t>
                </a:r>
              </a:p>
            </p:txBody>
          </p:sp>
          <p:sp>
            <p:nvSpPr>
              <p:cNvPr id="59" name="TextBox 30">
                <a:extLst>
                  <a:ext uri="{FF2B5EF4-FFF2-40B4-BE49-F238E27FC236}">
                    <a16:creationId xmlns:a16="http://schemas.microsoft.com/office/drawing/2014/main" id="{0D63D8E4-B091-4F9D-B8DB-343D26A2E7A9}"/>
                  </a:ext>
                </a:extLst>
              </p:cNvPr>
              <p:cNvSpPr txBox="1"/>
              <p:nvPr/>
            </p:nvSpPr>
            <p:spPr>
              <a:xfrm>
                <a:off x="11544860" y="2867814"/>
                <a:ext cx="647876" cy="42989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571"/>
                  </a:lnSpc>
                </a:pPr>
                <a:r>
                  <a:rPr lang="en-US" sz="2550">
                    <a:solidFill>
                      <a:srgbClr val="FFFFFF"/>
                    </a:solidFill>
                    <a:ea typeface="思源黑体 1 Bold"/>
                  </a:rPr>
                  <a:t>劣势</a:t>
                </a:r>
              </a:p>
            </p:txBody>
          </p:sp>
          <p:sp>
            <p:nvSpPr>
              <p:cNvPr id="60" name="TextBox 31">
                <a:extLst>
                  <a:ext uri="{FF2B5EF4-FFF2-40B4-BE49-F238E27FC236}">
                    <a16:creationId xmlns:a16="http://schemas.microsoft.com/office/drawing/2014/main" id="{71FD9023-D94C-407D-A70B-A97FD68BD93F}"/>
                  </a:ext>
                </a:extLst>
              </p:cNvPr>
              <p:cNvSpPr txBox="1"/>
              <p:nvPr/>
            </p:nvSpPr>
            <p:spPr>
              <a:xfrm>
                <a:off x="2350301" y="7079439"/>
                <a:ext cx="647876" cy="42989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571"/>
                  </a:lnSpc>
                </a:pPr>
                <a:r>
                  <a:rPr lang="en-US" sz="2550">
                    <a:solidFill>
                      <a:srgbClr val="FFFFFF"/>
                    </a:solidFill>
                    <a:ea typeface="思源黑体 1 Bold"/>
                  </a:rPr>
                  <a:t>机会</a:t>
                </a:r>
              </a:p>
            </p:txBody>
          </p:sp>
          <p:sp>
            <p:nvSpPr>
              <p:cNvPr id="61" name="TextBox 32">
                <a:extLst>
                  <a:ext uri="{FF2B5EF4-FFF2-40B4-BE49-F238E27FC236}">
                    <a16:creationId xmlns:a16="http://schemas.microsoft.com/office/drawing/2014/main" id="{C58C6A96-5C02-4444-A88B-0111096D2494}"/>
                  </a:ext>
                </a:extLst>
              </p:cNvPr>
              <p:cNvSpPr txBox="1"/>
              <p:nvPr/>
            </p:nvSpPr>
            <p:spPr>
              <a:xfrm>
                <a:off x="11554959" y="7162299"/>
                <a:ext cx="647876" cy="42989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571"/>
                  </a:lnSpc>
                </a:pPr>
                <a:r>
                  <a:rPr lang="en-US" sz="2550">
                    <a:solidFill>
                      <a:srgbClr val="FFFFFF"/>
                    </a:solidFill>
                    <a:ea typeface="思源黑体 1 Bold"/>
                  </a:rPr>
                  <a:t>威胁</a:t>
                </a:r>
              </a:p>
            </p:txBody>
          </p:sp>
          <p:sp>
            <p:nvSpPr>
              <p:cNvPr id="62" name="TextBox 33">
                <a:extLst>
                  <a:ext uri="{FF2B5EF4-FFF2-40B4-BE49-F238E27FC236}">
                    <a16:creationId xmlns:a16="http://schemas.microsoft.com/office/drawing/2014/main" id="{1BFD5281-2C49-45F9-BB1C-796198CDD5A4}"/>
                  </a:ext>
                </a:extLst>
              </p:cNvPr>
              <p:cNvSpPr txBox="1"/>
              <p:nvPr/>
            </p:nvSpPr>
            <p:spPr>
              <a:xfrm>
                <a:off x="6906688" y="1467591"/>
                <a:ext cx="260475" cy="140929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799"/>
                  </a:lnSpc>
                </a:pPr>
                <a:r>
                  <a:rPr lang="en-US" sz="1999">
                    <a:solidFill>
                      <a:srgbClr val="000000"/>
                    </a:solidFill>
                    <a:ea typeface="思源黑体 1 Bold"/>
                  </a:rPr>
                  <a:t>源自内部</a:t>
                </a:r>
              </a:p>
            </p:txBody>
          </p:sp>
          <p:sp>
            <p:nvSpPr>
              <p:cNvPr id="63" name="TextBox 34">
                <a:extLst>
                  <a:ext uri="{FF2B5EF4-FFF2-40B4-BE49-F238E27FC236}">
                    <a16:creationId xmlns:a16="http://schemas.microsoft.com/office/drawing/2014/main" id="{E4218BED-FD4A-47BC-B276-C0502767F71A}"/>
                  </a:ext>
                </a:extLst>
              </p:cNvPr>
              <p:cNvSpPr txBox="1"/>
              <p:nvPr/>
            </p:nvSpPr>
            <p:spPr>
              <a:xfrm>
                <a:off x="7377656" y="1470327"/>
                <a:ext cx="308002" cy="273211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711"/>
                  </a:lnSpc>
                </a:pPr>
                <a:r>
                  <a:rPr lang="en-US" sz="1936">
                    <a:solidFill>
                      <a:srgbClr val="000000"/>
                    </a:solidFill>
                    <a:ea typeface="思源黑体 1"/>
                  </a:rPr>
                  <a:t>由组织自身引发的</a:t>
                </a:r>
              </a:p>
            </p:txBody>
          </p:sp>
          <p:sp>
            <p:nvSpPr>
              <p:cNvPr id="64" name="TextBox 35">
                <a:extLst>
                  <a:ext uri="{FF2B5EF4-FFF2-40B4-BE49-F238E27FC236}">
                    <a16:creationId xmlns:a16="http://schemas.microsoft.com/office/drawing/2014/main" id="{F179C4CB-8997-48ED-8A02-1A5297859271}"/>
                  </a:ext>
                </a:extLst>
              </p:cNvPr>
              <p:cNvSpPr txBox="1"/>
              <p:nvPr/>
            </p:nvSpPr>
            <p:spPr>
              <a:xfrm>
                <a:off x="6914154" y="6240592"/>
                <a:ext cx="308002" cy="273211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711"/>
                  </a:lnSpc>
                </a:pPr>
                <a:r>
                  <a:rPr lang="en-US" sz="1936">
                    <a:solidFill>
                      <a:srgbClr val="000000"/>
                    </a:solidFill>
                    <a:ea typeface="思源黑体 1"/>
                  </a:rPr>
                  <a:t>由外部环境引发的</a:t>
                </a:r>
              </a:p>
            </p:txBody>
          </p:sp>
          <p:sp>
            <p:nvSpPr>
              <p:cNvPr id="65" name="TextBox 36">
                <a:extLst>
                  <a:ext uri="{FF2B5EF4-FFF2-40B4-BE49-F238E27FC236}">
                    <a16:creationId xmlns:a16="http://schemas.microsoft.com/office/drawing/2014/main" id="{252C05A8-B401-45E9-93A3-D499C2C080AE}"/>
                  </a:ext>
                </a:extLst>
              </p:cNvPr>
              <p:cNvSpPr txBox="1"/>
              <p:nvPr/>
            </p:nvSpPr>
            <p:spPr>
              <a:xfrm>
                <a:off x="7398771" y="7423410"/>
                <a:ext cx="265773" cy="145854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54"/>
                  </a:lnSpc>
                </a:pPr>
                <a:r>
                  <a:rPr lang="en-US" sz="2038">
                    <a:solidFill>
                      <a:srgbClr val="000000"/>
                    </a:solidFill>
                    <a:ea typeface="思源黑体 1 Bold"/>
                  </a:rPr>
                  <a:t>源自外部</a:t>
                </a:r>
              </a:p>
            </p:txBody>
          </p:sp>
          <p:sp>
            <p:nvSpPr>
              <p:cNvPr id="66" name="TextBox 37">
                <a:extLst>
                  <a:ext uri="{FF2B5EF4-FFF2-40B4-BE49-F238E27FC236}">
                    <a16:creationId xmlns:a16="http://schemas.microsoft.com/office/drawing/2014/main" id="{4764CCDF-36ED-425A-918E-CFB0D5FA2429}"/>
                  </a:ext>
                </a:extLst>
              </p:cNvPr>
              <p:cNvSpPr txBox="1"/>
              <p:nvPr/>
            </p:nvSpPr>
            <p:spPr>
              <a:xfrm>
                <a:off x="2049259" y="4726460"/>
                <a:ext cx="909039" cy="34285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54"/>
                  </a:lnSpc>
                </a:pPr>
                <a:r>
                  <a:rPr lang="en-US" sz="2038">
                    <a:solidFill>
                      <a:srgbClr val="000000"/>
                    </a:solidFill>
                    <a:ea typeface="思源黑体 1 Bold"/>
                  </a:rPr>
                  <a:t>有利的</a:t>
                </a:r>
              </a:p>
            </p:txBody>
          </p:sp>
          <p:sp>
            <p:nvSpPr>
              <p:cNvPr id="67" name="TextBox 38">
                <a:extLst>
                  <a:ext uri="{FF2B5EF4-FFF2-40B4-BE49-F238E27FC236}">
                    <a16:creationId xmlns:a16="http://schemas.microsoft.com/office/drawing/2014/main" id="{FF49BF8F-EC5A-4855-996D-ADD80DE7E99F}"/>
                  </a:ext>
                </a:extLst>
              </p:cNvPr>
              <p:cNvSpPr txBox="1"/>
              <p:nvPr/>
            </p:nvSpPr>
            <p:spPr>
              <a:xfrm>
                <a:off x="2049259" y="5280235"/>
                <a:ext cx="1318985" cy="33181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711"/>
                  </a:lnSpc>
                </a:pPr>
                <a:r>
                  <a:rPr lang="en-US" sz="1936">
                    <a:solidFill>
                      <a:srgbClr val="000000"/>
                    </a:solidFill>
                    <a:ea typeface="思源黑体 1"/>
                  </a:rPr>
                  <a:t>为达到目的</a:t>
                </a:r>
              </a:p>
            </p:txBody>
          </p:sp>
          <p:sp>
            <p:nvSpPr>
              <p:cNvPr id="68" name="TextBox 39">
                <a:extLst>
                  <a:ext uri="{FF2B5EF4-FFF2-40B4-BE49-F238E27FC236}">
                    <a16:creationId xmlns:a16="http://schemas.microsoft.com/office/drawing/2014/main" id="{5FE7B312-FBBF-47B1-BE5B-27B090023448}"/>
                  </a:ext>
                </a:extLst>
              </p:cNvPr>
              <p:cNvSpPr txBox="1"/>
              <p:nvPr/>
            </p:nvSpPr>
            <p:spPr>
              <a:xfrm>
                <a:off x="11862395" y="4726460"/>
                <a:ext cx="837156" cy="34285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854"/>
                  </a:lnSpc>
                </a:pPr>
                <a:r>
                  <a:rPr lang="en-US" sz="2038">
                    <a:solidFill>
                      <a:srgbClr val="000000"/>
                    </a:solidFill>
                    <a:ea typeface="思源黑体 1 Bold"/>
                  </a:rPr>
                  <a:t>有害的</a:t>
                </a:r>
              </a:p>
            </p:txBody>
          </p:sp>
          <p:sp>
            <p:nvSpPr>
              <p:cNvPr id="69" name="TextBox 40">
                <a:extLst>
                  <a:ext uri="{FF2B5EF4-FFF2-40B4-BE49-F238E27FC236}">
                    <a16:creationId xmlns:a16="http://schemas.microsoft.com/office/drawing/2014/main" id="{7FEBFF06-8757-4D3F-BB58-6CB99F18A21C}"/>
                  </a:ext>
                </a:extLst>
              </p:cNvPr>
              <p:cNvSpPr txBox="1"/>
              <p:nvPr/>
            </p:nvSpPr>
            <p:spPr>
              <a:xfrm>
                <a:off x="11344475" y="5280235"/>
                <a:ext cx="1428403" cy="33181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2711"/>
                  </a:lnSpc>
                </a:pPr>
                <a:r>
                  <a:rPr lang="en-US" sz="1936">
                    <a:solidFill>
                      <a:srgbClr val="000000"/>
                    </a:solidFill>
                    <a:ea typeface="思源黑体 1"/>
                  </a:rPr>
                  <a:t>为达到目的</a:t>
                </a:r>
              </a:p>
            </p:txBody>
          </p:sp>
        </p:grp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0499281-7E47-44BF-9966-16A708B4FF18}"/>
              </a:ext>
            </a:extLst>
          </p:cNvPr>
          <p:cNvGrpSpPr/>
          <p:nvPr/>
        </p:nvGrpSpPr>
        <p:grpSpPr>
          <a:xfrm>
            <a:off x="717550" y="472023"/>
            <a:ext cx="2463029" cy="934502"/>
            <a:chOff x="717550" y="472023"/>
            <a:chExt cx="2463029" cy="934502"/>
          </a:xfrm>
        </p:grpSpPr>
        <p:sp>
          <p:nvSpPr>
            <p:cNvPr id="71" name="object 2">
              <a:extLst>
                <a:ext uri="{FF2B5EF4-FFF2-40B4-BE49-F238E27FC236}">
                  <a16:creationId xmlns:a16="http://schemas.microsoft.com/office/drawing/2014/main" id="{DD05E31A-313B-4067-A8F8-02AB41E4B9D7}"/>
                </a:ext>
              </a:extLst>
            </p:cNvPr>
            <p:cNvSpPr/>
            <p:nvPr/>
          </p:nvSpPr>
          <p:spPr>
            <a:xfrm>
              <a:off x="717550" y="472023"/>
              <a:ext cx="532014" cy="532014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337674" y="0"/>
                  </a:moveTo>
                  <a:lnTo>
                    <a:pt x="293539" y="0"/>
                  </a:lnTo>
                  <a:lnTo>
                    <a:pt x="249751" y="6126"/>
                  </a:lnTo>
                  <a:lnTo>
                    <a:pt x="207001" y="18380"/>
                  </a:lnTo>
                  <a:lnTo>
                    <a:pt x="165982" y="36761"/>
                  </a:lnTo>
                  <a:lnTo>
                    <a:pt x="127385" y="61268"/>
                  </a:lnTo>
                  <a:lnTo>
                    <a:pt x="91902" y="91902"/>
                  </a:lnTo>
                  <a:lnTo>
                    <a:pt x="61268" y="127385"/>
                  </a:lnTo>
                  <a:lnTo>
                    <a:pt x="36761" y="165982"/>
                  </a:lnTo>
                  <a:lnTo>
                    <a:pt x="18380" y="207001"/>
                  </a:lnTo>
                  <a:lnTo>
                    <a:pt x="6126" y="249751"/>
                  </a:lnTo>
                  <a:lnTo>
                    <a:pt x="0" y="293539"/>
                  </a:lnTo>
                  <a:lnTo>
                    <a:pt x="0" y="337674"/>
                  </a:lnTo>
                  <a:lnTo>
                    <a:pt x="6126" y="381462"/>
                  </a:lnTo>
                  <a:lnTo>
                    <a:pt x="18380" y="424212"/>
                  </a:lnTo>
                  <a:lnTo>
                    <a:pt x="36761" y="465231"/>
                  </a:lnTo>
                  <a:lnTo>
                    <a:pt x="61268" y="503828"/>
                  </a:lnTo>
                  <a:lnTo>
                    <a:pt x="91902" y="539311"/>
                  </a:lnTo>
                  <a:lnTo>
                    <a:pt x="127385" y="569942"/>
                  </a:lnTo>
                  <a:lnTo>
                    <a:pt x="165982" y="594447"/>
                  </a:lnTo>
                  <a:lnTo>
                    <a:pt x="207001" y="612825"/>
                  </a:lnTo>
                  <a:lnTo>
                    <a:pt x="249751" y="625078"/>
                  </a:lnTo>
                  <a:lnTo>
                    <a:pt x="293539" y="631204"/>
                  </a:lnTo>
                  <a:lnTo>
                    <a:pt x="337674" y="631204"/>
                  </a:lnTo>
                  <a:lnTo>
                    <a:pt x="381462" y="625078"/>
                  </a:lnTo>
                  <a:lnTo>
                    <a:pt x="424212" y="612825"/>
                  </a:lnTo>
                  <a:lnTo>
                    <a:pt x="465231" y="594447"/>
                  </a:lnTo>
                  <a:lnTo>
                    <a:pt x="503828" y="569942"/>
                  </a:lnTo>
                  <a:lnTo>
                    <a:pt x="539311" y="539311"/>
                  </a:lnTo>
                  <a:lnTo>
                    <a:pt x="569942" y="503828"/>
                  </a:lnTo>
                  <a:lnTo>
                    <a:pt x="594447" y="465231"/>
                  </a:lnTo>
                  <a:lnTo>
                    <a:pt x="612825" y="424212"/>
                  </a:lnTo>
                  <a:lnTo>
                    <a:pt x="625078" y="381462"/>
                  </a:lnTo>
                  <a:lnTo>
                    <a:pt x="631204" y="337674"/>
                  </a:lnTo>
                  <a:lnTo>
                    <a:pt x="631204" y="293539"/>
                  </a:lnTo>
                  <a:lnTo>
                    <a:pt x="625078" y="249751"/>
                  </a:lnTo>
                  <a:lnTo>
                    <a:pt x="612825" y="207001"/>
                  </a:lnTo>
                  <a:lnTo>
                    <a:pt x="594447" y="165982"/>
                  </a:lnTo>
                  <a:lnTo>
                    <a:pt x="569942" y="127385"/>
                  </a:lnTo>
                  <a:lnTo>
                    <a:pt x="539311" y="91902"/>
                  </a:lnTo>
                  <a:lnTo>
                    <a:pt x="503828" y="61268"/>
                  </a:lnTo>
                  <a:lnTo>
                    <a:pt x="465231" y="36761"/>
                  </a:lnTo>
                  <a:lnTo>
                    <a:pt x="424212" y="18380"/>
                  </a:lnTo>
                  <a:lnTo>
                    <a:pt x="381462" y="6126"/>
                  </a:lnTo>
                  <a:lnTo>
                    <a:pt x="337674" y="0"/>
                  </a:lnTo>
                  <a:close/>
                </a:path>
              </a:pathLst>
            </a:custGeom>
            <a:solidFill>
              <a:srgbClr val="0F4ABE">
                <a:alpha val="6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3">
              <a:extLst>
                <a:ext uri="{FF2B5EF4-FFF2-40B4-BE49-F238E27FC236}">
                  <a16:creationId xmlns:a16="http://schemas.microsoft.com/office/drawing/2014/main" id="{60B70379-A01C-4DF9-BE98-1657BFF8A30D}"/>
                </a:ext>
              </a:extLst>
            </p:cNvPr>
            <p:cNvSpPr txBox="1">
              <a:spLocks/>
            </p:cNvSpPr>
            <p:nvPr/>
          </p:nvSpPr>
          <p:spPr>
            <a:xfrm>
              <a:off x="1012689" y="683435"/>
              <a:ext cx="180340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 sz="3500" b="0" i="0">
                  <a:solidFill>
                    <a:srgbClr val="3E3A39"/>
                  </a:solidFill>
                  <a:latin typeface="幼圆"/>
                  <a:ea typeface="+mj-ea"/>
                  <a:cs typeface="幼圆"/>
                </a:defRPr>
              </a:lvl1pPr>
            </a:lstStyle>
            <a:p>
              <a:pPr marL="12700">
                <a:spcBef>
                  <a:spcPts val="100"/>
                </a:spcBef>
              </a:pPr>
              <a:r>
                <a:rPr lang="zh-CN" altLang="en-US" sz="2400" b="1" kern="0" dirty="0">
                  <a:latin typeface="幼圆" panose="02010509060101010101" pitchFamily="49" charset="-122"/>
                  <a:ea typeface="幼圆" panose="02010509060101010101" pitchFamily="49" charset="-122"/>
                </a:rPr>
                <a:t>竞品分析</a:t>
              </a:r>
              <a:endParaRPr lang="en-US" altLang="zh-CN" sz="2400" b="1" kern="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75" name="object 16">
              <a:extLst>
                <a:ext uri="{FF2B5EF4-FFF2-40B4-BE49-F238E27FC236}">
                  <a16:creationId xmlns:a16="http://schemas.microsoft.com/office/drawing/2014/main" id="{3AA5D4C9-6AB9-4256-80C4-BAE7C1675ED5}"/>
                </a:ext>
              </a:extLst>
            </p:cNvPr>
            <p:cNvSpPr txBox="1"/>
            <p:nvPr/>
          </p:nvSpPr>
          <p:spPr>
            <a:xfrm>
              <a:off x="1012689" y="1147480"/>
              <a:ext cx="216789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1600" spc="5" dirty="0">
                  <a:solidFill>
                    <a:srgbClr val="898989"/>
                  </a:solidFill>
                  <a:latin typeface="Calibri"/>
                  <a:cs typeface="Calibri"/>
                </a:rPr>
                <a:t>Competitive Analysis</a:t>
              </a:r>
              <a:endParaRPr sz="1600" dirty="0">
                <a:latin typeface="Calibri"/>
                <a:cs typeface="Calibri"/>
              </a:endParaRPr>
            </a:p>
          </p:txBody>
        </p:sp>
      </p:grpSp>
      <p:pic>
        <p:nvPicPr>
          <p:cNvPr id="76" name="图片 75" descr="摄图网_500747237_在海边参加亲子活动的幸福的一家人（企业商用）">
            <a:extLst>
              <a:ext uri="{FF2B5EF4-FFF2-40B4-BE49-F238E27FC236}">
                <a16:creationId xmlns:a16="http://schemas.microsoft.com/office/drawing/2014/main" id="{CBCFC4CD-AC73-48DF-90A9-C5E9ABF590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6617169" y="2589954"/>
            <a:ext cx="9969048" cy="724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640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椭圆 40">
            <a:extLst>
              <a:ext uri="{FF2B5EF4-FFF2-40B4-BE49-F238E27FC236}">
                <a16:creationId xmlns:a16="http://schemas.microsoft.com/office/drawing/2014/main" id="{CB11CB84-8E1A-4A68-A6CB-23645055A93B}"/>
              </a:ext>
            </a:extLst>
          </p:cNvPr>
          <p:cNvSpPr/>
          <p:nvPr/>
        </p:nvSpPr>
        <p:spPr>
          <a:xfrm rot="4038525">
            <a:off x="1199148" y="3289522"/>
            <a:ext cx="520056" cy="4917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D30CE1D-0B6B-4CC4-A933-47B98D629C03}"/>
              </a:ext>
            </a:extLst>
          </p:cNvPr>
          <p:cNvSpPr/>
          <p:nvPr/>
        </p:nvSpPr>
        <p:spPr>
          <a:xfrm rot="4038525">
            <a:off x="3483189" y="5879852"/>
            <a:ext cx="520056" cy="4917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object 16"/>
          <p:cNvSpPr txBox="1"/>
          <p:nvPr/>
        </p:nvSpPr>
        <p:spPr>
          <a:xfrm>
            <a:off x="1005029" y="1450676"/>
            <a:ext cx="3530600" cy="865622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300" b="1" dirty="0" err="1">
                <a:solidFill>
                  <a:srgbClr val="323333"/>
                </a:solidFill>
                <a:latin typeface="微软雅黑"/>
                <a:cs typeface="微软雅黑"/>
              </a:rPr>
              <a:t>遵循儿童发育特点</a:t>
            </a:r>
            <a:r>
              <a:rPr sz="2300" b="1" dirty="0">
                <a:solidFill>
                  <a:srgbClr val="323333"/>
                </a:solidFill>
                <a:latin typeface="微软雅黑"/>
                <a:cs typeface="微软雅黑"/>
              </a:rPr>
              <a:t>？</a:t>
            </a:r>
            <a:endParaRPr sz="23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solidFill>
                  <a:srgbClr val="323333"/>
                </a:solidFill>
                <a:latin typeface="微软雅黑"/>
                <a:cs typeface="微软雅黑"/>
              </a:rPr>
              <a:t>尽早刺激感官或成关键措施</a:t>
            </a:r>
            <a:endParaRPr sz="2300" dirty="0">
              <a:latin typeface="微软雅黑"/>
              <a:cs typeface="微软雅黑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087537" y="3577056"/>
            <a:ext cx="4787900" cy="4564380"/>
            <a:chOff x="8087537" y="3577056"/>
            <a:chExt cx="4787900" cy="456438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38814" y="4804956"/>
              <a:ext cx="2136444" cy="203507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87537" y="3577056"/>
              <a:ext cx="2720949" cy="456421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029058" y="3469669"/>
            <a:ext cx="3347519" cy="15824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21815"/>
                </a:solidFill>
                <a:latin typeface="微软雅黑"/>
                <a:cs typeface="微软雅黑"/>
              </a:rPr>
              <a:t>“大脑发育的关键一千天”</a:t>
            </a:r>
            <a:endParaRPr sz="2000" dirty="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1235"/>
              </a:spcBef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美国儿科学会把0~3岁叫作 </a:t>
            </a:r>
            <a:r>
              <a:rPr spc="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“大脑发育的关键一千天”。 在这段时间内，孩子各项大 </a:t>
            </a:r>
            <a:r>
              <a:rPr spc="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 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脑功能都有发育的敏感期。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241550" y="6075417"/>
            <a:ext cx="388620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21815"/>
                </a:solidFill>
                <a:latin typeface="微软雅黑"/>
                <a:cs typeface="微软雅黑"/>
              </a:rPr>
              <a:t>刺激影响发育</a:t>
            </a:r>
            <a:endParaRPr sz="20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在成长过程中，如果其感官系统</a:t>
            </a:r>
          </a:p>
          <a:p>
            <a:pPr marL="12700" marR="5080" algn="just">
              <a:lnSpc>
                <a:spcPct val="100000"/>
              </a:lnSpc>
            </a:pP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（</a:t>
            </a:r>
            <a:r>
              <a:rPr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视觉、听觉、触觉）没有得到足够的刺激，正常的发育便会受</a:t>
            </a:r>
            <a:r>
              <a:rPr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cs typeface="微软雅黑"/>
              </a:rPr>
              <a:t> 到影响。</a:t>
            </a:r>
          </a:p>
        </p:txBody>
      </p:sp>
      <p:grpSp>
        <p:nvGrpSpPr>
          <p:cNvPr id="24" name="object 24"/>
          <p:cNvGrpSpPr/>
          <p:nvPr/>
        </p:nvGrpSpPr>
        <p:grpSpPr>
          <a:xfrm>
            <a:off x="7072025" y="1641901"/>
            <a:ext cx="5715639" cy="1751330"/>
            <a:chOff x="7072025" y="1641901"/>
            <a:chExt cx="5715639" cy="1751330"/>
          </a:xfrm>
        </p:grpSpPr>
        <p:sp>
          <p:nvSpPr>
            <p:cNvPr id="25" name="object 25"/>
            <p:cNvSpPr/>
            <p:nvPr/>
          </p:nvSpPr>
          <p:spPr>
            <a:xfrm>
              <a:off x="9557653" y="1641901"/>
              <a:ext cx="95250" cy="0"/>
            </a:xfrm>
            <a:custGeom>
              <a:avLst/>
              <a:gdLst/>
              <a:ahLst/>
              <a:cxnLst/>
              <a:rect l="l" t="t" r="r" b="b"/>
              <a:pathLst>
                <a:path w="95250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ln w="25400">
              <a:solidFill>
                <a:srgbClr val="B5B6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072029" y="1641901"/>
              <a:ext cx="5715635" cy="1751330"/>
            </a:xfrm>
            <a:custGeom>
              <a:avLst/>
              <a:gdLst/>
              <a:ahLst/>
              <a:cxnLst/>
              <a:rect l="l" t="t" r="r" b="b"/>
              <a:pathLst>
                <a:path w="5715634" h="1751329">
                  <a:moveTo>
                    <a:pt x="2769895" y="0"/>
                  </a:moveTo>
                  <a:lnTo>
                    <a:pt x="5580405" y="0"/>
                  </a:lnTo>
                  <a:lnTo>
                    <a:pt x="5622867" y="8145"/>
                  </a:lnTo>
                  <a:lnTo>
                    <a:pt x="5659835" y="30799"/>
                  </a:lnTo>
                  <a:lnTo>
                    <a:pt x="5689043" y="65288"/>
                  </a:lnTo>
                  <a:lnTo>
                    <a:pt x="5708228" y="108939"/>
                  </a:lnTo>
                  <a:lnTo>
                    <a:pt x="5715127" y="159080"/>
                  </a:lnTo>
                  <a:lnTo>
                    <a:pt x="5715127" y="1591843"/>
                  </a:lnTo>
                  <a:lnTo>
                    <a:pt x="5708228" y="1641984"/>
                  </a:lnTo>
                  <a:lnTo>
                    <a:pt x="5689043" y="1685635"/>
                  </a:lnTo>
                  <a:lnTo>
                    <a:pt x="5659835" y="1720124"/>
                  </a:lnTo>
                  <a:lnTo>
                    <a:pt x="5622867" y="1742778"/>
                  </a:lnTo>
                  <a:lnTo>
                    <a:pt x="5580405" y="1750923"/>
                  </a:lnTo>
                  <a:lnTo>
                    <a:pt x="134721" y="1750923"/>
                  </a:lnTo>
                  <a:lnTo>
                    <a:pt x="92259" y="1742778"/>
                  </a:lnTo>
                  <a:lnTo>
                    <a:pt x="55291" y="1720124"/>
                  </a:lnTo>
                  <a:lnTo>
                    <a:pt x="26083" y="1685635"/>
                  </a:lnTo>
                  <a:lnTo>
                    <a:pt x="6898" y="1641984"/>
                  </a:lnTo>
                  <a:lnTo>
                    <a:pt x="0" y="1591843"/>
                  </a:lnTo>
                  <a:lnTo>
                    <a:pt x="0" y="348843"/>
                  </a:lnTo>
                </a:path>
              </a:pathLst>
            </a:custGeom>
            <a:ln w="25400">
              <a:solidFill>
                <a:srgbClr val="B5B6B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72025" y="1800985"/>
              <a:ext cx="0" cy="95250"/>
            </a:xfrm>
            <a:custGeom>
              <a:avLst/>
              <a:gdLst/>
              <a:ahLst/>
              <a:cxnLst/>
              <a:rect l="l" t="t" r="r" b="b"/>
              <a:pathLst>
                <a:path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B5B6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245350" y="1397005"/>
            <a:ext cx="5511800" cy="194925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500"/>
              </a:spcBef>
            </a:pPr>
            <a:r>
              <a:rPr sz="2400" b="1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cs typeface="微软雅黑"/>
              </a:rPr>
              <a:t>特点总结</a:t>
            </a:r>
            <a:endParaRPr sz="2400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solidFill>
                  <a:srgbClr val="595757"/>
                </a:solidFill>
                <a:latin typeface="微软雅黑"/>
                <a:cs typeface="微软雅黑"/>
              </a:rPr>
              <a:t>婴儿时期的各感官发育都是循序渐进的，基于外界刺激发展。 因此在宝宝0到1岁之间，必须抓住潜能发展的机会。</a:t>
            </a:r>
            <a:r>
              <a:rPr sz="1600" b="1" dirty="0">
                <a:solidFill>
                  <a:srgbClr val="3572B9"/>
                </a:solidFill>
                <a:latin typeface="微软雅黑"/>
                <a:cs typeface="微软雅黑"/>
              </a:rPr>
              <a:t>尽早的 给予婴幼儿良好的感官刺激，是优质育儿的关键措施之一。 </a:t>
            </a:r>
            <a:r>
              <a:rPr sz="1600" b="1" spc="5" dirty="0">
                <a:solidFill>
                  <a:srgbClr val="3572B9"/>
                </a:solidFill>
                <a:latin typeface="微软雅黑"/>
                <a:cs typeface="微软雅黑"/>
              </a:rPr>
              <a:t> </a:t>
            </a:r>
            <a:r>
              <a:rPr sz="1600" dirty="0">
                <a:solidFill>
                  <a:srgbClr val="595757"/>
                </a:solidFill>
                <a:latin typeface="微软雅黑"/>
                <a:cs typeface="微软雅黑"/>
              </a:rPr>
              <a:t>给予宝宝智能性的刺激，首先就必须尽量多地给他促进感知 </a:t>
            </a:r>
            <a:r>
              <a:rPr sz="1600" spc="5" dirty="0">
                <a:solidFill>
                  <a:srgbClr val="595757"/>
                </a:solidFill>
                <a:latin typeface="微软雅黑"/>
                <a:cs typeface="微软雅黑"/>
              </a:rPr>
              <a:t> </a:t>
            </a:r>
            <a:r>
              <a:rPr sz="1600" dirty="0">
                <a:solidFill>
                  <a:srgbClr val="595757"/>
                </a:solidFill>
                <a:latin typeface="微软雅黑"/>
                <a:cs typeface="微软雅黑"/>
              </a:rPr>
              <a:t>觉发展的机会。系统地给予宝宝逐渐增强的刺激，同时要警 </a:t>
            </a:r>
            <a:r>
              <a:rPr sz="1600" spc="5" dirty="0">
                <a:solidFill>
                  <a:srgbClr val="595757"/>
                </a:solidFill>
                <a:latin typeface="微软雅黑"/>
                <a:cs typeface="微软雅黑"/>
              </a:rPr>
              <a:t> </a:t>
            </a:r>
            <a:r>
              <a:rPr sz="1600" dirty="0">
                <a:solidFill>
                  <a:srgbClr val="595757"/>
                </a:solidFill>
                <a:latin typeface="微软雅黑"/>
                <a:cs typeface="微软雅黑"/>
              </a:rPr>
              <a:t>惕刺激剥夺造成的脑损伤。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015156" y="6058860"/>
            <a:ext cx="17780" cy="93345"/>
          </a:xfrm>
          <a:custGeom>
            <a:avLst/>
            <a:gdLst/>
            <a:ahLst/>
            <a:cxnLst/>
            <a:rect l="l" t="t" r="r" b="b"/>
            <a:pathLst>
              <a:path w="17779" h="93345">
                <a:moveTo>
                  <a:pt x="0" y="93129"/>
                </a:moveTo>
                <a:lnTo>
                  <a:pt x="1171" y="67622"/>
                </a:lnTo>
                <a:lnTo>
                  <a:pt x="4560" y="43383"/>
                </a:lnTo>
                <a:lnTo>
                  <a:pt x="9981" y="20734"/>
                </a:lnTo>
                <a:lnTo>
                  <a:pt x="17246" y="0"/>
                </a:lnTo>
              </a:path>
            </a:pathLst>
          </a:custGeom>
          <a:ln w="25400">
            <a:solidFill>
              <a:srgbClr val="B5B6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63677" y="5992907"/>
            <a:ext cx="95250" cy="0"/>
          </a:xfrm>
          <a:custGeom>
            <a:avLst/>
            <a:gdLst/>
            <a:ahLst/>
            <a:cxnLst/>
            <a:rect l="l" t="t" r="r" b="b"/>
            <a:pathLst>
              <a:path w="95250">
                <a:moveTo>
                  <a:pt x="0" y="0"/>
                </a:moveTo>
                <a:lnTo>
                  <a:pt x="95250" y="0"/>
                </a:lnTo>
              </a:path>
            </a:pathLst>
          </a:custGeom>
          <a:ln w="25400">
            <a:solidFill>
              <a:srgbClr val="B5B6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14244" y="8237091"/>
            <a:ext cx="8390106" cy="899862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*参考资料：</a:t>
            </a:r>
            <a:endParaRPr sz="12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200" spc="-5" dirty="0">
                <a:solidFill>
                  <a:srgbClr val="9FA0A0"/>
                </a:solidFill>
                <a:latin typeface="微软雅黑"/>
                <a:cs typeface="微软雅黑"/>
              </a:rPr>
              <a:t>N.Hamilton</a:t>
            </a:r>
            <a:r>
              <a:rPr sz="1200" spc="-15" dirty="0">
                <a:solidFill>
                  <a:srgbClr val="9FA0A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著，楊添圍</a:t>
            </a:r>
            <a:r>
              <a:rPr sz="1200" spc="-15" dirty="0">
                <a:solidFill>
                  <a:srgbClr val="9FA0A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/</a:t>
            </a:r>
            <a:r>
              <a:rPr sz="1200" spc="-15" dirty="0">
                <a:solidFill>
                  <a:srgbClr val="9FA0A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周仁宇译，人我之間-客體關係理論與實務：心靈工坊，2013</a:t>
            </a:r>
            <a:endParaRPr sz="1200" dirty="0">
              <a:latin typeface="微软雅黑"/>
              <a:cs typeface="微软雅黑"/>
            </a:endParaRPr>
          </a:p>
          <a:p>
            <a:pPr marL="12700" marR="5080">
              <a:lnSpc>
                <a:spcPct val="133300"/>
              </a:lnSpc>
            </a:pP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（美）约瑟夫·洛斯奈 著，郑泰安译，精神分析入门——150个问题的解说与释疑，百花文艺出版社，1987  Nancy</a:t>
            </a:r>
            <a:r>
              <a:rPr sz="1200" spc="-15" dirty="0">
                <a:solidFill>
                  <a:srgbClr val="9FA0A0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9FA0A0"/>
                </a:solidFill>
                <a:latin typeface="微软雅黑"/>
                <a:cs typeface="微软雅黑"/>
              </a:rPr>
              <a:t>McWilliams</a:t>
            </a:r>
            <a:r>
              <a:rPr sz="1200" spc="-10" dirty="0">
                <a:solidFill>
                  <a:srgbClr val="9FA0A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著，鲁小华/郑诚</a:t>
            </a:r>
            <a:r>
              <a:rPr sz="1200" spc="-15" dirty="0">
                <a:solidFill>
                  <a:srgbClr val="9FA0A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等译</a:t>
            </a:r>
            <a:r>
              <a:rPr sz="1200" spc="-10" dirty="0">
                <a:solidFill>
                  <a:srgbClr val="9FA0A0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，精神分析诊断：理解人格结构，中国轻工业出版社，2016.</a:t>
            </a:r>
            <a:endParaRPr sz="1200" dirty="0">
              <a:latin typeface="微软雅黑"/>
              <a:cs typeface="微软雅黑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205283" y="3651554"/>
            <a:ext cx="2266950" cy="4401820"/>
            <a:chOff x="6205283" y="3651554"/>
            <a:chExt cx="2266950" cy="440182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8710" y="3672877"/>
              <a:ext cx="963028" cy="43799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05283" y="3651554"/>
              <a:ext cx="1397012" cy="4396232"/>
            </a:xfrm>
            <a:prstGeom prst="rect">
              <a:avLst/>
            </a:prstGeom>
          </p:spPr>
        </p:pic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62E4254-6CE2-4358-95A8-A08E1572EE76}"/>
              </a:ext>
            </a:extLst>
          </p:cNvPr>
          <p:cNvGrpSpPr/>
          <p:nvPr/>
        </p:nvGrpSpPr>
        <p:grpSpPr>
          <a:xfrm>
            <a:off x="641350" y="472023"/>
            <a:ext cx="2286000" cy="862477"/>
            <a:chOff x="641350" y="472023"/>
            <a:chExt cx="2286000" cy="862477"/>
          </a:xfrm>
        </p:grpSpPr>
        <p:sp>
          <p:nvSpPr>
            <p:cNvPr id="28" name="object 2">
              <a:extLst>
                <a:ext uri="{FF2B5EF4-FFF2-40B4-BE49-F238E27FC236}">
                  <a16:creationId xmlns:a16="http://schemas.microsoft.com/office/drawing/2014/main" id="{0071486C-EEA2-4E13-99F8-D9992D7F551B}"/>
                </a:ext>
              </a:extLst>
            </p:cNvPr>
            <p:cNvSpPr/>
            <p:nvPr/>
          </p:nvSpPr>
          <p:spPr>
            <a:xfrm>
              <a:off x="717550" y="472023"/>
              <a:ext cx="532014" cy="532014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337674" y="0"/>
                  </a:moveTo>
                  <a:lnTo>
                    <a:pt x="293539" y="0"/>
                  </a:lnTo>
                  <a:lnTo>
                    <a:pt x="249751" y="6126"/>
                  </a:lnTo>
                  <a:lnTo>
                    <a:pt x="207001" y="18380"/>
                  </a:lnTo>
                  <a:lnTo>
                    <a:pt x="165982" y="36761"/>
                  </a:lnTo>
                  <a:lnTo>
                    <a:pt x="127385" y="61268"/>
                  </a:lnTo>
                  <a:lnTo>
                    <a:pt x="91902" y="91902"/>
                  </a:lnTo>
                  <a:lnTo>
                    <a:pt x="61268" y="127385"/>
                  </a:lnTo>
                  <a:lnTo>
                    <a:pt x="36761" y="165982"/>
                  </a:lnTo>
                  <a:lnTo>
                    <a:pt x="18380" y="207001"/>
                  </a:lnTo>
                  <a:lnTo>
                    <a:pt x="6126" y="249751"/>
                  </a:lnTo>
                  <a:lnTo>
                    <a:pt x="0" y="293539"/>
                  </a:lnTo>
                  <a:lnTo>
                    <a:pt x="0" y="337674"/>
                  </a:lnTo>
                  <a:lnTo>
                    <a:pt x="6126" y="381462"/>
                  </a:lnTo>
                  <a:lnTo>
                    <a:pt x="18380" y="424212"/>
                  </a:lnTo>
                  <a:lnTo>
                    <a:pt x="36761" y="465231"/>
                  </a:lnTo>
                  <a:lnTo>
                    <a:pt x="61268" y="503828"/>
                  </a:lnTo>
                  <a:lnTo>
                    <a:pt x="91902" y="539311"/>
                  </a:lnTo>
                  <a:lnTo>
                    <a:pt x="127385" y="569942"/>
                  </a:lnTo>
                  <a:lnTo>
                    <a:pt x="165982" y="594447"/>
                  </a:lnTo>
                  <a:lnTo>
                    <a:pt x="207001" y="612825"/>
                  </a:lnTo>
                  <a:lnTo>
                    <a:pt x="249751" y="625078"/>
                  </a:lnTo>
                  <a:lnTo>
                    <a:pt x="293539" y="631204"/>
                  </a:lnTo>
                  <a:lnTo>
                    <a:pt x="337674" y="631204"/>
                  </a:lnTo>
                  <a:lnTo>
                    <a:pt x="381462" y="625078"/>
                  </a:lnTo>
                  <a:lnTo>
                    <a:pt x="424212" y="612825"/>
                  </a:lnTo>
                  <a:lnTo>
                    <a:pt x="465231" y="594447"/>
                  </a:lnTo>
                  <a:lnTo>
                    <a:pt x="503828" y="569942"/>
                  </a:lnTo>
                  <a:lnTo>
                    <a:pt x="539311" y="539311"/>
                  </a:lnTo>
                  <a:lnTo>
                    <a:pt x="569942" y="503828"/>
                  </a:lnTo>
                  <a:lnTo>
                    <a:pt x="594447" y="465231"/>
                  </a:lnTo>
                  <a:lnTo>
                    <a:pt x="612825" y="424212"/>
                  </a:lnTo>
                  <a:lnTo>
                    <a:pt x="625078" y="381462"/>
                  </a:lnTo>
                  <a:lnTo>
                    <a:pt x="631204" y="337674"/>
                  </a:lnTo>
                  <a:lnTo>
                    <a:pt x="631204" y="293539"/>
                  </a:lnTo>
                  <a:lnTo>
                    <a:pt x="625078" y="249751"/>
                  </a:lnTo>
                  <a:lnTo>
                    <a:pt x="612825" y="207001"/>
                  </a:lnTo>
                  <a:lnTo>
                    <a:pt x="594447" y="165982"/>
                  </a:lnTo>
                  <a:lnTo>
                    <a:pt x="569942" y="127385"/>
                  </a:lnTo>
                  <a:lnTo>
                    <a:pt x="539311" y="91902"/>
                  </a:lnTo>
                  <a:lnTo>
                    <a:pt x="503828" y="61268"/>
                  </a:lnTo>
                  <a:lnTo>
                    <a:pt x="465231" y="36761"/>
                  </a:lnTo>
                  <a:lnTo>
                    <a:pt x="424212" y="18380"/>
                  </a:lnTo>
                  <a:lnTo>
                    <a:pt x="381462" y="6126"/>
                  </a:lnTo>
                  <a:lnTo>
                    <a:pt x="337674" y="0"/>
                  </a:lnTo>
                  <a:close/>
                </a:path>
              </a:pathLst>
            </a:custGeom>
            <a:solidFill>
              <a:srgbClr val="0F4ABE">
                <a:alpha val="6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">
              <a:extLst>
                <a:ext uri="{FF2B5EF4-FFF2-40B4-BE49-F238E27FC236}">
                  <a16:creationId xmlns:a16="http://schemas.microsoft.com/office/drawing/2014/main" id="{19732349-201B-4EA3-B986-FC606D77A410}"/>
                </a:ext>
              </a:extLst>
            </p:cNvPr>
            <p:cNvSpPr txBox="1">
              <a:spLocks/>
            </p:cNvSpPr>
            <p:nvPr/>
          </p:nvSpPr>
          <p:spPr>
            <a:xfrm>
              <a:off x="1012689" y="683435"/>
              <a:ext cx="180340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 sz="3500" b="0" i="0">
                  <a:solidFill>
                    <a:srgbClr val="3E3A39"/>
                  </a:solidFill>
                  <a:latin typeface="幼圆"/>
                  <a:ea typeface="+mj-ea"/>
                  <a:cs typeface="幼圆"/>
                </a:defRPr>
              </a:lvl1pPr>
            </a:lstStyle>
            <a:p>
              <a:pPr marL="12700">
                <a:spcBef>
                  <a:spcPts val="100"/>
                </a:spcBef>
              </a:pPr>
              <a:r>
                <a:rPr lang="zh-CN" altLang="en-US" sz="2400" b="1" kern="0" dirty="0">
                  <a:latin typeface="幼圆" panose="02010509060101010101" pitchFamily="49" charset="-122"/>
                  <a:ea typeface="幼圆" panose="02010509060101010101" pitchFamily="49" charset="-122"/>
                </a:rPr>
                <a:t>用户研究</a:t>
              </a:r>
              <a:endParaRPr lang="en-US" altLang="zh-CN" sz="2400" b="1" kern="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8" name="object 16">
              <a:extLst>
                <a:ext uri="{FF2B5EF4-FFF2-40B4-BE49-F238E27FC236}">
                  <a16:creationId xmlns:a16="http://schemas.microsoft.com/office/drawing/2014/main" id="{8EDE6BF2-1CE7-45E0-84F8-235553781DE1}"/>
                </a:ext>
              </a:extLst>
            </p:cNvPr>
            <p:cNvSpPr txBox="1"/>
            <p:nvPr/>
          </p:nvSpPr>
          <p:spPr>
            <a:xfrm>
              <a:off x="641350" y="1075455"/>
              <a:ext cx="228600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424180">
                <a:lnSpc>
                  <a:spcPct val="100000"/>
                </a:lnSpc>
                <a:spcBef>
                  <a:spcPts val="1230"/>
                </a:spcBef>
              </a:pPr>
              <a:r>
                <a:rPr lang="en-US" altLang="zh-CN" sz="1600" spc="95" dirty="0">
                  <a:solidFill>
                    <a:srgbClr val="898989"/>
                  </a:solidFill>
                  <a:latin typeface="Calibri"/>
                  <a:cs typeface="Calibri"/>
                </a:rPr>
                <a:t>User </a:t>
              </a:r>
              <a:r>
                <a:rPr lang="en-US" altLang="zh-CN" sz="1600" spc="50" dirty="0">
                  <a:solidFill>
                    <a:srgbClr val="898989"/>
                  </a:solidFill>
                  <a:latin typeface="Calibri"/>
                  <a:cs typeface="Calibri"/>
                </a:rPr>
                <a:t>Characteristics</a:t>
              </a:r>
              <a:endParaRPr lang="en-US" altLang="zh-CN" sz="16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椭圆 50">
            <a:extLst>
              <a:ext uri="{FF2B5EF4-FFF2-40B4-BE49-F238E27FC236}">
                <a16:creationId xmlns:a16="http://schemas.microsoft.com/office/drawing/2014/main" id="{44A41C60-7556-42DA-B7AF-B794CC6554B3}"/>
              </a:ext>
            </a:extLst>
          </p:cNvPr>
          <p:cNvSpPr/>
          <p:nvPr/>
        </p:nvSpPr>
        <p:spPr>
          <a:xfrm rot="4038525">
            <a:off x="10783211" y="978329"/>
            <a:ext cx="520056" cy="4917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B0E5CC4C-4A79-4130-B52A-C09D1EA498FF}"/>
              </a:ext>
            </a:extLst>
          </p:cNvPr>
          <p:cNvSpPr/>
          <p:nvPr/>
        </p:nvSpPr>
        <p:spPr>
          <a:xfrm rot="4038525">
            <a:off x="7028393" y="963403"/>
            <a:ext cx="520056" cy="49170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F4ABE"/>
              </a:gs>
            </a:gsLst>
            <a:lin ang="13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" name="object 2"/>
          <p:cNvGrpSpPr/>
          <p:nvPr/>
        </p:nvGrpSpPr>
        <p:grpSpPr>
          <a:xfrm>
            <a:off x="1135770" y="2244725"/>
            <a:ext cx="5160010" cy="2701925"/>
            <a:chOff x="1135770" y="2540187"/>
            <a:chExt cx="5160010" cy="2701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770" y="2800302"/>
              <a:ext cx="1782229" cy="22177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0019" y="2540187"/>
              <a:ext cx="3395675" cy="270153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717550" y="5346962"/>
            <a:ext cx="5222240" cy="2670810"/>
            <a:chOff x="753031" y="5238457"/>
            <a:chExt cx="5222240" cy="26708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031" y="5569236"/>
              <a:ext cx="2719338" cy="22154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8874" y="5238457"/>
              <a:ext cx="2486259" cy="267032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758764" y="4907401"/>
            <a:ext cx="2370269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0" spc="10" dirty="0">
                <a:solidFill>
                  <a:srgbClr val="221815"/>
                </a:solidFill>
                <a:latin typeface="微软雅黑 Light"/>
                <a:cs typeface="微软雅黑 Light"/>
              </a:rPr>
              <a:t>您是否愿意让孩子使用智能玩具？</a:t>
            </a:r>
            <a:endParaRPr sz="1200" dirty="0">
              <a:latin typeface="微软雅黑 Light"/>
              <a:cs typeface="微软雅黑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9243" y="4911725"/>
            <a:ext cx="3159522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0" spc="10" dirty="0">
                <a:solidFill>
                  <a:srgbClr val="221815"/>
                </a:solidFill>
                <a:latin typeface="微软雅黑 Light"/>
                <a:cs typeface="微软雅黑 Light"/>
              </a:rPr>
              <a:t>您认为孩子的成长过程和智能玩具有联系嘛？</a:t>
            </a:r>
            <a:endParaRPr sz="1200" dirty="0">
              <a:latin typeface="微软雅黑 Light"/>
              <a:cs typeface="微软雅黑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8269" y="7989553"/>
            <a:ext cx="2824104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0" spc="10" dirty="0">
                <a:solidFill>
                  <a:srgbClr val="221815"/>
                </a:solidFill>
                <a:latin typeface="微软雅黑 Light"/>
                <a:cs typeface="微软雅黑 Light"/>
              </a:rPr>
              <a:t>您在购买智能玩具时，能接受的价位在？</a:t>
            </a:r>
            <a:endParaRPr sz="1200" dirty="0">
              <a:latin typeface="微软雅黑 Light"/>
              <a:cs typeface="微软雅黑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0069" y="7985238"/>
            <a:ext cx="2697718" cy="1987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b="0" spc="10" dirty="0">
                <a:solidFill>
                  <a:srgbClr val="221815"/>
                </a:solidFill>
                <a:latin typeface="微软雅黑 Light"/>
                <a:cs typeface="微软雅黑 Light"/>
              </a:rPr>
              <a:t>在孩子玩玩具时，您最担心的问题是？</a:t>
            </a:r>
            <a:endParaRPr sz="1200" dirty="0">
              <a:latin typeface="微软雅黑 Light"/>
              <a:cs typeface="微软雅黑 Ligh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02314" y="1317651"/>
            <a:ext cx="3487420" cy="850874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70"/>
              </a:spcBef>
            </a:pPr>
            <a:r>
              <a:rPr sz="2300" b="1" dirty="0">
                <a:solidFill>
                  <a:srgbClr val="595757"/>
                </a:solidFill>
                <a:latin typeface="微软雅黑"/>
                <a:cs typeface="微软雅黑"/>
              </a:rPr>
              <a:t>我们共收集150份有效问卷 并将它们总结:</a:t>
            </a:r>
            <a:endParaRPr sz="2300" dirty="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70613" y="1142062"/>
            <a:ext cx="1930400" cy="1185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44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3E3A39"/>
                </a:solidFill>
                <a:latin typeface="微软雅黑"/>
                <a:cs typeface="微软雅黑"/>
              </a:rPr>
              <a:t>问题发现</a:t>
            </a:r>
            <a:endParaRPr sz="2300">
              <a:latin typeface="微软雅黑"/>
              <a:cs typeface="微软雅黑"/>
            </a:endParaRPr>
          </a:p>
          <a:p>
            <a:pPr marL="12700" marR="5080" indent="190500">
              <a:lnSpc>
                <a:spcPct val="121700"/>
              </a:lnSpc>
              <a:spcBef>
                <a:spcPts val="1990"/>
              </a:spcBef>
            </a:pP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调查对象最担心发生 误食和材质过敏的问题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996325" y="1138849"/>
            <a:ext cx="11938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3E3A39"/>
                </a:solidFill>
                <a:latin typeface="微软雅黑"/>
                <a:cs typeface="微软雅黑"/>
              </a:rPr>
              <a:t>问题归纳</a:t>
            </a:r>
            <a:endParaRPr sz="23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70613" y="2858406"/>
            <a:ext cx="1930400" cy="1139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 algn="just">
              <a:lnSpc>
                <a:spcPct val="121800"/>
              </a:lnSpc>
              <a:spcBef>
                <a:spcPts val="100"/>
              </a:spcBef>
            </a:pP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调查对象希望智能玩具 具备数据精准定位、 婴幼儿五感协调能力</a:t>
            </a:r>
            <a:endParaRPr sz="1500">
              <a:latin typeface="微软雅黑"/>
              <a:cs typeface="微软雅黑"/>
            </a:endParaRPr>
          </a:p>
          <a:p>
            <a:pPr marL="965200">
              <a:lnSpc>
                <a:spcPct val="100000"/>
              </a:lnSpc>
              <a:spcBef>
                <a:spcPts val="390"/>
              </a:spcBef>
            </a:pP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培养等功能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61113" y="4528330"/>
            <a:ext cx="1740535" cy="86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0" algn="r">
              <a:lnSpc>
                <a:spcPct val="121700"/>
              </a:lnSpc>
              <a:spcBef>
                <a:spcPts val="100"/>
              </a:spcBef>
            </a:pP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调查对象对婴儿 智能玩具的接受价格 在200~400元之间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51613" y="5919932"/>
            <a:ext cx="1550035" cy="1974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 algn="r">
              <a:lnSpc>
                <a:spcPct val="121700"/>
              </a:lnSpc>
              <a:spcBef>
                <a:spcPts val="100"/>
              </a:spcBef>
            </a:pPr>
            <a:r>
              <a:rPr sz="1500" spc="-5" dirty="0">
                <a:solidFill>
                  <a:srgbClr val="221815"/>
                </a:solidFill>
                <a:latin typeface="微软雅黑"/>
                <a:cs typeface="微软雅黑"/>
              </a:rPr>
              <a:t>72%的调查对象 </a:t>
            </a: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在淘宝等网上购 </a:t>
            </a:r>
            <a:r>
              <a:rPr sz="1500" spc="5" dirty="0">
                <a:solidFill>
                  <a:srgbClr val="221815"/>
                </a:solidFill>
                <a:latin typeface="微软雅黑"/>
                <a:cs typeface="微软雅黑"/>
              </a:rPr>
              <a:t> </a:t>
            </a: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物平台购置玩具。 有一部分人通过 </a:t>
            </a:r>
            <a:r>
              <a:rPr sz="1500" spc="5" dirty="0">
                <a:solidFill>
                  <a:srgbClr val="221815"/>
                </a:solidFill>
                <a:latin typeface="微软雅黑"/>
                <a:cs typeface="微软雅黑"/>
              </a:rPr>
              <a:t> </a:t>
            </a: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小红书、微博、 </a:t>
            </a:r>
            <a:r>
              <a:rPr sz="1500" spc="5" dirty="0">
                <a:solidFill>
                  <a:srgbClr val="221815"/>
                </a:solidFill>
                <a:latin typeface="微软雅黑"/>
                <a:cs typeface="微软雅黑"/>
              </a:rPr>
              <a:t> </a:t>
            </a: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抖音等app了解购</a:t>
            </a:r>
            <a:endParaRPr sz="1500">
              <a:latin typeface="微软雅黑"/>
              <a:cs typeface="微软雅黑"/>
            </a:endParaRPr>
          </a:p>
          <a:p>
            <a:pPr marR="5080" algn="r">
              <a:lnSpc>
                <a:spcPct val="100000"/>
              </a:lnSpc>
              <a:spcBef>
                <a:spcPts val="390"/>
              </a:spcBef>
            </a:pPr>
            <a:r>
              <a:rPr sz="1500" dirty="0">
                <a:solidFill>
                  <a:srgbClr val="221815"/>
                </a:solidFill>
                <a:latin typeface="微软雅黑"/>
                <a:cs typeface="微软雅黑"/>
              </a:rPr>
              <a:t>物信息。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043240" y="2327028"/>
            <a:ext cx="1211580" cy="594360"/>
          </a:xfrm>
          <a:custGeom>
            <a:avLst/>
            <a:gdLst/>
            <a:ahLst/>
            <a:cxnLst/>
            <a:rect l="l" t="t" r="r" b="b"/>
            <a:pathLst>
              <a:path w="1211579" h="594360">
                <a:moveTo>
                  <a:pt x="1059040" y="0"/>
                </a:moveTo>
                <a:lnTo>
                  <a:pt x="152400" y="0"/>
                </a:lnTo>
                <a:lnTo>
                  <a:pt x="104363" y="7802"/>
                </a:lnTo>
                <a:lnTo>
                  <a:pt x="62544" y="29504"/>
                </a:lnTo>
                <a:lnTo>
                  <a:pt x="29504" y="62544"/>
                </a:lnTo>
                <a:lnTo>
                  <a:pt x="7802" y="104363"/>
                </a:lnTo>
                <a:lnTo>
                  <a:pt x="0" y="152400"/>
                </a:lnTo>
                <a:lnTo>
                  <a:pt x="0" y="441667"/>
                </a:lnTo>
                <a:lnTo>
                  <a:pt x="7802" y="489704"/>
                </a:lnTo>
                <a:lnTo>
                  <a:pt x="29504" y="531522"/>
                </a:lnTo>
                <a:lnTo>
                  <a:pt x="62544" y="564563"/>
                </a:lnTo>
                <a:lnTo>
                  <a:pt x="104363" y="586265"/>
                </a:lnTo>
                <a:lnTo>
                  <a:pt x="152400" y="594067"/>
                </a:lnTo>
                <a:lnTo>
                  <a:pt x="1059040" y="594067"/>
                </a:lnTo>
                <a:lnTo>
                  <a:pt x="1107076" y="586265"/>
                </a:lnTo>
                <a:lnTo>
                  <a:pt x="1148895" y="564563"/>
                </a:lnTo>
                <a:lnTo>
                  <a:pt x="1181935" y="531522"/>
                </a:lnTo>
                <a:lnTo>
                  <a:pt x="1203637" y="489704"/>
                </a:lnTo>
                <a:lnTo>
                  <a:pt x="1211440" y="441667"/>
                </a:lnTo>
                <a:lnTo>
                  <a:pt x="1211440" y="152400"/>
                </a:lnTo>
                <a:lnTo>
                  <a:pt x="1203637" y="104363"/>
                </a:lnTo>
                <a:lnTo>
                  <a:pt x="1181935" y="62544"/>
                </a:lnTo>
                <a:lnTo>
                  <a:pt x="1148895" y="29504"/>
                </a:lnTo>
                <a:lnTo>
                  <a:pt x="1107076" y="7802"/>
                </a:lnTo>
                <a:lnTo>
                  <a:pt x="1059040" y="0"/>
                </a:lnTo>
                <a:close/>
              </a:path>
            </a:pathLst>
          </a:custGeom>
          <a:solidFill>
            <a:srgbClr val="90B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043240" y="3716101"/>
            <a:ext cx="1211580" cy="594360"/>
          </a:xfrm>
          <a:custGeom>
            <a:avLst/>
            <a:gdLst/>
            <a:ahLst/>
            <a:cxnLst/>
            <a:rect l="l" t="t" r="r" b="b"/>
            <a:pathLst>
              <a:path w="1211579" h="594360">
                <a:moveTo>
                  <a:pt x="1059040" y="0"/>
                </a:moveTo>
                <a:lnTo>
                  <a:pt x="152400" y="0"/>
                </a:lnTo>
                <a:lnTo>
                  <a:pt x="104363" y="7802"/>
                </a:lnTo>
                <a:lnTo>
                  <a:pt x="62544" y="29504"/>
                </a:lnTo>
                <a:lnTo>
                  <a:pt x="29504" y="62544"/>
                </a:lnTo>
                <a:lnTo>
                  <a:pt x="7802" y="104363"/>
                </a:lnTo>
                <a:lnTo>
                  <a:pt x="0" y="152399"/>
                </a:lnTo>
                <a:lnTo>
                  <a:pt x="0" y="441667"/>
                </a:lnTo>
                <a:lnTo>
                  <a:pt x="7802" y="489704"/>
                </a:lnTo>
                <a:lnTo>
                  <a:pt x="29504" y="531522"/>
                </a:lnTo>
                <a:lnTo>
                  <a:pt x="62544" y="564563"/>
                </a:lnTo>
                <a:lnTo>
                  <a:pt x="104363" y="586265"/>
                </a:lnTo>
                <a:lnTo>
                  <a:pt x="152400" y="594067"/>
                </a:lnTo>
                <a:lnTo>
                  <a:pt x="1059040" y="594067"/>
                </a:lnTo>
                <a:lnTo>
                  <a:pt x="1107076" y="586265"/>
                </a:lnTo>
                <a:lnTo>
                  <a:pt x="1148895" y="564563"/>
                </a:lnTo>
                <a:lnTo>
                  <a:pt x="1181935" y="531522"/>
                </a:lnTo>
                <a:lnTo>
                  <a:pt x="1203637" y="489704"/>
                </a:lnTo>
                <a:lnTo>
                  <a:pt x="1211440" y="441667"/>
                </a:lnTo>
                <a:lnTo>
                  <a:pt x="1211440" y="152399"/>
                </a:lnTo>
                <a:lnTo>
                  <a:pt x="1203637" y="104363"/>
                </a:lnTo>
                <a:lnTo>
                  <a:pt x="1181935" y="62544"/>
                </a:lnTo>
                <a:lnTo>
                  <a:pt x="1148895" y="29504"/>
                </a:lnTo>
                <a:lnTo>
                  <a:pt x="1107076" y="7802"/>
                </a:lnTo>
                <a:lnTo>
                  <a:pt x="1059040" y="0"/>
                </a:lnTo>
                <a:close/>
              </a:path>
            </a:pathLst>
          </a:custGeom>
          <a:solidFill>
            <a:srgbClr val="90B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1043240" y="5140119"/>
            <a:ext cx="1211580" cy="594360"/>
          </a:xfrm>
          <a:custGeom>
            <a:avLst/>
            <a:gdLst/>
            <a:ahLst/>
            <a:cxnLst/>
            <a:rect l="l" t="t" r="r" b="b"/>
            <a:pathLst>
              <a:path w="1211579" h="594360">
                <a:moveTo>
                  <a:pt x="1059040" y="0"/>
                </a:moveTo>
                <a:lnTo>
                  <a:pt x="152400" y="0"/>
                </a:lnTo>
                <a:lnTo>
                  <a:pt x="104363" y="7802"/>
                </a:lnTo>
                <a:lnTo>
                  <a:pt x="62544" y="29504"/>
                </a:lnTo>
                <a:lnTo>
                  <a:pt x="29504" y="62544"/>
                </a:lnTo>
                <a:lnTo>
                  <a:pt x="7802" y="104363"/>
                </a:lnTo>
                <a:lnTo>
                  <a:pt x="0" y="152399"/>
                </a:lnTo>
                <a:lnTo>
                  <a:pt x="0" y="441667"/>
                </a:lnTo>
                <a:lnTo>
                  <a:pt x="7802" y="489704"/>
                </a:lnTo>
                <a:lnTo>
                  <a:pt x="29504" y="531522"/>
                </a:lnTo>
                <a:lnTo>
                  <a:pt x="62544" y="564563"/>
                </a:lnTo>
                <a:lnTo>
                  <a:pt x="104363" y="586265"/>
                </a:lnTo>
                <a:lnTo>
                  <a:pt x="152400" y="594067"/>
                </a:lnTo>
                <a:lnTo>
                  <a:pt x="1059040" y="594067"/>
                </a:lnTo>
                <a:lnTo>
                  <a:pt x="1107076" y="586265"/>
                </a:lnTo>
                <a:lnTo>
                  <a:pt x="1148895" y="564563"/>
                </a:lnTo>
                <a:lnTo>
                  <a:pt x="1181935" y="531522"/>
                </a:lnTo>
                <a:lnTo>
                  <a:pt x="1203637" y="489704"/>
                </a:lnTo>
                <a:lnTo>
                  <a:pt x="1211440" y="441667"/>
                </a:lnTo>
                <a:lnTo>
                  <a:pt x="1211440" y="152399"/>
                </a:lnTo>
                <a:lnTo>
                  <a:pt x="1203637" y="104363"/>
                </a:lnTo>
                <a:lnTo>
                  <a:pt x="1181935" y="62544"/>
                </a:lnTo>
                <a:lnTo>
                  <a:pt x="1148895" y="29504"/>
                </a:lnTo>
                <a:lnTo>
                  <a:pt x="1107076" y="7802"/>
                </a:lnTo>
                <a:lnTo>
                  <a:pt x="1059040" y="0"/>
                </a:lnTo>
                <a:close/>
              </a:path>
            </a:pathLst>
          </a:custGeom>
          <a:solidFill>
            <a:srgbClr val="90B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1043240" y="6581609"/>
            <a:ext cx="1211580" cy="594360"/>
          </a:xfrm>
          <a:custGeom>
            <a:avLst/>
            <a:gdLst/>
            <a:ahLst/>
            <a:cxnLst/>
            <a:rect l="l" t="t" r="r" b="b"/>
            <a:pathLst>
              <a:path w="1211579" h="594359">
                <a:moveTo>
                  <a:pt x="1059040" y="0"/>
                </a:moveTo>
                <a:lnTo>
                  <a:pt x="152400" y="0"/>
                </a:lnTo>
                <a:lnTo>
                  <a:pt x="104363" y="7802"/>
                </a:lnTo>
                <a:lnTo>
                  <a:pt x="62544" y="29504"/>
                </a:lnTo>
                <a:lnTo>
                  <a:pt x="29504" y="62544"/>
                </a:lnTo>
                <a:lnTo>
                  <a:pt x="7802" y="104363"/>
                </a:lnTo>
                <a:lnTo>
                  <a:pt x="0" y="152399"/>
                </a:lnTo>
                <a:lnTo>
                  <a:pt x="0" y="441667"/>
                </a:lnTo>
                <a:lnTo>
                  <a:pt x="7802" y="489704"/>
                </a:lnTo>
                <a:lnTo>
                  <a:pt x="29504" y="531522"/>
                </a:lnTo>
                <a:lnTo>
                  <a:pt x="62544" y="564563"/>
                </a:lnTo>
                <a:lnTo>
                  <a:pt x="104363" y="586265"/>
                </a:lnTo>
                <a:lnTo>
                  <a:pt x="152400" y="594067"/>
                </a:lnTo>
                <a:lnTo>
                  <a:pt x="1059040" y="594067"/>
                </a:lnTo>
                <a:lnTo>
                  <a:pt x="1107076" y="586265"/>
                </a:lnTo>
                <a:lnTo>
                  <a:pt x="1148895" y="564563"/>
                </a:lnTo>
                <a:lnTo>
                  <a:pt x="1181935" y="531522"/>
                </a:lnTo>
                <a:lnTo>
                  <a:pt x="1203637" y="489704"/>
                </a:lnTo>
                <a:lnTo>
                  <a:pt x="1211440" y="441667"/>
                </a:lnTo>
                <a:lnTo>
                  <a:pt x="1211440" y="152399"/>
                </a:lnTo>
                <a:lnTo>
                  <a:pt x="1203637" y="104363"/>
                </a:lnTo>
                <a:lnTo>
                  <a:pt x="1181935" y="62544"/>
                </a:lnTo>
                <a:lnTo>
                  <a:pt x="1148895" y="29504"/>
                </a:lnTo>
                <a:lnTo>
                  <a:pt x="1107076" y="7802"/>
                </a:lnTo>
                <a:lnTo>
                  <a:pt x="1059040" y="0"/>
                </a:lnTo>
                <a:close/>
              </a:path>
            </a:pathLst>
          </a:custGeom>
          <a:solidFill>
            <a:srgbClr val="90B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1168223" y="2371293"/>
            <a:ext cx="977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微软雅黑"/>
                <a:cs typeface="微软雅黑"/>
              </a:rPr>
              <a:t>安全性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168223" y="3793693"/>
            <a:ext cx="977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微软雅黑"/>
                <a:cs typeface="微软雅黑"/>
              </a:rPr>
              <a:t>功能性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168223" y="5216093"/>
            <a:ext cx="9779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dirty="0">
                <a:solidFill>
                  <a:srgbClr val="FFFFFF"/>
                </a:solidFill>
                <a:latin typeface="微软雅黑"/>
                <a:cs typeface="微软雅黑"/>
              </a:rPr>
              <a:t>性价比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060273" y="6663893"/>
            <a:ext cx="119380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FFFFFF"/>
                </a:solidFill>
                <a:latin typeface="微软雅黑"/>
                <a:cs typeface="微软雅黑"/>
              </a:rPr>
              <a:t>供求关系</a:t>
            </a:r>
            <a:endParaRPr sz="23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25902" y="8833409"/>
            <a:ext cx="211649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9FA0A0"/>
                </a:solidFill>
                <a:latin typeface="微软雅黑"/>
                <a:cs typeface="微软雅黑"/>
              </a:rPr>
              <a:t>*问卷数据均来自市场调研。</a:t>
            </a:r>
            <a:endParaRPr sz="1200" dirty="0">
              <a:latin typeface="微软雅黑"/>
              <a:cs typeface="微软雅黑"/>
            </a:endParaRPr>
          </a:p>
        </p:txBody>
      </p:sp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85326" y="1818868"/>
            <a:ext cx="1654098" cy="6208610"/>
          </a:xfrm>
          <a:prstGeom prst="rect">
            <a:avLst/>
          </a:prstGeom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id="{629D89AD-2D6F-458F-B100-D5D6A8F5A6C9}"/>
              </a:ext>
            </a:extLst>
          </p:cNvPr>
          <p:cNvGrpSpPr/>
          <p:nvPr/>
        </p:nvGrpSpPr>
        <p:grpSpPr>
          <a:xfrm>
            <a:off x="641350" y="472023"/>
            <a:ext cx="2286000" cy="862477"/>
            <a:chOff x="641350" y="472023"/>
            <a:chExt cx="2286000" cy="862477"/>
          </a:xfrm>
        </p:grpSpPr>
        <p:sp>
          <p:nvSpPr>
            <p:cNvPr id="47" name="object 2">
              <a:extLst>
                <a:ext uri="{FF2B5EF4-FFF2-40B4-BE49-F238E27FC236}">
                  <a16:creationId xmlns:a16="http://schemas.microsoft.com/office/drawing/2014/main" id="{0CF1BD07-0C27-4E64-B27A-DC8CDE5D09E5}"/>
                </a:ext>
              </a:extLst>
            </p:cNvPr>
            <p:cNvSpPr/>
            <p:nvPr/>
          </p:nvSpPr>
          <p:spPr>
            <a:xfrm>
              <a:off x="717550" y="472023"/>
              <a:ext cx="532014" cy="532014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337674" y="0"/>
                  </a:moveTo>
                  <a:lnTo>
                    <a:pt x="293539" y="0"/>
                  </a:lnTo>
                  <a:lnTo>
                    <a:pt x="249751" y="6126"/>
                  </a:lnTo>
                  <a:lnTo>
                    <a:pt x="207001" y="18380"/>
                  </a:lnTo>
                  <a:lnTo>
                    <a:pt x="165982" y="36761"/>
                  </a:lnTo>
                  <a:lnTo>
                    <a:pt x="127385" y="61268"/>
                  </a:lnTo>
                  <a:lnTo>
                    <a:pt x="91902" y="91902"/>
                  </a:lnTo>
                  <a:lnTo>
                    <a:pt x="61268" y="127385"/>
                  </a:lnTo>
                  <a:lnTo>
                    <a:pt x="36761" y="165982"/>
                  </a:lnTo>
                  <a:lnTo>
                    <a:pt x="18380" y="207001"/>
                  </a:lnTo>
                  <a:lnTo>
                    <a:pt x="6126" y="249751"/>
                  </a:lnTo>
                  <a:lnTo>
                    <a:pt x="0" y="293539"/>
                  </a:lnTo>
                  <a:lnTo>
                    <a:pt x="0" y="337674"/>
                  </a:lnTo>
                  <a:lnTo>
                    <a:pt x="6126" y="381462"/>
                  </a:lnTo>
                  <a:lnTo>
                    <a:pt x="18380" y="424212"/>
                  </a:lnTo>
                  <a:lnTo>
                    <a:pt x="36761" y="465231"/>
                  </a:lnTo>
                  <a:lnTo>
                    <a:pt x="61268" y="503828"/>
                  </a:lnTo>
                  <a:lnTo>
                    <a:pt x="91902" y="539311"/>
                  </a:lnTo>
                  <a:lnTo>
                    <a:pt x="127385" y="569942"/>
                  </a:lnTo>
                  <a:lnTo>
                    <a:pt x="165982" y="594447"/>
                  </a:lnTo>
                  <a:lnTo>
                    <a:pt x="207001" y="612825"/>
                  </a:lnTo>
                  <a:lnTo>
                    <a:pt x="249751" y="625078"/>
                  </a:lnTo>
                  <a:lnTo>
                    <a:pt x="293539" y="631204"/>
                  </a:lnTo>
                  <a:lnTo>
                    <a:pt x="337674" y="631204"/>
                  </a:lnTo>
                  <a:lnTo>
                    <a:pt x="381462" y="625078"/>
                  </a:lnTo>
                  <a:lnTo>
                    <a:pt x="424212" y="612825"/>
                  </a:lnTo>
                  <a:lnTo>
                    <a:pt x="465231" y="594447"/>
                  </a:lnTo>
                  <a:lnTo>
                    <a:pt x="503828" y="569942"/>
                  </a:lnTo>
                  <a:lnTo>
                    <a:pt x="539311" y="539311"/>
                  </a:lnTo>
                  <a:lnTo>
                    <a:pt x="569942" y="503828"/>
                  </a:lnTo>
                  <a:lnTo>
                    <a:pt x="594447" y="465231"/>
                  </a:lnTo>
                  <a:lnTo>
                    <a:pt x="612825" y="424212"/>
                  </a:lnTo>
                  <a:lnTo>
                    <a:pt x="625078" y="381462"/>
                  </a:lnTo>
                  <a:lnTo>
                    <a:pt x="631204" y="337674"/>
                  </a:lnTo>
                  <a:lnTo>
                    <a:pt x="631204" y="293539"/>
                  </a:lnTo>
                  <a:lnTo>
                    <a:pt x="625078" y="249751"/>
                  </a:lnTo>
                  <a:lnTo>
                    <a:pt x="612825" y="207001"/>
                  </a:lnTo>
                  <a:lnTo>
                    <a:pt x="594447" y="165982"/>
                  </a:lnTo>
                  <a:lnTo>
                    <a:pt x="569942" y="127385"/>
                  </a:lnTo>
                  <a:lnTo>
                    <a:pt x="539311" y="91902"/>
                  </a:lnTo>
                  <a:lnTo>
                    <a:pt x="503828" y="61268"/>
                  </a:lnTo>
                  <a:lnTo>
                    <a:pt x="465231" y="36761"/>
                  </a:lnTo>
                  <a:lnTo>
                    <a:pt x="424212" y="18380"/>
                  </a:lnTo>
                  <a:lnTo>
                    <a:pt x="381462" y="6126"/>
                  </a:lnTo>
                  <a:lnTo>
                    <a:pt x="337674" y="0"/>
                  </a:lnTo>
                  <a:close/>
                </a:path>
              </a:pathLst>
            </a:custGeom>
            <a:solidFill>
              <a:srgbClr val="0F4ABE">
                <a:alpha val="6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3">
              <a:extLst>
                <a:ext uri="{FF2B5EF4-FFF2-40B4-BE49-F238E27FC236}">
                  <a16:creationId xmlns:a16="http://schemas.microsoft.com/office/drawing/2014/main" id="{9D84A31F-268C-4F6A-8E2F-D3FD617E04D6}"/>
                </a:ext>
              </a:extLst>
            </p:cNvPr>
            <p:cNvSpPr txBox="1">
              <a:spLocks/>
            </p:cNvSpPr>
            <p:nvPr/>
          </p:nvSpPr>
          <p:spPr>
            <a:xfrm>
              <a:off x="1012689" y="683435"/>
              <a:ext cx="1803400" cy="382156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>
              <a:lvl1pPr>
                <a:defRPr sz="3500" b="0" i="0">
                  <a:solidFill>
                    <a:srgbClr val="3E3A39"/>
                  </a:solidFill>
                  <a:latin typeface="幼圆"/>
                  <a:ea typeface="+mj-ea"/>
                  <a:cs typeface="幼圆"/>
                </a:defRPr>
              </a:lvl1pPr>
            </a:lstStyle>
            <a:p>
              <a:pPr marL="12700">
                <a:spcBef>
                  <a:spcPts val="100"/>
                </a:spcBef>
              </a:pPr>
              <a:r>
                <a:rPr lang="zh-CN" altLang="en-US" sz="2400" b="1" kern="0" dirty="0">
                  <a:latin typeface="幼圆" panose="02010509060101010101" pitchFamily="49" charset="-122"/>
                  <a:ea typeface="幼圆" panose="02010509060101010101" pitchFamily="49" charset="-122"/>
                </a:rPr>
                <a:t>问卷调查</a:t>
              </a:r>
              <a:endParaRPr lang="en-US" altLang="zh-CN" sz="2400" b="1" kern="0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49" name="object 16">
              <a:extLst>
                <a:ext uri="{FF2B5EF4-FFF2-40B4-BE49-F238E27FC236}">
                  <a16:creationId xmlns:a16="http://schemas.microsoft.com/office/drawing/2014/main" id="{65222D9D-D260-43FB-AAF5-6E586EB57B57}"/>
                </a:ext>
              </a:extLst>
            </p:cNvPr>
            <p:cNvSpPr txBox="1"/>
            <p:nvPr/>
          </p:nvSpPr>
          <p:spPr>
            <a:xfrm>
              <a:off x="641350" y="1075455"/>
              <a:ext cx="2286000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424180">
                <a:lnSpc>
                  <a:spcPct val="100000"/>
                </a:lnSpc>
                <a:spcBef>
                  <a:spcPts val="1230"/>
                </a:spcBef>
              </a:pPr>
              <a:r>
                <a:rPr lang="en-US" altLang="zh-CN" sz="1600" spc="95" dirty="0">
                  <a:solidFill>
                    <a:srgbClr val="898989"/>
                  </a:solidFill>
                  <a:latin typeface="Calibri"/>
                  <a:cs typeface="Calibri"/>
                </a:rPr>
                <a:t>Poll</a:t>
              </a:r>
              <a:endParaRPr lang="en-US" altLang="zh-CN" sz="1600" dirty="0"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1630</TotalTime>
  <Words>1479</Words>
  <Application>Microsoft Office PowerPoint</Application>
  <PresentationFormat>自定义</PresentationFormat>
  <Paragraphs>456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等线</vt:lpstr>
      <vt:lpstr>思源黑体-超粗体 Bold</vt:lpstr>
      <vt:lpstr>微软雅黑</vt:lpstr>
      <vt:lpstr>微软雅黑 Light</vt:lpstr>
      <vt:lpstr>幼圆</vt:lpstr>
      <vt:lpstr>Arial</vt:lpstr>
      <vt:lpstr>Calibri</vt:lpstr>
      <vt:lpstr>HelveticaInserat-Roman-SemiBold</vt:lpstr>
      <vt:lpstr>Verdana</vt:lpstr>
      <vt:lpstr>Office Theme</vt:lpstr>
      <vt:lpstr>PowerPoint 演示文稿</vt:lpstr>
      <vt:lpstr>Contents</vt:lpstr>
      <vt:lpstr>Contents</vt:lpstr>
      <vt:lpstr>Contents</vt:lpstr>
      <vt:lpstr>Contents</vt:lpstr>
      <vt:lpstr>Contents</vt:lpstr>
      <vt:lpstr>Contents</vt:lpstr>
      <vt:lpstr>项目背景</vt:lpstr>
      <vt:lpstr>PowerPoint 演示文稿</vt:lpstr>
      <vt:lpstr>PowerPoint 演示文稿</vt:lpstr>
      <vt:lpstr>玩具根据其功能 广义上可分为以下几类：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李广云</dc:creator>
  <cp:lastModifiedBy>gyun li</cp:lastModifiedBy>
  <cp:revision>80</cp:revision>
  <dcterms:created xsi:type="dcterms:W3CDTF">2023-08-31T13:56:17Z</dcterms:created>
  <dcterms:modified xsi:type="dcterms:W3CDTF">2023-09-05T15:39:51Z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Adobe Illustrator 26.0 (Windows)</vt:lpwstr>
  </property>
</Properties>
</file>